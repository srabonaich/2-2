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210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99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99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99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99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285750" cy="5334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12750" y="134937"/>
            <a:ext cx="8731250" cy="274637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409575" y="0"/>
            <a:ext cx="278130" cy="271780"/>
          </a:xfrm>
          <a:custGeom>
            <a:avLst/>
            <a:gdLst/>
            <a:ahLst/>
            <a:cxnLst/>
            <a:rect l="l" t="t" r="r" b="b"/>
            <a:pathLst>
              <a:path w="278130" h="271780">
                <a:moveTo>
                  <a:pt x="138112" y="134937"/>
                </a:moveTo>
                <a:lnTo>
                  <a:pt x="0" y="134937"/>
                </a:lnTo>
                <a:lnTo>
                  <a:pt x="0" y="271462"/>
                </a:lnTo>
                <a:lnTo>
                  <a:pt x="138112" y="271462"/>
                </a:lnTo>
                <a:lnTo>
                  <a:pt x="138112" y="134937"/>
                </a:lnTo>
                <a:close/>
              </a:path>
              <a:path w="278130" h="271780">
                <a:moveTo>
                  <a:pt x="277812" y="0"/>
                </a:moveTo>
                <a:lnTo>
                  <a:pt x="138112" y="0"/>
                </a:lnTo>
                <a:lnTo>
                  <a:pt x="138112" y="134937"/>
                </a:lnTo>
                <a:lnTo>
                  <a:pt x="277812" y="134937"/>
                </a:lnTo>
                <a:lnTo>
                  <a:pt x="277812" y="0"/>
                </a:lnTo>
                <a:close/>
              </a:path>
            </a:pathLst>
          </a:custGeom>
          <a:solidFill>
            <a:srgbClr val="CCC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547687" y="134937"/>
            <a:ext cx="139700" cy="141605"/>
          </a:xfrm>
          <a:custGeom>
            <a:avLst/>
            <a:gdLst/>
            <a:ahLst/>
            <a:cxnLst/>
            <a:rect l="l" t="t" r="r" b="b"/>
            <a:pathLst>
              <a:path w="139700" h="141604">
                <a:moveTo>
                  <a:pt x="139700" y="0"/>
                </a:moveTo>
                <a:lnTo>
                  <a:pt x="0" y="0"/>
                </a:lnTo>
                <a:lnTo>
                  <a:pt x="0" y="141287"/>
                </a:lnTo>
                <a:lnTo>
                  <a:pt x="139700" y="141287"/>
                </a:lnTo>
                <a:lnTo>
                  <a:pt x="139700" y="0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274637" y="274637"/>
            <a:ext cx="136525" cy="135255"/>
          </a:xfrm>
          <a:custGeom>
            <a:avLst/>
            <a:gdLst/>
            <a:ahLst/>
            <a:cxnLst/>
            <a:rect l="l" t="t" r="r" b="b"/>
            <a:pathLst>
              <a:path w="136525" h="135254">
                <a:moveTo>
                  <a:pt x="0" y="134937"/>
                </a:moveTo>
                <a:lnTo>
                  <a:pt x="136525" y="134937"/>
                </a:lnTo>
                <a:lnTo>
                  <a:pt x="136525" y="0"/>
                </a:lnTo>
                <a:lnTo>
                  <a:pt x="0" y="0"/>
                </a:lnTo>
                <a:lnTo>
                  <a:pt x="0" y="134937"/>
                </a:lnTo>
                <a:close/>
              </a:path>
            </a:pathLst>
          </a:custGeom>
          <a:solidFill>
            <a:srgbClr val="CCC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31762" y="136525"/>
            <a:ext cx="141605" cy="138430"/>
          </a:xfrm>
          <a:custGeom>
            <a:avLst/>
            <a:gdLst/>
            <a:ahLst/>
            <a:cxnLst/>
            <a:rect l="l" t="t" r="r" b="b"/>
            <a:pathLst>
              <a:path w="141604" h="138429">
                <a:moveTo>
                  <a:pt x="141287" y="0"/>
                </a:moveTo>
                <a:lnTo>
                  <a:pt x="0" y="0"/>
                </a:lnTo>
                <a:lnTo>
                  <a:pt x="0" y="138112"/>
                </a:lnTo>
                <a:lnTo>
                  <a:pt x="141287" y="138112"/>
                </a:lnTo>
                <a:lnTo>
                  <a:pt x="141287" y="0"/>
                </a:lnTo>
                <a:close/>
              </a:path>
            </a:pathLst>
          </a:custGeom>
          <a:solidFill>
            <a:srgbClr val="0000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274637" y="271462"/>
            <a:ext cx="273050" cy="274955"/>
          </a:xfrm>
          <a:custGeom>
            <a:avLst/>
            <a:gdLst/>
            <a:ahLst/>
            <a:cxnLst/>
            <a:rect l="l" t="t" r="r" b="b"/>
            <a:pathLst>
              <a:path w="273050" h="274955">
                <a:moveTo>
                  <a:pt x="273050" y="0"/>
                </a:moveTo>
                <a:lnTo>
                  <a:pt x="134937" y="0"/>
                </a:lnTo>
                <a:lnTo>
                  <a:pt x="134937" y="138112"/>
                </a:lnTo>
                <a:lnTo>
                  <a:pt x="0" y="138112"/>
                </a:lnTo>
                <a:lnTo>
                  <a:pt x="0" y="274637"/>
                </a:lnTo>
                <a:lnTo>
                  <a:pt x="136525" y="274637"/>
                </a:lnTo>
                <a:lnTo>
                  <a:pt x="136525" y="138112"/>
                </a:lnTo>
                <a:lnTo>
                  <a:pt x="273050" y="138112"/>
                </a:lnTo>
                <a:lnTo>
                  <a:pt x="273050" y="0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6491" y="420116"/>
            <a:ext cx="8891016" cy="10229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99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4189" y="1624076"/>
            <a:ext cx="8135620" cy="3609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29254" y="2684780"/>
            <a:ext cx="3286760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400" dirty="0">
                <a:solidFill>
                  <a:srgbClr val="000099"/>
                </a:solidFill>
              </a:rPr>
              <a:t>Lecture</a:t>
            </a:r>
            <a:r>
              <a:rPr sz="4400" spc="-90" dirty="0">
                <a:solidFill>
                  <a:srgbClr val="000099"/>
                </a:solidFill>
              </a:rPr>
              <a:t> </a:t>
            </a:r>
            <a:r>
              <a:rPr sz="4400">
                <a:solidFill>
                  <a:srgbClr val="000099"/>
                </a:solidFill>
              </a:rPr>
              <a:t>–</a:t>
            </a:r>
            <a:r>
              <a:rPr sz="4400" spc="-90">
                <a:solidFill>
                  <a:srgbClr val="000099"/>
                </a:solidFill>
              </a:rPr>
              <a:t> </a:t>
            </a:r>
            <a:r>
              <a:rPr sz="4400" spc="-25">
                <a:solidFill>
                  <a:srgbClr val="000099"/>
                </a:solidFill>
              </a:rPr>
              <a:t>1</a:t>
            </a:r>
            <a:r>
              <a:rPr lang="en-US" sz="4400" spc="-25">
                <a:solidFill>
                  <a:srgbClr val="000099"/>
                </a:solidFill>
              </a:rPr>
              <a:t>2</a:t>
            </a:r>
            <a:endParaRPr sz="4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3291" rIns="0" bIns="0" rtlCol="0">
            <a:spAutoFit/>
          </a:bodyPr>
          <a:lstStyle/>
          <a:p>
            <a:pPr marL="2032000">
              <a:lnSpc>
                <a:spcPct val="100000"/>
              </a:lnSpc>
              <a:spcBef>
                <a:spcPts val="105"/>
              </a:spcBef>
            </a:pPr>
            <a:r>
              <a:rPr sz="4000" dirty="0"/>
              <a:t>Pipeline</a:t>
            </a:r>
            <a:r>
              <a:rPr sz="4000" spc="-85" dirty="0"/>
              <a:t> </a:t>
            </a:r>
            <a:r>
              <a:rPr sz="4000" spc="-10" dirty="0"/>
              <a:t>Processing</a:t>
            </a:r>
            <a:endParaRPr sz="40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8620" marR="5080" indent="-344805">
              <a:lnSpc>
                <a:spcPct val="100000"/>
              </a:lnSpc>
              <a:spcBef>
                <a:spcPts val="100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88620" algn="l"/>
              </a:tabLst>
            </a:pPr>
            <a:r>
              <a:rPr dirty="0"/>
              <a:t>Pipelining</a:t>
            </a:r>
            <a:r>
              <a:rPr spc="-75" dirty="0"/>
              <a:t> </a:t>
            </a:r>
            <a:r>
              <a:rPr dirty="0"/>
              <a:t>is</a:t>
            </a:r>
            <a:r>
              <a:rPr spc="-60" dirty="0"/>
              <a:t> </a:t>
            </a:r>
            <a:r>
              <a:rPr dirty="0"/>
              <a:t>a</a:t>
            </a:r>
            <a:r>
              <a:rPr spc="-70" dirty="0"/>
              <a:t> </a:t>
            </a:r>
            <a:r>
              <a:rPr dirty="0"/>
              <a:t>general</a:t>
            </a:r>
            <a:r>
              <a:rPr spc="-65" dirty="0"/>
              <a:t> </a:t>
            </a:r>
            <a:r>
              <a:rPr dirty="0"/>
              <a:t>technique</a:t>
            </a:r>
            <a:r>
              <a:rPr spc="-70" dirty="0"/>
              <a:t> </a:t>
            </a:r>
            <a:r>
              <a:rPr dirty="0"/>
              <a:t>for</a:t>
            </a:r>
            <a:r>
              <a:rPr spc="-110" dirty="0"/>
              <a:t> </a:t>
            </a:r>
            <a:r>
              <a:rPr dirty="0"/>
              <a:t>increasing</a:t>
            </a:r>
            <a:r>
              <a:rPr spc="-75" dirty="0"/>
              <a:t> </a:t>
            </a:r>
            <a:r>
              <a:rPr spc="-10" dirty="0"/>
              <a:t>processor </a:t>
            </a:r>
            <a:r>
              <a:rPr dirty="0"/>
              <a:t>throughput</a:t>
            </a:r>
            <a:r>
              <a:rPr spc="-125" dirty="0"/>
              <a:t> </a:t>
            </a:r>
            <a:r>
              <a:rPr dirty="0"/>
              <a:t>without</a:t>
            </a:r>
            <a:r>
              <a:rPr spc="-60" dirty="0"/>
              <a:t> </a:t>
            </a:r>
            <a:r>
              <a:rPr dirty="0"/>
              <a:t>requiring</a:t>
            </a:r>
            <a:r>
              <a:rPr spc="-35" dirty="0"/>
              <a:t> </a:t>
            </a:r>
            <a:r>
              <a:rPr dirty="0"/>
              <a:t>large</a:t>
            </a:r>
            <a:r>
              <a:rPr spc="-55" dirty="0"/>
              <a:t> </a:t>
            </a:r>
            <a:r>
              <a:rPr dirty="0"/>
              <a:t>amounts</a:t>
            </a:r>
            <a:r>
              <a:rPr spc="-110" dirty="0"/>
              <a:t> </a:t>
            </a:r>
            <a:r>
              <a:rPr dirty="0"/>
              <a:t>of</a:t>
            </a:r>
            <a:r>
              <a:rPr spc="-75" dirty="0"/>
              <a:t> </a:t>
            </a:r>
            <a:r>
              <a:rPr spc="-10" dirty="0"/>
              <a:t>extra hardware.</a:t>
            </a:r>
          </a:p>
          <a:p>
            <a:pPr marL="31750">
              <a:lnSpc>
                <a:spcPct val="100000"/>
              </a:lnSpc>
              <a:spcBef>
                <a:spcPts val="1270"/>
              </a:spcBef>
              <a:buClr>
                <a:srgbClr val="000099"/>
              </a:buClr>
              <a:buFont typeface="Wingdings"/>
              <a:buChar char=""/>
            </a:pPr>
            <a:endParaRPr spc="-10" dirty="0"/>
          </a:p>
          <a:p>
            <a:pPr marL="388620" marR="297815" indent="-344805">
              <a:lnSpc>
                <a:spcPct val="100000"/>
              </a:lnSpc>
              <a:buClr>
                <a:srgbClr val="000099"/>
              </a:buClr>
              <a:buSzPct val="125000"/>
              <a:buFont typeface="Wingdings"/>
              <a:buChar char=""/>
              <a:tabLst>
                <a:tab pos="388620" algn="l"/>
              </a:tabLst>
            </a:pPr>
            <a:r>
              <a:rPr dirty="0"/>
              <a:t>It</a:t>
            </a:r>
            <a:r>
              <a:rPr spc="-75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applied</a:t>
            </a:r>
            <a:r>
              <a:rPr spc="-4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the</a:t>
            </a:r>
            <a:r>
              <a:rPr spc="-65" dirty="0"/>
              <a:t> </a:t>
            </a:r>
            <a:r>
              <a:rPr dirty="0"/>
              <a:t>design</a:t>
            </a:r>
            <a:r>
              <a:rPr spc="-2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complex</a:t>
            </a:r>
            <a:r>
              <a:rPr spc="-50" dirty="0"/>
              <a:t> </a:t>
            </a:r>
            <a:r>
              <a:rPr dirty="0"/>
              <a:t>datapath</a:t>
            </a:r>
            <a:r>
              <a:rPr spc="-90" dirty="0"/>
              <a:t> </a:t>
            </a:r>
            <a:r>
              <a:rPr spc="-10" dirty="0"/>
              <a:t>units </a:t>
            </a:r>
            <a:r>
              <a:rPr dirty="0"/>
              <a:t>such</a:t>
            </a:r>
            <a:r>
              <a:rPr spc="-85" dirty="0"/>
              <a:t> </a:t>
            </a:r>
            <a:r>
              <a:rPr dirty="0"/>
              <a:t>as</a:t>
            </a:r>
            <a:r>
              <a:rPr spc="-65" dirty="0"/>
              <a:t> </a:t>
            </a:r>
            <a:r>
              <a:rPr dirty="0"/>
              <a:t>multipliers</a:t>
            </a:r>
            <a:r>
              <a:rPr spc="-3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-10" dirty="0"/>
              <a:t>floating-</a:t>
            </a:r>
            <a:r>
              <a:rPr dirty="0"/>
              <a:t>point</a:t>
            </a:r>
            <a:r>
              <a:rPr spc="-80" dirty="0"/>
              <a:t> </a:t>
            </a:r>
            <a:r>
              <a:rPr spc="-10" dirty="0"/>
              <a:t>adders.</a:t>
            </a:r>
          </a:p>
          <a:p>
            <a:pPr marL="31750">
              <a:lnSpc>
                <a:spcPct val="100000"/>
              </a:lnSpc>
              <a:spcBef>
                <a:spcPts val="1270"/>
              </a:spcBef>
              <a:buClr>
                <a:srgbClr val="000099"/>
              </a:buClr>
              <a:buFont typeface="Wingdings"/>
              <a:buChar char=""/>
            </a:pPr>
            <a:endParaRPr spc="-10" dirty="0"/>
          </a:p>
          <a:p>
            <a:pPr marL="388620" marR="568960" indent="-344805">
              <a:lnSpc>
                <a:spcPct val="100000"/>
              </a:lnSpc>
              <a:spcBef>
                <a:spcPts val="5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88620" algn="l"/>
              </a:tabLst>
            </a:pPr>
            <a:r>
              <a:rPr dirty="0"/>
              <a:t>It</a:t>
            </a:r>
            <a:r>
              <a:rPr spc="-80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dirty="0"/>
              <a:t>also</a:t>
            </a:r>
            <a:r>
              <a:rPr spc="-60" dirty="0"/>
              <a:t> </a:t>
            </a:r>
            <a:r>
              <a:rPr dirty="0"/>
              <a:t>used</a:t>
            </a:r>
            <a:r>
              <a:rPr spc="-50" dirty="0"/>
              <a:t> </a:t>
            </a:r>
            <a:r>
              <a:rPr dirty="0"/>
              <a:t>to</a:t>
            </a:r>
            <a:r>
              <a:rPr spc="-50" dirty="0"/>
              <a:t> </a:t>
            </a:r>
            <a:r>
              <a:rPr dirty="0"/>
              <a:t>improve</a:t>
            </a:r>
            <a:r>
              <a:rPr spc="-35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dirty="0"/>
              <a:t>overall</a:t>
            </a:r>
            <a:r>
              <a:rPr spc="-40" dirty="0"/>
              <a:t> </a:t>
            </a:r>
            <a:r>
              <a:rPr dirty="0"/>
              <a:t>throughput</a:t>
            </a:r>
            <a:r>
              <a:rPr spc="-6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spc="-25" dirty="0"/>
              <a:t>an </a:t>
            </a:r>
            <a:r>
              <a:rPr dirty="0"/>
              <a:t>instruction</a:t>
            </a:r>
            <a:r>
              <a:rPr spc="-70" dirty="0"/>
              <a:t> </a:t>
            </a:r>
            <a:r>
              <a:rPr dirty="0"/>
              <a:t>set</a:t>
            </a:r>
            <a:r>
              <a:rPr spc="-50" dirty="0"/>
              <a:t> </a:t>
            </a:r>
            <a:r>
              <a:rPr spc="-10" dirty="0"/>
              <a:t>processor.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5191" rIns="0" bIns="0" rtlCol="0">
            <a:spAutoFit/>
          </a:bodyPr>
          <a:lstStyle/>
          <a:p>
            <a:pPr marL="2156460">
              <a:lnSpc>
                <a:spcPct val="100000"/>
              </a:lnSpc>
              <a:spcBef>
                <a:spcPts val="105"/>
              </a:spcBef>
            </a:pPr>
            <a:r>
              <a:rPr sz="4000" dirty="0"/>
              <a:t>Pipeline</a:t>
            </a:r>
            <a:r>
              <a:rPr sz="4000" spc="-85" dirty="0"/>
              <a:t> </a:t>
            </a:r>
            <a:r>
              <a:rPr sz="4000" spc="-10" dirty="0"/>
              <a:t>Processor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547876"/>
            <a:ext cx="8185150" cy="3098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100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1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pipeline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processor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consists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sequence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m</a:t>
            </a:r>
            <a:r>
              <a:rPr sz="2400" i="1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 MT"/>
                <a:cs typeface="Arial MT"/>
              </a:rPr>
              <a:t>data- </a:t>
            </a:r>
            <a:r>
              <a:rPr sz="2400" dirty="0">
                <a:latin typeface="Arial MT"/>
                <a:cs typeface="Arial MT"/>
              </a:rPr>
              <a:t>processing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circuits,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called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stages</a:t>
            </a:r>
            <a:r>
              <a:rPr sz="2400" b="1" spc="-8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segments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which </a:t>
            </a:r>
            <a:r>
              <a:rPr sz="2400" dirty="0">
                <a:latin typeface="Arial MT"/>
                <a:cs typeface="Arial MT"/>
              </a:rPr>
              <a:t>collectively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perform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single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operation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stream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data </a:t>
            </a:r>
            <a:r>
              <a:rPr sz="2400" dirty="0">
                <a:latin typeface="Arial MT"/>
                <a:cs typeface="Arial MT"/>
              </a:rPr>
              <a:t>operands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passing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through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them.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Clr>
                <a:srgbClr val="000099"/>
              </a:buClr>
              <a:buFont typeface="Wingdings"/>
              <a:buChar char=""/>
            </a:pPr>
            <a:endParaRPr sz="2400">
              <a:latin typeface="Arial MT"/>
              <a:cs typeface="Arial MT"/>
            </a:endParaRPr>
          </a:p>
          <a:p>
            <a:pPr marL="356870" marR="410845" indent="-344805">
              <a:lnSpc>
                <a:spcPct val="100000"/>
              </a:lnSpc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Some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processing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take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place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each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stage,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but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final </a:t>
            </a:r>
            <a:r>
              <a:rPr sz="2400" dirty="0">
                <a:latin typeface="Arial MT"/>
                <a:cs typeface="Arial MT"/>
              </a:rPr>
              <a:t>result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obtained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only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after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operand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passed </a:t>
            </a:r>
            <a:r>
              <a:rPr sz="2400" dirty="0">
                <a:latin typeface="Arial MT"/>
                <a:cs typeface="Arial MT"/>
              </a:rPr>
              <a:t>through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entire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pipeline.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3760" rIns="0" bIns="0" rtlCol="0">
            <a:spAutoFit/>
          </a:bodyPr>
          <a:lstStyle/>
          <a:p>
            <a:pPr marL="434340">
              <a:lnSpc>
                <a:spcPct val="100000"/>
              </a:lnSpc>
              <a:spcBef>
                <a:spcPts val="105"/>
              </a:spcBef>
            </a:pPr>
            <a:r>
              <a:rPr sz="4000" dirty="0"/>
              <a:t>Structure</a:t>
            </a:r>
            <a:r>
              <a:rPr sz="4000" spc="-85" dirty="0"/>
              <a:t> </a:t>
            </a:r>
            <a:r>
              <a:rPr sz="4000" dirty="0"/>
              <a:t>of</a:t>
            </a:r>
            <a:r>
              <a:rPr sz="4000" spc="-55" dirty="0"/>
              <a:t> </a:t>
            </a:r>
            <a:r>
              <a:rPr sz="4000" dirty="0"/>
              <a:t>a</a:t>
            </a:r>
            <a:r>
              <a:rPr sz="4000" spc="-40" dirty="0"/>
              <a:t> </a:t>
            </a:r>
            <a:r>
              <a:rPr sz="4000" dirty="0"/>
              <a:t>Pipeline</a:t>
            </a:r>
            <a:r>
              <a:rPr sz="4000" spc="-40" dirty="0"/>
              <a:t> </a:t>
            </a:r>
            <a:r>
              <a:rPr sz="4000" spc="-10" dirty="0"/>
              <a:t>Processor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383540" y="5738876"/>
            <a:ext cx="84004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100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In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each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clock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period,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every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stage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transfers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previous </a:t>
            </a:r>
            <a:r>
              <a:rPr sz="2400" dirty="0">
                <a:latin typeface="Arial MT"/>
                <a:cs typeface="Arial MT"/>
              </a:rPr>
              <a:t>results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next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stage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computes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new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results.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427162"/>
            <a:ext cx="7599349" cy="314482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15740" y="4708446"/>
            <a:ext cx="4518025" cy="66548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40"/>
              </a:spcBef>
            </a:pPr>
            <a:r>
              <a:rPr sz="1400" b="1" dirty="0">
                <a:solidFill>
                  <a:srgbClr val="006600"/>
                </a:solidFill>
                <a:latin typeface="Arial"/>
                <a:cs typeface="Arial"/>
              </a:rPr>
              <a:t>S</a:t>
            </a:r>
            <a:r>
              <a:rPr sz="1350" b="1" baseline="-21604" dirty="0">
                <a:solidFill>
                  <a:srgbClr val="006600"/>
                </a:solidFill>
                <a:latin typeface="Arial"/>
                <a:cs typeface="Arial"/>
              </a:rPr>
              <a:t>i</a:t>
            </a:r>
            <a:r>
              <a:rPr sz="1350" b="1" spc="127" baseline="-21604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6600"/>
                </a:solidFill>
                <a:latin typeface="Arial"/>
                <a:cs typeface="Arial"/>
              </a:rPr>
              <a:t>=</a:t>
            </a:r>
            <a:r>
              <a:rPr sz="1400" b="1" spc="-3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6600"/>
                </a:solidFill>
                <a:latin typeface="Arial"/>
                <a:cs typeface="Arial"/>
              </a:rPr>
              <a:t>Stage,</a:t>
            </a:r>
            <a:r>
              <a:rPr sz="1400" b="1" spc="37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6600"/>
                </a:solidFill>
                <a:latin typeface="Arial"/>
                <a:cs typeface="Arial"/>
              </a:rPr>
              <a:t>R</a:t>
            </a:r>
            <a:r>
              <a:rPr sz="1350" b="1" baseline="-21604" dirty="0">
                <a:solidFill>
                  <a:srgbClr val="006600"/>
                </a:solidFill>
                <a:latin typeface="Arial"/>
                <a:cs typeface="Arial"/>
              </a:rPr>
              <a:t>i</a:t>
            </a:r>
            <a:r>
              <a:rPr sz="1350" b="1" spc="165" baseline="-21604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6600"/>
                </a:solidFill>
                <a:latin typeface="Arial"/>
                <a:cs typeface="Arial"/>
              </a:rPr>
              <a:t>=</a:t>
            </a:r>
            <a:r>
              <a:rPr sz="1400" b="1" spc="-2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6600"/>
                </a:solidFill>
                <a:latin typeface="Arial"/>
                <a:cs typeface="Arial"/>
              </a:rPr>
              <a:t>Multiword input</a:t>
            </a:r>
            <a:r>
              <a:rPr sz="1400" b="1" spc="1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006600"/>
                </a:solidFill>
                <a:latin typeface="Arial"/>
                <a:cs typeface="Arial"/>
              </a:rPr>
              <a:t>register</a:t>
            </a:r>
            <a:endParaRPr sz="14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840"/>
              </a:spcBef>
            </a:pPr>
            <a:r>
              <a:rPr sz="1400" b="1" dirty="0">
                <a:solidFill>
                  <a:srgbClr val="006600"/>
                </a:solidFill>
                <a:latin typeface="Arial"/>
                <a:cs typeface="Arial"/>
              </a:rPr>
              <a:t>C</a:t>
            </a:r>
            <a:r>
              <a:rPr sz="1350" b="1" baseline="-21604" dirty="0">
                <a:solidFill>
                  <a:srgbClr val="006600"/>
                </a:solidFill>
                <a:latin typeface="Arial"/>
                <a:cs typeface="Arial"/>
              </a:rPr>
              <a:t>i</a:t>
            </a:r>
            <a:r>
              <a:rPr sz="1350" b="1" spc="120" baseline="-21604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6600"/>
                </a:solidFill>
                <a:latin typeface="Arial"/>
                <a:cs typeface="Arial"/>
              </a:rPr>
              <a:t>=</a:t>
            </a:r>
            <a:r>
              <a:rPr sz="1400" b="1" spc="-3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6600"/>
                </a:solidFill>
                <a:latin typeface="Arial"/>
                <a:cs typeface="Arial"/>
              </a:rPr>
              <a:t>Datapath</a:t>
            </a:r>
            <a:r>
              <a:rPr sz="1400" b="1" spc="2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6600"/>
                </a:solidFill>
                <a:latin typeface="Arial"/>
                <a:cs typeface="Arial"/>
              </a:rPr>
              <a:t>Circuit,</a:t>
            </a:r>
            <a:r>
              <a:rPr sz="1400" b="1" spc="36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6600"/>
                </a:solidFill>
                <a:latin typeface="Arial"/>
                <a:cs typeface="Arial"/>
              </a:rPr>
              <a:t>D</a:t>
            </a:r>
            <a:r>
              <a:rPr sz="1350" b="1" baseline="-21604" dirty="0">
                <a:solidFill>
                  <a:srgbClr val="006600"/>
                </a:solidFill>
                <a:latin typeface="Arial"/>
                <a:cs typeface="Arial"/>
              </a:rPr>
              <a:t>i-1</a:t>
            </a:r>
            <a:r>
              <a:rPr sz="1350" b="1" spc="165" baseline="-21604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6600"/>
                </a:solidFill>
                <a:latin typeface="Arial"/>
                <a:cs typeface="Arial"/>
              </a:rPr>
              <a:t>=</a:t>
            </a:r>
            <a:r>
              <a:rPr sz="1400" b="1" spc="32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6600"/>
                </a:solidFill>
                <a:latin typeface="Arial"/>
                <a:cs typeface="Arial"/>
              </a:rPr>
              <a:t>Received</a:t>
            </a:r>
            <a:r>
              <a:rPr sz="1400" b="1" spc="2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6600"/>
                </a:solidFill>
                <a:latin typeface="Arial"/>
                <a:cs typeface="Arial"/>
              </a:rPr>
              <a:t>by</a:t>
            </a:r>
            <a:r>
              <a:rPr sz="1400" b="1" spc="-2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6600"/>
                </a:solidFill>
                <a:latin typeface="Arial"/>
                <a:cs typeface="Arial"/>
              </a:rPr>
              <a:t>R</a:t>
            </a:r>
            <a:r>
              <a:rPr sz="1350" b="1" baseline="-21604" dirty="0">
                <a:solidFill>
                  <a:srgbClr val="006600"/>
                </a:solidFill>
                <a:latin typeface="Arial"/>
                <a:cs typeface="Arial"/>
              </a:rPr>
              <a:t>i</a:t>
            </a:r>
            <a:r>
              <a:rPr sz="1350" b="1" spc="165" baseline="-21604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6600"/>
                </a:solidFill>
                <a:latin typeface="Arial"/>
                <a:cs typeface="Arial"/>
              </a:rPr>
              <a:t>from</a:t>
            </a:r>
            <a:r>
              <a:rPr sz="1400" b="1" spc="-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6600"/>
                </a:solidFill>
                <a:latin typeface="Arial"/>
                <a:cs typeface="Arial"/>
              </a:rPr>
              <a:t>S</a:t>
            </a:r>
            <a:r>
              <a:rPr sz="1350" b="1" baseline="-21604" dirty="0">
                <a:solidFill>
                  <a:srgbClr val="006600"/>
                </a:solidFill>
                <a:latin typeface="Arial"/>
                <a:cs typeface="Arial"/>
              </a:rPr>
              <a:t>i-</a:t>
            </a:r>
            <a:r>
              <a:rPr sz="1350" b="1" spc="-37" baseline="-21604" dirty="0">
                <a:solidFill>
                  <a:srgbClr val="006600"/>
                </a:solidFill>
                <a:latin typeface="Arial"/>
                <a:cs typeface="Arial"/>
              </a:rPr>
              <a:t>1</a:t>
            </a:r>
            <a:r>
              <a:rPr sz="1400" b="1" spc="-25" dirty="0">
                <a:solidFill>
                  <a:srgbClr val="006600"/>
                </a:solidFill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5191" rIns="0" bIns="0" rtlCol="0">
            <a:spAutoFit/>
          </a:bodyPr>
          <a:lstStyle/>
          <a:p>
            <a:pPr marL="480695">
              <a:lnSpc>
                <a:spcPct val="100000"/>
              </a:lnSpc>
              <a:spcBef>
                <a:spcPts val="105"/>
              </a:spcBef>
            </a:pPr>
            <a:r>
              <a:rPr sz="4000" dirty="0"/>
              <a:t>Advantage</a:t>
            </a:r>
            <a:r>
              <a:rPr sz="4000" spc="-100" dirty="0"/>
              <a:t> </a:t>
            </a:r>
            <a:r>
              <a:rPr sz="4000" dirty="0"/>
              <a:t>of</a:t>
            </a:r>
            <a:r>
              <a:rPr sz="4000" spc="-40" dirty="0"/>
              <a:t> </a:t>
            </a:r>
            <a:r>
              <a:rPr sz="4000" dirty="0"/>
              <a:t>Pipeline</a:t>
            </a:r>
            <a:r>
              <a:rPr sz="4000" spc="-65" dirty="0"/>
              <a:t> </a:t>
            </a:r>
            <a:r>
              <a:rPr sz="4000" spc="-10" dirty="0"/>
              <a:t>Processor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700276"/>
            <a:ext cx="8196580" cy="3609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00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An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i="1" spc="-45" dirty="0">
                <a:latin typeface="Arial"/>
                <a:cs typeface="Arial"/>
              </a:rPr>
              <a:t>m</a:t>
            </a:r>
            <a:r>
              <a:rPr sz="2400" spc="-45" dirty="0">
                <a:latin typeface="Arial MT"/>
                <a:cs typeface="Arial MT"/>
              </a:rPr>
              <a:t>-</a:t>
            </a:r>
            <a:r>
              <a:rPr sz="2400" dirty="0">
                <a:latin typeface="Arial MT"/>
                <a:cs typeface="Arial MT"/>
              </a:rPr>
              <a:t>stage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pipeline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simultaneously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process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up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i="1" spc="-50" dirty="0">
                <a:latin typeface="Arial"/>
                <a:cs typeface="Arial"/>
              </a:rPr>
              <a:t>m</a:t>
            </a:r>
            <a:endParaRPr sz="2400">
              <a:latin typeface="Arial"/>
              <a:cs typeface="Arial"/>
            </a:endParaRPr>
          </a:p>
          <a:p>
            <a:pPr marL="35687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independent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sets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operands.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 MT"/>
              <a:cs typeface="Arial MT"/>
            </a:endParaRPr>
          </a:p>
          <a:p>
            <a:pPr marL="356870" marR="5080" indent="-344805">
              <a:lnSpc>
                <a:spcPct val="100000"/>
              </a:lnSpc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These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sets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move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through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pipeline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stage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stage </a:t>
            </a:r>
            <a:r>
              <a:rPr sz="2400" dirty="0">
                <a:latin typeface="Arial MT"/>
                <a:cs typeface="Arial MT"/>
              </a:rPr>
              <a:t>so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when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pipeline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full,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m</a:t>
            </a:r>
            <a:r>
              <a:rPr sz="2400" i="1" spc="-4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separate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operations</a:t>
            </a:r>
            <a:r>
              <a:rPr sz="2400" spc="6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being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executed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concurrently,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each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different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stage.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Clr>
                <a:srgbClr val="000099"/>
              </a:buClr>
              <a:buFont typeface="Wingdings"/>
              <a:buChar char=""/>
            </a:pPr>
            <a:endParaRPr sz="2400">
              <a:latin typeface="Arial MT"/>
              <a:cs typeface="Arial MT"/>
            </a:endParaRPr>
          </a:p>
          <a:p>
            <a:pPr marL="356870" marR="306070" indent="-344805">
              <a:lnSpc>
                <a:spcPct val="100000"/>
              </a:lnSpc>
              <a:spcBef>
                <a:spcPts val="5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1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new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final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result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emerges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pipeline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every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clock cycle.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70886" y="503872"/>
            <a:ext cx="460184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dirty="0"/>
              <a:t>Pipeline</a:t>
            </a:r>
            <a:r>
              <a:rPr sz="4000" spc="-85" dirty="0"/>
              <a:t> </a:t>
            </a:r>
            <a:r>
              <a:rPr sz="4000" spc="-10" dirty="0"/>
              <a:t>Processor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395476"/>
            <a:ext cx="7997190" cy="521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100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An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m-</a:t>
            </a:r>
            <a:r>
              <a:rPr sz="2400" dirty="0">
                <a:latin typeface="Arial MT"/>
                <a:cs typeface="Arial MT"/>
              </a:rPr>
              <a:t>stage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pipeline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simultaneously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process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up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m </a:t>
            </a:r>
            <a:r>
              <a:rPr sz="2400" dirty="0">
                <a:latin typeface="Arial MT"/>
                <a:cs typeface="Arial MT"/>
              </a:rPr>
              <a:t>independent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sets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operands.</a:t>
            </a:r>
            <a:endParaRPr sz="2400">
              <a:latin typeface="Arial MT"/>
              <a:cs typeface="Arial MT"/>
            </a:endParaRPr>
          </a:p>
          <a:p>
            <a:pPr marL="356870" marR="26670" indent="-344805">
              <a:lnSpc>
                <a:spcPct val="100000"/>
              </a:lnSpc>
              <a:spcBef>
                <a:spcPts val="575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Suppose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each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stage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m</a:t>
            </a:r>
            <a:r>
              <a:rPr sz="2400" i="1" spc="-4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stage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pipeline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takes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i="1" spc="-50" dirty="0">
                <a:latin typeface="Arial"/>
                <a:cs typeface="Arial"/>
              </a:rPr>
              <a:t>T </a:t>
            </a:r>
            <a:r>
              <a:rPr sz="2400" dirty="0">
                <a:latin typeface="Arial MT"/>
                <a:cs typeface="Arial MT"/>
              </a:rPr>
              <a:t>seconds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perform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local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suboperation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store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its </a:t>
            </a:r>
            <a:r>
              <a:rPr sz="2400" spc="-10" dirty="0">
                <a:latin typeface="Arial MT"/>
                <a:cs typeface="Arial MT"/>
              </a:rPr>
              <a:t>results.</a:t>
            </a:r>
            <a:endParaRPr sz="2400">
              <a:latin typeface="Arial MT"/>
              <a:cs typeface="Arial MT"/>
            </a:endParaRPr>
          </a:p>
          <a:p>
            <a:pPr marL="356870" indent="-344170">
              <a:lnSpc>
                <a:spcPct val="100000"/>
              </a:lnSpc>
              <a:spcBef>
                <a:spcPts val="575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Then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T</a:t>
            </a:r>
            <a:r>
              <a:rPr sz="2400" i="1" spc="-6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pipeline’s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clock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period.</a:t>
            </a:r>
            <a:endParaRPr sz="2400">
              <a:latin typeface="Arial MT"/>
              <a:cs typeface="Arial MT"/>
            </a:endParaRPr>
          </a:p>
          <a:p>
            <a:pPr marL="356870" indent="-344170">
              <a:lnSpc>
                <a:spcPct val="100000"/>
              </a:lnSpc>
              <a:spcBef>
                <a:spcPts val="575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delay</a:t>
            </a:r>
            <a:r>
              <a:rPr sz="2400" i="1" spc="-4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latency</a:t>
            </a:r>
            <a:r>
              <a:rPr sz="2400" i="1" spc="-5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pipeline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i="1" spc="-25" dirty="0">
                <a:latin typeface="Arial"/>
                <a:cs typeface="Arial"/>
              </a:rPr>
              <a:t>mT</a:t>
            </a:r>
            <a:r>
              <a:rPr sz="2400" spc="-25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 marL="356870" marR="1085850" indent="-344805">
              <a:lnSpc>
                <a:spcPct val="100000"/>
              </a:lnSpc>
              <a:spcBef>
                <a:spcPts val="575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throughput</a:t>
            </a:r>
            <a:r>
              <a:rPr sz="2400" i="1" spc="-11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(maximum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operations </a:t>
            </a:r>
            <a:r>
              <a:rPr sz="2400" dirty="0">
                <a:latin typeface="Arial MT"/>
                <a:cs typeface="Arial MT"/>
              </a:rPr>
              <a:t>completed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second)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pipeline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i="1" spc="-20" dirty="0">
                <a:latin typeface="Arial"/>
                <a:cs typeface="Arial"/>
              </a:rPr>
              <a:t>1/T.</a:t>
            </a:r>
            <a:endParaRPr sz="2400">
              <a:latin typeface="Arial"/>
              <a:cs typeface="Arial"/>
            </a:endParaRPr>
          </a:p>
          <a:p>
            <a:pPr marL="356870" indent="-344170">
              <a:lnSpc>
                <a:spcPct val="100000"/>
              </a:lnSpc>
              <a:spcBef>
                <a:spcPts val="580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CPI</a:t>
            </a:r>
            <a:r>
              <a:rPr sz="2400" i="1" spc="-3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one.</a:t>
            </a:r>
            <a:endParaRPr sz="2400">
              <a:latin typeface="Arial MT"/>
              <a:cs typeface="Arial MT"/>
            </a:endParaRPr>
          </a:p>
          <a:p>
            <a:pPr marL="356870" marR="86360" indent="-344805">
              <a:lnSpc>
                <a:spcPct val="100000"/>
              </a:lnSpc>
              <a:spcBef>
                <a:spcPts val="575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Any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operation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decomposed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sequence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sub-</a:t>
            </a:r>
            <a:r>
              <a:rPr sz="2400" dirty="0">
                <a:latin typeface="Arial MT"/>
                <a:cs typeface="Arial MT"/>
              </a:rPr>
              <a:t>operations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about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same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complexity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be </a:t>
            </a:r>
            <a:r>
              <a:rPr sz="2400" dirty="0">
                <a:latin typeface="Arial MT"/>
                <a:cs typeface="Arial MT"/>
              </a:rPr>
              <a:t>realized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pipeline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processor.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04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z="3600" spc="-20" dirty="0"/>
              <a:t>Four-</a:t>
            </a:r>
            <a:r>
              <a:rPr sz="3600" dirty="0"/>
              <a:t>stage</a:t>
            </a:r>
            <a:r>
              <a:rPr sz="3600" spc="-100" dirty="0"/>
              <a:t> </a:t>
            </a:r>
            <a:r>
              <a:rPr sz="3600" spc="-10" dirty="0"/>
              <a:t>Floating-</a:t>
            </a:r>
            <a:r>
              <a:rPr sz="3600" dirty="0"/>
              <a:t>point</a:t>
            </a:r>
            <a:r>
              <a:rPr sz="3600" spc="-135" dirty="0"/>
              <a:t> </a:t>
            </a:r>
            <a:r>
              <a:rPr sz="3600" dirty="0"/>
              <a:t>Adder</a:t>
            </a:r>
            <a:r>
              <a:rPr sz="3600" spc="-5" dirty="0"/>
              <a:t> </a:t>
            </a:r>
            <a:r>
              <a:rPr sz="3600" spc="-10" dirty="0"/>
              <a:t>Pipeline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624076"/>
            <a:ext cx="7862570" cy="2951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100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addition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two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normalized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floating-</a:t>
            </a:r>
            <a:r>
              <a:rPr sz="2400" dirty="0">
                <a:latin typeface="Arial MT"/>
                <a:cs typeface="Arial MT"/>
              </a:rPr>
              <a:t>point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numbers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x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y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implemented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four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step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sequence: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Clr>
                <a:srgbClr val="000099"/>
              </a:buClr>
              <a:buFont typeface="Wingdings"/>
              <a:buChar char=""/>
            </a:pPr>
            <a:endParaRPr sz="2400">
              <a:latin typeface="Arial MT"/>
              <a:cs typeface="Arial MT"/>
            </a:endParaRPr>
          </a:p>
          <a:p>
            <a:pPr marL="681355" lvl="1" indent="-333375">
              <a:lnSpc>
                <a:spcPct val="100000"/>
              </a:lnSpc>
              <a:buAutoNum type="arabicPeriod"/>
              <a:tabLst>
                <a:tab pos="681355" algn="l"/>
              </a:tabLst>
            </a:pPr>
            <a:r>
              <a:rPr sz="2400" dirty="0">
                <a:latin typeface="Arial MT"/>
                <a:cs typeface="Arial MT"/>
              </a:rPr>
              <a:t>compare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exponents.</a:t>
            </a:r>
            <a:endParaRPr sz="2400">
              <a:latin typeface="Arial MT"/>
              <a:cs typeface="Arial MT"/>
            </a:endParaRPr>
          </a:p>
          <a:p>
            <a:pPr marL="666115" lvl="1" indent="-318135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666115" algn="l"/>
              </a:tabLst>
            </a:pPr>
            <a:r>
              <a:rPr sz="2400" dirty="0">
                <a:latin typeface="Arial MT"/>
                <a:cs typeface="Arial MT"/>
              </a:rPr>
              <a:t>Align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mantissa.</a:t>
            </a:r>
            <a:endParaRPr sz="2400">
              <a:latin typeface="Arial MT"/>
              <a:cs typeface="Arial MT"/>
            </a:endParaRPr>
          </a:p>
          <a:p>
            <a:pPr marL="666115" lvl="1" indent="-318135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666115" algn="l"/>
              </a:tabLst>
            </a:pPr>
            <a:r>
              <a:rPr sz="2400" dirty="0">
                <a:latin typeface="Arial MT"/>
                <a:cs typeface="Arial MT"/>
              </a:rPr>
              <a:t>Add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mantissa.</a:t>
            </a:r>
            <a:endParaRPr sz="2400">
              <a:latin typeface="Arial MT"/>
              <a:cs typeface="Arial MT"/>
            </a:endParaRPr>
          </a:p>
          <a:p>
            <a:pPr marL="681355" lvl="1" indent="-333375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681355" algn="l"/>
              </a:tabLst>
            </a:pPr>
            <a:r>
              <a:rPr sz="2400" dirty="0">
                <a:latin typeface="Arial MT"/>
                <a:cs typeface="Arial MT"/>
              </a:rPr>
              <a:t>Normalize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result.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972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z="3600" spc="-20" dirty="0"/>
              <a:t>Four-</a:t>
            </a:r>
            <a:r>
              <a:rPr sz="3600" dirty="0"/>
              <a:t>stage</a:t>
            </a:r>
            <a:r>
              <a:rPr sz="3600" spc="-100" dirty="0"/>
              <a:t> </a:t>
            </a:r>
            <a:r>
              <a:rPr sz="3600" spc="-10" dirty="0"/>
              <a:t>Floating-</a:t>
            </a:r>
            <a:r>
              <a:rPr sz="3600" dirty="0"/>
              <a:t>point</a:t>
            </a:r>
            <a:r>
              <a:rPr sz="3600" spc="-135" dirty="0"/>
              <a:t> </a:t>
            </a:r>
            <a:r>
              <a:rPr sz="3600" dirty="0"/>
              <a:t>Adder</a:t>
            </a:r>
            <a:r>
              <a:rPr sz="3600" spc="-5" dirty="0"/>
              <a:t> </a:t>
            </a:r>
            <a:r>
              <a:rPr sz="3600" spc="-10" dirty="0"/>
              <a:t>Pipeline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1755775"/>
            <a:ext cx="8686800" cy="28924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1572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z="3600" spc="-20" dirty="0"/>
              <a:t>Four-</a:t>
            </a:r>
            <a:r>
              <a:rPr sz="3600" dirty="0"/>
              <a:t>stage</a:t>
            </a:r>
            <a:r>
              <a:rPr sz="3600" spc="-100" dirty="0"/>
              <a:t> </a:t>
            </a:r>
            <a:r>
              <a:rPr sz="3600" spc="-10" dirty="0"/>
              <a:t>Floating-</a:t>
            </a:r>
            <a:r>
              <a:rPr sz="3600" dirty="0"/>
              <a:t>point</a:t>
            </a:r>
            <a:r>
              <a:rPr sz="3600" spc="-135" dirty="0"/>
              <a:t> </a:t>
            </a:r>
            <a:r>
              <a:rPr sz="3600" dirty="0"/>
              <a:t>Adder</a:t>
            </a:r>
            <a:r>
              <a:rPr sz="3600" spc="-5" dirty="0"/>
              <a:t> </a:t>
            </a:r>
            <a:r>
              <a:rPr sz="3600" spc="-10" dirty="0"/>
              <a:t>Pipeline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383540" y="1547876"/>
            <a:ext cx="8166100" cy="4649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00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It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takes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4T</a:t>
            </a:r>
            <a:r>
              <a:rPr sz="2400" i="1" spc="-3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time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compute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single </a:t>
            </a:r>
            <a:r>
              <a:rPr sz="2400" spc="-20" dirty="0">
                <a:latin typeface="Arial MT"/>
                <a:cs typeface="Arial MT"/>
              </a:rPr>
              <a:t>sum.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Clr>
                <a:srgbClr val="000099"/>
              </a:buClr>
              <a:buFont typeface="Wingdings"/>
              <a:buChar char=""/>
            </a:pPr>
            <a:endParaRPr sz="2400">
              <a:latin typeface="Arial MT"/>
              <a:cs typeface="Arial MT"/>
            </a:endParaRPr>
          </a:p>
          <a:p>
            <a:pPr marL="356870" marR="5080" indent="-344805">
              <a:lnSpc>
                <a:spcPct val="100000"/>
              </a:lnSpc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When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four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stages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have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been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filled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data,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new </a:t>
            </a:r>
            <a:r>
              <a:rPr sz="2400" dirty="0">
                <a:latin typeface="Arial MT"/>
                <a:cs typeface="Arial MT"/>
              </a:rPr>
              <a:t>sum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computed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every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T</a:t>
            </a:r>
            <a:r>
              <a:rPr sz="2400" i="1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 MT"/>
                <a:cs typeface="Arial MT"/>
              </a:rPr>
              <a:t>seconds.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Clr>
                <a:srgbClr val="000099"/>
              </a:buClr>
              <a:buFont typeface="Wingdings"/>
              <a:buChar char=""/>
            </a:pPr>
            <a:endParaRPr sz="2400">
              <a:latin typeface="Arial MT"/>
              <a:cs typeface="Arial MT"/>
            </a:endParaRPr>
          </a:p>
          <a:p>
            <a:pPr marL="356870" indent="-344170">
              <a:lnSpc>
                <a:spcPct val="100000"/>
              </a:lnSpc>
              <a:spcBef>
                <a:spcPts val="5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So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N</a:t>
            </a:r>
            <a:r>
              <a:rPr sz="2400" i="1" spc="-4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consecutive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additions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done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i="1" spc="-10" dirty="0">
                <a:latin typeface="Arial"/>
                <a:cs typeface="Arial"/>
              </a:rPr>
              <a:t>(N+3)T</a:t>
            </a:r>
            <a:endParaRPr sz="2400">
              <a:latin typeface="Arial"/>
              <a:cs typeface="Arial"/>
            </a:endParaRPr>
          </a:p>
          <a:p>
            <a:pPr marL="356870">
              <a:lnSpc>
                <a:spcPct val="100000"/>
              </a:lnSpc>
            </a:pPr>
            <a:r>
              <a:rPr sz="2400" spc="-10" dirty="0">
                <a:latin typeface="Arial MT"/>
                <a:cs typeface="Arial MT"/>
              </a:rPr>
              <a:t>seconds.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 MT"/>
              <a:cs typeface="Arial MT"/>
            </a:endParaRPr>
          </a:p>
          <a:p>
            <a:pPr marL="356870" indent="-344170">
              <a:lnSpc>
                <a:spcPct val="100000"/>
              </a:lnSpc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So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four-</a:t>
            </a:r>
            <a:r>
              <a:rPr sz="2400" dirty="0">
                <a:latin typeface="Arial MT"/>
                <a:cs typeface="Arial MT"/>
              </a:rPr>
              <a:t>stage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pipeline’s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speedup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S(4)</a:t>
            </a:r>
            <a:r>
              <a:rPr sz="2400" i="1" spc="-6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=</a:t>
            </a:r>
            <a:r>
              <a:rPr sz="2400" i="1" spc="-4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4N</a:t>
            </a:r>
            <a:r>
              <a:rPr sz="2400" i="1" spc="-3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/</a:t>
            </a:r>
            <a:r>
              <a:rPr sz="2400" i="1" spc="-45" dirty="0">
                <a:latin typeface="Arial"/>
                <a:cs typeface="Arial"/>
              </a:rPr>
              <a:t> </a:t>
            </a:r>
            <a:r>
              <a:rPr sz="2400" i="1" spc="-10" dirty="0">
                <a:latin typeface="Arial"/>
                <a:cs typeface="Arial"/>
              </a:rPr>
              <a:t>(N+3)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Clr>
                <a:srgbClr val="000099"/>
              </a:buClr>
              <a:buFont typeface="Wingdings"/>
              <a:buChar char=""/>
            </a:pPr>
            <a:endParaRPr sz="2400">
              <a:latin typeface="Arial"/>
              <a:cs typeface="Arial"/>
            </a:endParaRPr>
          </a:p>
          <a:p>
            <a:pPr marL="356870" indent="-344170">
              <a:lnSpc>
                <a:spcPct val="100000"/>
              </a:lnSpc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large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N,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S(4)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≈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4.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73325" marR="5080" indent="-1718945">
              <a:lnSpc>
                <a:spcPct val="100000"/>
              </a:lnSpc>
              <a:spcBef>
                <a:spcPts val="90"/>
              </a:spcBef>
            </a:pPr>
            <a:r>
              <a:rPr dirty="0"/>
              <a:t>Operations</a:t>
            </a:r>
            <a:r>
              <a:rPr spc="-35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spc="-25" dirty="0"/>
              <a:t>Four-</a:t>
            </a:r>
            <a:r>
              <a:rPr dirty="0"/>
              <a:t>stage</a:t>
            </a:r>
            <a:r>
              <a:rPr spc="-30" dirty="0"/>
              <a:t> </a:t>
            </a:r>
            <a:r>
              <a:rPr spc="-10" dirty="0"/>
              <a:t>Floating- </a:t>
            </a:r>
            <a:r>
              <a:rPr dirty="0"/>
              <a:t>point</a:t>
            </a:r>
            <a:r>
              <a:rPr spc="-140" dirty="0"/>
              <a:t> </a:t>
            </a:r>
            <a:r>
              <a:rPr dirty="0"/>
              <a:t>Adder</a:t>
            </a:r>
            <a:r>
              <a:rPr spc="-50" dirty="0"/>
              <a:t> </a:t>
            </a:r>
            <a:r>
              <a:rPr spc="-10" dirty="0"/>
              <a:t>Pipeline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1665300"/>
            <a:ext cx="8305787" cy="51926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7572" rIns="0" bIns="0" rtlCol="0">
            <a:spAutoFit/>
          </a:bodyPr>
          <a:lstStyle/>
          <a:p>
            <a:pPr marL="2553335">
              <a:lnSpc>
                <a:spcPct val="100000"/>
              </a:lnSpc>
              <a:spcBef>
                <a:spcPts val="105"/>
              </a:spcBef>
            </a:pPr>
            <a:r>
              <a:rPr sz="4000" dirty="0"/>
              <a:t>Pipeline</a:t>
            </a:r>
            <a:r>
              <a:rPr sz="4000" spc="-85" dirty="0"/>
              <a:t> </a:t>
            </a:r>
            <a:r>
              <a:rPr sz="4000" spc="-10" dirty="0"/>
              <a:t>Design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547876"/>
            <a:ext cx="8152765" cy="4869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marR="375285" indent="-344805">
              <a:lnSpc>
                <a:spcPct val="100000"/>
              </a:lnSpc>
              <a:spcBef>
                <a:spcPts val="100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Designing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pipelined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circuit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function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involves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first </a:t>
            </a:r>
            <a:r>
              <a:rPr sz="2400" dirty="0">
                <a:latin typeface="Arial MT"/>
                <a:cs typeface="Arial MT"/>
              </a:rPr>
              <a:t>finding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suitable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multistage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sequential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algorithm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to </a:t>
            </a:r>
            <a:r>
              <a:rPr sz="2400" dirty="0">
                <a:latin typeface="Arial MT"/>
                <a:cs typeface="Arial MT"/>
              </a:rPr>
              <a:t>compute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given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function.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Clr>
                <a:srgbClr val="000099"/>
              </a:buClr>
              <a:buFont typeface="Wingdings"/>
              <a:buChar char=""/>
            </a:pPr>
            <a:endParaRPr sz="2400">
              <a:latin typeface="Arial MT"/>
              <a:cs typeface="Arial MT"/>
            </a:endParaRPr>
          </a:p>
          <a:p>
            <a:pPr marL="356870" marR="5080" indent="-344805">
              <a:lnSpc>
                <a:spcPct val="100000"/>
              </a:lnSpc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algorithm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steps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should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balanced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sense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that </a:t>
            </a:r>
            <a:r>
              <a:rPr sz="2400" dirty="0">
                <a:latin typeface="Arial MT"/>
                <a:cs typeface="Arial MT"/>
              </a:rPr>
              <a:t>they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should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have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roughly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same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execution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time.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Clr>
                <a:srgbClr val="000099"/>
              </a:buClr>
              <a:buFont typeface="Wingdings"/>
              <a:buChar char=""/>
            </a:pPr>
            <a:endParaRPr sz="2400">
              <a:latin typeface="Arial MT"/>
              <a:cs typeface="Arial MT"/>
            </a:endParaRPr>
          </a:p>
          <a:p>
            <a:pPr marL="356870" marR="271780" indent="-344805">
              <a:lnSpc>
                <a:spcPct val="100000"/>
              </a:lnSpc>
              <a:spcBef>
                <a:spcPts val="5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Fast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buffer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registers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placed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between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stages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to </a:t>
            </a:r>
            <a:r>
              <a:rPr sz="2400" dirty="0">
                <a:latin typeface="Arial MT"/>
                <a:cs typeface="Arial MT"/>
              </a:rPr>
              <a:t>transfer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stage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stage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without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interfering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with </a:t>
            </a:r>
            <a:r>
              <a:rPr sz="2400" dirty="0">
                <a:latin typeface="Arial MT"/>
                <a:cs typeface="Arial MT"/>
              </a:rPr>
              <a:t>one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another.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Clr>
                <a:srgbClr val="000099"/>
              </a:buClr>
              <a:buFont typeface="Wingdings"/>
              <a:buChar char=""/>
            </a:pPr>
            <a:endParaRPr sz="2400">
              <a:latin typeface="Arial MT"/>
              <a:cs typeface="Arial MT"/>
            </a:endParaRPr>
          </a:p>
          <a:p>
            <a:pPr marL="356870" indent="-344170">
              <a:lnSpc>
                <a:spcPct val="100000"/>
              </a:lnSpc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buffers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designed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clocked.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69545">
              <a:lnSpc>
                <a:spcPct val="100000"/>
              </a:lnSpc>
              <a:spcBef>
                <a:spcPts val="90"/>
              </a:spcBef>
            </a:pPr>
            <a:r>
              <a:rPr dirty="0"/>
              <a:t>Pipelined</a:t>
            </a:r>
            <a:r>
              <a:rPr spc="-60" dirty="0"/>
              <a:t> </a:t>
            </a:r>
            <a:r>
              <a:rPr dirty="0"/>
              <a:t>Version</a:t>
            </a:r>
            <a:r>
              <a:rPr spc="-6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spc="-20" dirty="0"/>
              <a:t>Floating-</a:t>
            </a:r>
            <a:r>
              <a:rPr dirty="0"/>
              <a:t>point</a:t>
            </a:r>
            <a:r>
              <a:rPr spc="15" dirty="0"/>
              <a:t> </a:t>
            </a:r>
            <a:r>
              <a:rPr spc="-10" dirty="0"/>
              <a:t>Adder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7412" y="1066799"/>
            <a:ext cx="5391137" cy="5791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545</Words>
  <Application>Microsoft Office PowerPoint</Application>
  <PresentationFormat>On-screen Show (4:3)</PresentationFormat>
  <Paragraphs>59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Arial MT</vt:lpstr>
      <vt:lpstr>Wingdings</vt:lpstr>
      <vt:lpstr>Office Theme</vt:lpstr>
      <vt:lpstr>Lecture – 12</vt:lpstr>
      <vt:lpstr>Pipeline Processing</vt:lpstr>
      <vt:lpstr>Pipeline Processor</vt:lpstr>
      <vt:lpstr>Structure of a Pipeline Processor</vt:lpstr>
      <vt:lpstr>Advantage of Pipeline Processor</vt:lpstr>
      <vt:lpstr>Pipeline Processor</vt:lpstr>
      <vt:lpstr>Four-stage Floating-point Adder Pipeline</vt:lpstr>
      <vt:lpstr>Four-stage Floating-point Adder Pipeline</vt:lpstr>
      <vt:lpstr>Four-stage Floating-point Adder Pipeline</vt:lpstr>
      <vt:lpstr>Operations of the Four-stage Floating- point Adder Pipeline</vt:lpstr>
      <vt:lpstr>Pipeline Design</vt:lpstr>
      <vt:lpstr>Pipelined Version of the Floating-point Adder</vt:lpstr>
    </vt:vector>
  </TitlesOfParts>
  <Company>cse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fsfsdfdsf</dc:title>
  <dc:creator>Eva</dc:creator>
  <cp:lastModifiedBy>Jargis Ahmed</cp:lastModifiedBy>
  <cp:revision>1</cp:revision>
  <dcterms:created xsi:type="dcterms:W3CDTF">2025-05-26T01:47:18Z</dcterms:created>
  <dcterms:modified xsi:type="dcterms:W3CDTF">2025-05-26T01:48:12Z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2014-04-20T00:00:00Z</vt:filetime>
  </property>
  <property fmtid="{D5CDD505-2E9C-101B-9397-08002B2CF9AE}" pid="3" name="Creator">
    <vt:lpwstr>Acrobat PDFMaker 9.0 for PowerPoint</vt:lpwstr>
  </property>
  <property fmtid="{D5CDD505-2E9C-101B-9397-08002B2CF9AE}" pid="4" name="LastSaved">
    <vt:filetime>2025-05-26T00:00:00Z</vt:filetime>
  </property>
  <property fmtid="{D5CDD505-2E9C-101B-9397-08002B2CF9AE}" pid="5" name="Producer">
    <vt:lpwstr>Adobe PDF Library 9.0</vt:lpwstr>
  </property>
</Properties>
</file>