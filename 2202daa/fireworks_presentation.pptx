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3"/>
  </p:notesMasterIdLst>
  <p:handoutMasterIdLst>
    <p:handoutMasterId r:id="rId44"/>
  </p:handoutMasterIdLst>
  <p:sldIdLst>
    <p:sldId id="317" r:id="rId5"/>
    <p:sldId id="323" r:id="rId6"/>
    <p:sldId id="307" r:id="rId7"/>
    <p:sldId id="318" r:id="rId8"/>
    <p:sldId id="309" r:id="rId9"/>
    <p:sldId id="321" r:id="rId10"/>
    <p:sldId id="322" r:id="rId11"/>
    <p:sldId id="319" r:id="rId12"/>
    <p:sldId id="320" r:id="rId13"/>
    <p:sldId id="324" r:id="rId14"/>
    <p:sldId id="278" r:id="rId15"/>
    <p:sldId id="325" r:id="rId16"/>
    <p:sldId id="326" r:id="rId17"/>
    <p:sldId id="263" r:id="rId18"/>
    <p:sldId id="327" r:id="rId19"/>
    <p:sldId id="328" r:id="rId20"/>
    <p:sldId id="329" r:id="rId21"/>
    <p:sldId id="330" r:id="rId22"/>
    <p:sldId id="331" r:id="rId23"/>
    <p:sldId id="332" r:id="rId24"/>
    <p:sldId id="333" r:id="rId25"/>
    <p:sldId id="310" r:id="rId26"/>
    <p:sldId id="334" r:id="rId27"/>
    <p:sldId id="335" r:id="rId28"/>
    <p:sldId id="311" r:id="rId29"/>
    <p:sldId id="336" r:id="rId30"/>
    <p:sldId id="312" r:id="rId31"/>
    <p:sldId id="337" r:id="rId32"/>
    <p:sldId id="338" r:id="rId33"/>
    <p:sldId id="339" r:id="rId34"/>
    <p:sldId id="340" r:id="rId35"/>
    <p:sldId id="341" r:id="rId36"/>
    <p:sldId id="342" r:id="rId37"/>
    <p:sldId id="343" r:id="rId38"/>
    <p:sldId id="345" r:id="rId39"/>
    <p:sldId id="346" r:id="rId40"/>
    <p:sldId id="304" r:id="rId41"/>
    <p:sldId id="344"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guide id="7" orient="horz" pos="2160" userDrawn="1">
          <p15:clr>
            <a:srgbClr val="A4A3A4"/>
          </p15:clr>
        </p15:guide>
        <p15:guide id="8"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DACF"/>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5405" autoAdjust="0"/>
  </p:normalViewPr>
  <p:slideViewPr>
    <p:cSldViewPr snapToGrid="0">
      <p:cViewPr varScale="1">
        <p:scale>
          <a:sx n="85" d="100"/>
          <a:sy n="85" d="100"/>
        </p:scale>
        <p:origin x="499" y="48"/>
      </p:cViewPr>
      <p:guideLst>
        <p:guide orient="horz" pos="528"/>
        <p:guide pos="3864"/>
        <p:guide orient="horz" pos="1272"/>
        <p:guide orient="horz" pos="2312"/>
        <p:guide orient="horz" pos="1944"/>
        <p:guide orient="horz" pos="2328"/>
        <p:guide orient="horz" pos="2160"/>
        <p:guide pos="3840"/>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7/9/2025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7/9/2025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4276011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52380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22</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25</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27</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37</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38</a:t>
            </a:fld>
            <a:endParaRPr lang="en-US" noProof="0" dirty="0"/>
          </a:p>
        </p:txBody>
      </p:sp>
    </p:spTree>
    <p:extLst>
      <p:ext uri="{BB962C8B-B14F-4D97-AF65-F5344CB8AC3E}">
        <p14:creationId xmlns:p14="http://schemas.microsoft.com/office/powerpoint/2010/main" val="410735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13.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4.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4.xml"/><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4.xml"/><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jp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8" Type="http://schemas.openxmlformats.org/officeDocument/2006/relationships/hyperlink" Target="https://medium.com/nerd-for-tech/quick-select-algorithm-17ac146b6218" TargetMode="External"/><Relationship Id="rId13" Type="http://schemas.openxmlformats.org/officeDocument/2006/relationships/hyperlink" Target="https://en.wikipedia.org/wiki/Median_of_medians" TargetMode="External"/><Relationship Id="rId3" Type="http://schemas.openxmlformats.org/officeDocument/2006/relationships/hyperlink" Target="https://interviewing.io/questions/kth-smallest-element" TargetMode="External"/><Relationship Id="rId7" Type="http://schemas.openxmlformats.org/officeDocument/2006/relationships/hyperlink" Target="https://en.wikipedia.org/wiki/Divide_and_conquer" TargetMode="External"/><Relationship Id="rId12" Type="http://schemas.openxmlformats.org/officeDocument/2006/relationships/hyperlink" Target="https://www.geeksforgeeks.org/dsa/hoare-s-partition-algorithm/" TargetMode="External"/><Relationship Id="rId2" Type="http://schemas.openxmlformats.org/officeDocument/2006/relationships/hyperlink" Target="https://www.geeksforgeeks.org/dsa/kth-smallest-largest-element-in-unsorted-array/" TargetMode="External"/><Relationship Id="rId16" Type="http://schemas.openxmlformats.org/officeDocument/2006/relationships/hyperlink" Target="https://data.census.gov/profile/Midwest_Region?g=020XX00US2" TargetMode="External"/><Relationship Id="rId1" Type="http://schemas.openxmlformats.org/officeDocument/2006/relationships/slideLayout" Target="../slideLayouts/slideLayout13.xml"/><Relationship Id="rId6" Type="http://schemas.openxmlformats.org/officeDocument/2006/relationships/hyperlink" Target="https://www.geeksforgeeks.org/dsa/introduction-to-divide-and-conquer-algorithm/" TargetMode="External"/><Relationship Id="rId11" Type="http://schemas.openxmlformats.org/officeDocument/2006/relationships/hyperlink" Target="https://stackoverflow.com/questions/56940793/quickselect-time-complexity-explained" TargetMode="External"/><Relationship Id="rId5" Type="http://schemas.openxmlformats.org/officeDocument/2006/relationships/hyperlink" Target="https://www.programiz.com/dsa/divide-and-conquer" TargetMode="External"/><Relationship Id="rId15" Type="http://schemas.openxmlformats.org/officeDocument/2006/relationships/hyperlink" Target="https://stackoverflow.com/questions/9489061/understanding-median-of-medians-algorithm" TargetMode="External"/><Relationship Id="rId10" Type="http://schemas.openxmlformats.org/officeDocument/2006/relationships/hyperlink" Target="https://stackoverflow.com/questions/10846482/quickselect-algorithm-understanding" TargetMode="External"/><Relationship Id="rId4" Type="http://schemas.openxmlformats.org/officeDocument/2006/relationships/hyperlink" Target="https://www.geeksforgeeks.org/dsa/quickselect-algorithm/" TargetMode="External"/><Relationship Id="rId9" Type="http://schemas.openxmlformats.org/officeDocument/2006/relationships/hyperlink" Target="https://www.freecodecamp.org/news/quickselect-algorithm-explained-with-examples/" TargetMode="External"/><Relationship Id="rId14" Type="http://schemas.openxmlformats.org/officeDocument/2006/relationships/hyperlink" Target="https://brilliant.org/wiki/median-finding-algorithm/"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hyperlink" Target="mailto:srabonaich@gmail.com"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hyperlink" Target="mailto:arafislam0015@gmail.com" TargetMode="External"/><Relationship Id="rId4" Type="http://schemas.openxmlformats.org/officeDocument/2006/relationships/hyperlink" Target="mailto:saadbinashad2003@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Finding Median</a:t>
            </a:r>
            <a:r>
              <a:rPr lang="en-US"/>
              <a:t>(kth Smallest </a:t>
            </a:r>
            <a:r>
              <a:rPr lang="en-US" dirty="0"/>
              <a:t>Element) in a Set Using D&amp;C in Expected Linear Time</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tar: 5 Points 4">
            <a:extLst>
              <a:ext uri="{FF2B5EF4-FFF2-40B4-BE49-F238E27FC236}">
                <a16:creationId xmlns:a16="http://schemas.microsoft.com/office/drawing/2014/main" id="{FDB52C50-9F6D-4C9E-A4DE-AC40A84384A6}"/>
              </a:ext>
            </a:extLst>
          </p:cNvPr>
          <p:cNvSpPr/>
          <p:nvPr/>
        </p:nvSpPr>
        <p:spPr>
          <a:xfrm>
            <a:off x="11046149" y="-474309"/>
            <a:ext cx="1865871" cy="1668162"/>
          </a:xfrm>
          <a:prstGeom prst="star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73CB1EB3-0DCF-4A5B-BD09-169A546D262E}"/>
              </a:ext>
            </a:extLst>
          </p:cNvPr>
          <p:cNvSpPr/>
          <p:nvPr/>
        </p:nvSpPr>
        <p:spPr>
          <a:xfrm>
            <a:off x="-716691" y="-239531"/>
            <a:ext cx="1729946" cy="1433384"/>
          </a:xfrm>
          <a:prstGeom prst="rightArrow">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peech Bubble: Oval 7">
            <a:extLst>
              <a:ext uri="{FF2B5EF4-FFF2-40B4-BE49-F238E27FC236}">
                <a16:creationId xmlns:a16="http://schemas.microsoft.com/office/drawing/2014/main" id="{9DF8DFFA-8F8B-48E3-896E-02BF3B248ADA}"/>
              </a:ext>
            </a:extLst>
          </p:cNvPr>
          <p:cNvSpPr/>
          <p:nvPr/>
        </p:nvSpPr>
        <p:spPr>
          <a:xfrm>
            <a:off x="-426307" y="5146589"/>
            <a:ext cx="2879124" cy="1198605"/>
          </a:xfrm>
          <a:prstGeom prst="wedgeEllipseCallout">
            <a:avLst>
              <a:gd name="adj1" fmla="val -30704"/>
              <a:gd name="adj2" fmla="val 69716"/>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1F76B800-84D1-4335-800C-4D2813BCD97A}"/>
              </a:ext>
            </a:extLst>
          </p:cNvPr>
          <p:cNvSpPr txBox="1"/>
          <p:nvPr/>
        </p:nvSpPr>
        <p:spPr>
          <a:xfrm>
            <a:off x="3812057" y="1472222"/>
            <a:ext cx="4000499" cy="769441"/>
          </a:xfrm>
          <a:prstGeom prst="rect">
            <a:avLst/>
          </a:prstGeom>
          <a:noFill/>
          <a:ln>
            <a:solidFill>
              <a:schemeClr val="tx1"/>
            </a:solidFill>
          </a:ln>
        </p:spPr>
        <p:txBody>
          <a:bodyPr wrap="square" rtlCol="0">
            <a:spAutoFit/>
          </a:bodyPr>
          <a:lstStyle/>
          <a:p>
            <a:r>
              <a:rPr lang="en-US" sz="4400" b="1" dirty="0"/>
              <a:t>TEAM MEMBERS</a:t>
            </a:r>
          </a:p>
        </p:txBody>
      </p:sp>
      <p:sp>
        <p:nvSpPr>
          <p:cNvPr id="13" name="Oval 12">
            <a:extLst>
              <a:ext uri="{FF2B5EF4-FFF2-40B4-BE49-F238E27FC236}">
                <a16:creationId xmlns:a16="http://schemas.microsoft.com/office/drawing/2014/main" id="{00ED5689-D31F-4778-BD48-77FC21F7AEF4}"/>
              </a:ext>
            </a:extLst>
          </p:cNvPr>
          <p:cNvSpPr/>
          <p:nvPr/>
        </p:nvSpPr>
        <p:spPr>
          <a:xfrm>
            <a:off x="3262183" y="-1204784"/>
            <a:ext cx="2669059" cy="1989438"/>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5C99439-572E-4CD6-ADB6-920D58062AC7}"/>
              </a:ext>
            </a:extLst>
          </p:cNvPr>
          <p:cNvSpPr/>
          <p:nvPr/>
        </p:nvSpPr>
        <p:spPr>
          <a:xfrm>
            <a:off x="7191236" y="-675107"/>
            <a:ext cx="2211860" cy="871152"/>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E8FD8800-213A-4423-985C-8554F27958A9}"/>
              </a:ext>
            </a:extLst>
          </p:cNvPr>
          <p:cNvSpPr>
            <a:spLocks noGrp="1"/>
          </p:cNvSpPr>
          <p:nvPr>
            <p:ph type="sldNum" sz="quarter" idx="4"/>
          </p:nvPr>
        </p:nvSpPr>
        <p:spPr/>
        <p:txBody>
          <a:bodyPr/>
          <a:lstStyle/>
          <a:p>
            <a:fld id="{58FB4751-880F-D840-AAA9-3A15815CC996}" type="slidenum">
              <a:rPr lang="en-US" smtClean="0"/>
              <a:pPr/>
              <a:t>2</a:t>
            </a:fld>
            <a:endParaRPr lang="en-US" dirty="0"/>
          </a:p>
        </p:txBody>
      </p:sp>
      <p:sp>
        <p:nvSpPr>
          <p:cNvPr id="4" name="TextBox 3">
            <a:extLst>
              <a:ext uri="{FF2B5EF4-FFF2-40B4-BE49-F238E27FC236}">
                <a16:creationId xmlns:a16="http://schemas.microsoft.com/office/drawing/2014/main" id="{979FEDBC-D01F-481A-9D62-9F1D261358DF}"/>
              </a:ext>
            </a:extLst>
          </p:cNvPr>
          <p:cNvSpPr txBox="1"/>
          <p:nvPr/>
        </p:nvSpPr>
        <p:spPr>
          <a:xfrm>
            <a:off x="4049925" y="2776436"/>
            <a:ext cx="3762631" cy="1815882"/>
          </a:xfrm>
          <a:prstGeom prst="rect">
            <a:avLst/>
          </a:prstGeom>
          <a:noFill/>
        </p:spPr>
        <p:txBody>
          <a:bodyPr wrap="square" rtlCol="0">
            <a:spAutoFit/>
          </a:bodyPr>
          <a:lstStyle/>
          <a:p>
            <a:r>
              <a:rPr lang="en-US" sz="2800" b="1" dirty="0"/>
              <a:t>SRABON AICH -15</a:t>
            </a:r>
          </a:p>
          <a:p>
            <a:r>
              <a:rPr lang="en-US" sz="2800" b="1" dirty="0"/>
              <a:t>SAAD BIN ASAD – 32</a:t>
            </a:r>
          </a:p>
          <a:p>
            <a:r>
              <a:rPr lang="en-US" sz="2800" b="1" dirty="0"/>
              <a:t>ARIFUL ISLAM – 45</a:t>
            </a:r>
          </a:p>
          <a:p>
            <a:r>
              <a:rPr lang="en-US" sz="2800" b="1" dirty="0"/>
              <a:t>MD. RAFEUL ISLAM - 80</a:t>
            </a:r>
          </a:p>
        </p:txBody>
      </p:sp>
    </p:spTree>
    <p:extLst>
      <p:ext uri="{BB962C8B-B14F-4D97-AF65-F5344CB8AC3E}">
        <p14:creationId xmlns:p14="http://schemas.microsoft.com/office/powerpoint/2010/main" val="2396106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001467" y="914400"/>
            <a:ext cx="3906709" cy="5029200"/>
          </a:xfrm>
        </p:spPr>
        <p:txBody>
          <a:bodyPr/>
          <a:lstStyle/>
          <a:p>
            <a:r>
              <a:rPr lang="en-US" dirty="0"/>
              <a:t>agenda</a:t>
            </a:r>
          </a:p>
        </p:txBody>
      </p:sp>
      <p:graphicFrame>
        <p:nvGraphicFramePr>
          <p:cNvPr id="6" name="Table 4">
            <a:extLst>
              <a:ext uri="{FF2B5EF4-FFF2-40B4-BE49-F238E27FC236}">
                <a16:creationId xmlns:a16="http://schemas.microsoft.com/office/drawing/2014/main" id="{0D6FB95E-6987-A57C-3663-3FD6F6FAC24E}"/>
              </a:ext>
            </a:extLst>
          </p:cNvPr>
          <p:cNvGraphicFramePr>
            <a:graphicFrameLocks noGrp="1"/>
          </p:cNvGraphicFramePr>
          <p:nvPr>
            <p:ph idx="1"/>
            <p:extLst>
              <p:ext uri="{D42A27DB-BD31-4B8C-83A1-F6EECF244321}">
                <p14:modId xmlns:p14="http://schemas.microsoft.com/office/powerpoint/2010/main" val="3460781329"/>
              </p:ext>
            </p:extLst>
          </p:nvPr>
        </p:nvGraphicFramePr>
        <p:xfrm>
          <a:off x="6096000" y="1172615"/>
          <a:ext cx="5076171" cy="4512770"/>
        </p:xfrm>
        <a:graphic>
          <a:graphicData uri="http://schemas.openxmlformats.org/drawingml/2006/table">
            <a:tbl>
              <a:tblPr firstRow="1" bandRow="1"/>
              <a:tblGrid>
                <a:gridCol w="5076171">
                  <a:extLst>
                    <a:ext uri="{9D8B030D-6E8A-4147-A177-3AD203B41FA5}">
                      <a16:colId xmlns:a16="http://schemas.microsoft.com/office/drawing/2014/main" val="1563570424"/>
                    </a:ext>
                  </a:extLst>
                </a:gridCol>
              </a:tblGrid>
              <a:tr h="61610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latin typeface="+mn-lt"/>
                          <a:cs typeface="Gill Sans Light" panose="020B0302020104020203" pitchFamily="34" charset="-79"/>
                        </a:rPr>
                        <a:t>INTRODUCTION</a:t>
                      </a:r>
                    </a:p>
                    <a:p>
                      <a:pPr algn="r"/>
                      <a:r>
                        <a:rPr lang="en-US" sz="1800" b="0" dirty="0">
                          <a:latin typeface="+mj-lt"/>
                        </a:rPr>
                        <a:t>3</a:t>
                      </a:r>
                    </a:p>
                  </a:txBody>
                  <a:tcPr>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649557">
                <a:tc>
                  <a:txBody>
                    <a:bodyPr/>
                    <a:lstStyle/>
                    <a:p>
                      <a:pPr algn="r"/>
                      <a:r>
                        <a:rPr lang="en-US" sz="1800" b="0" dirty="0"/>
                        <a:t>PROBLEM SETUP</a:t>
                      </a:r>
                    </a:p>
                    <a:p>
                      <a:pPr marL="0" algn="r" defTabSz="914400" rtl="0" eaLnBrk="1" latinLnBrk="0" hangingPunct="1"/>
                      <a:r>
                        <a:rPr lang="en-US" sz="1800" b="0" kern="1200" dirty="0">
                          <a:solidFill>
                            <a:schemeClr val="tx1"/>
                          </a:solidFill>
                          <a:latin typeface="+mj-lt"/>
                          <a:ea typeface="+mn-ea"/>
                          <a:cs typeface="+mn-cs"/>
                        </a:rPr>
                        <a:t>11</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662813">
                <a:tc>
                  <a:txBody>
                    <a:bodyPr/>
                    <a:lstStyle/>
                    <a:p>
                      <a:pPr algn="r"/>
                      <a:r>
                        <a:rPr lang="en-US" sz="1800" b="0" dirty="0"/>
                        <a:t>DIVIDE &amp; CONQUER APPROACH</a:t>
                      </a:r>
                    </a:p>
                    <a:p>
                      <a:pPr marL="0" algn="r" defTabSz="914400" rtl="0" eaLnBrk="1" latinLnBrk="0" hangingPunct="1"/>
                      <a:r>
                        <a:rPr lang="en-US" sz="1800" b="0" kern="1200" dirty="0">
                          <a:solidFill>
                            <a:schemeClr val="tx1"/>
                          </a:solidFill>
                          <a:latin typeface="+mj-lt"/>
                          <a:ea typeface="+mn-ea"/>
                          <a:cs typeface="+mn-cs"/>
                        </a:rPr>
                        <a:t>10</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63630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latin typeface="+mn-lt"/>
                          <a:cs typeface="Gill Sans Light" panose="020B0302020104020203" pitchFamily="34" charset="-79"/>
                        </a:rPr>
                        <a:t>QUICKSELECT ALGORITHM</a:t>
                      </a:r>
                    </a:p>
                    <a:p>
                      <a:pPr marL="0" algn="r" defTabSz="914400" rtl="0" eaLnBrk="1" latinLnBrk="0" hangingPunct="1"/>
                      <a:r>
                        <a:rPr lang="en-US" sz="1800" b="0" kern="1200" dirty="0">
                          <a:solidFill>
                            <a:schemeClr val="tx1"/>
                          </a:solidFill>
                          <a:latin typeface="+mj-lt"/>
                          <a:ea typeface="+mn-ea"/>
                          <a:cs typeface="+mn-cs"/>
                        </a:rPr>
                        <a:t> 14</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r h="61610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latin typeface="+mn-lt"/>
                          <a:cs typeface="Gill Sans Light" panose="020B0302020104020203" pitchFamily="34" charset="-79"/>
                        </a:rPr>
                        <a:t>MEDIAN OF MEDIANS ALGORITHM</a:t>
                      </a:r>
                    </a:p>
                    <a:p>
                      <a:pPr marL="0" algn="r" defTabSz="914400" rtl="0" eaLnBrk="1" latinLnBrk="0" hangingPunct="1"/>
                      <a:r>
                        <a:rPr lang="en-US" sz="1800" b="0" kern="1200" dirty="0">
                          <a:solidFill>
                            <a:schemeClr val="tx1"/>
                          </a:solidFill>
                          <a:latin typeface="+mj-lt"/>
                          <a:ea typeface="+mn-ea"/>
                          <a:cs typeface="+mn-cs"/>
                        </a:rPr>
                        <a:t>26</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r h="616106">
                <a:tc>
                  <a:txBody>
                    <a:bodyPr/>
                    <a:lstStyle/>
                    <a:p>
                      <a:pPr marL="0" algn="r" defTabSz="914400" rtl="0" eaLnBrk="1" latinLnBrk="0" hangingPunct="1"/>
                      <a:r>
                        <a:rPr lang="en-US" sz="1800" b="0" kern="1200" dirty="0">
                          <a:solidFill>
                            <a:schemeClr val="tx1"/>
                          </a:solidFill>
                          <a:latin typeface="+mn-lt"/>
                          <a:ea typeface="+mn-ea"/>
                          <a:cs typeface="+mn-cs"/>
                        </a:rPr>
                        <a:t>APPLICATIONS &amp; USE CASES</a:t>
                      </a:r>
                    </a:p>
                    <a:p>
                      <a:pPr marL="0" algn="r" defTabSz="914400" rtl="0" eaLnBrk="1" latinLnBrk="0" hangingPunct="1"/>
                      <a:r>
                        <a:rPr lang="en-US" sz="1800" b="1" kern="1200" dirty="0">
                          <a:solidFill>
                            <a:schemeClr val="tx1"/>
                          </a:solidFill>
                          <a:latin typeface="+mn-lt"/>
                          <a:ea typeface="+mn-ea"/>
                          <a:cs typeface="+mn-cs"/>
                        </a:rPr>
                        <a:t>33</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9588309"/>
                  </a:ext>
                </a:extLst>
              </a:tr>
              <a:tr h="616106">
                <a:tc>
                  <a:txBody>
                    <a:bodyPr/>
                    <a:lstStyle/>
                    <a:p>
                      <a:pPr marL="0" algn="r" defTabSz="914400" rtl="0" eaLnBrk="1" latinLnBrk="0" hangingPunct="1"/>
                      <a:r>
                        <a:rPr lang="en-US" sz="1800" b="0" kern="1200" dirty="0">
                          <a:solidFill>
                            <a:schemeClr val="tx1"/>
                          </a:solidFill>
                          <a:latin typeface="+mn-lt"/>
                          <a:ea typeface="+mn-ea"/>
                          <a:cs typeface="+mn-cs"/>
                        </a:rPr>
                        <a:t>CONCLUSION</a:t>
                      </a:r>
                    </a:p>
                    <a:p>
                      <a:pPr marL="0" algn="r" defTabSz="914400" rtl="0" eaLnBrk="1" latinLnBrk="0" hangingPunct="1"/>
                      <a:r>
                        <a:rPr lang="en-US" sz="1800" b="1" kern="1200" dirty="0">
                          <a:solidFill>
                            <a:schemeClr val="tx1"/>
                          </a:solidFill>
                          <a:latin typeface="+mn-lt"/>
                          <a:ea typeface="+mn-ea"/>
                          <a:cs typeface="+mn-cs"/>
                        </a:rPr>
                        <a:t>35</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81981128"/>
                  </a:ext>
                </a:extLst>
              </a:tr>
            </a:tbl>
          </a:graphicData>
        </a:graphic>
      </p:graphicFrame>
    </p:spTree>
    <p:extLst>
      <p:ext uri="{BB962C8B-B14F-4D97-AF65-F5344CB8AC3E}">
        <p14:creationId xmlns:p14="http://schemas.microsoft.com/office/powerpoint/2010/main" val="586478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idx="4294967295"/>
          </p:nvPr>
        </p:nvSpPr>
        <p:spPr>
          <a:xfrm>
            <a:off x="1192306" y="1683508"/>
            <a:ext cx="4091081" cy="2810435"/>
          </a:xfrm>
        </p:spPr>
        <p:txBody>
          <a:bodyPr/>
          <a:lstStyle/>
          <a:p>
            <a:r>
              <a:rPr lang="en-US" sz="5400" dirty="0"/>
              <a:t>overview</a:t>
            </a:r>
          </a:p>
        </p:txBody>
      </p:sp>
      <p:graphicFrame>
        <p:nvGraphicFramePr>
          <p:cNvPr id="6" name="Table 4">
            <a:extLst>
              <a:ext uri="{FF2B5EF4-FFF2-40B4-BE49-F238E27FC236}">
                <a16:creationId xmlns:a16="http://schemas.microsoft.com/office/drawing/2014/main" id="{0D6FB95E-6987-A57C-3663-3FD6F6FAC24E}"/>
              </a:ext>
            </a:extLst>
          </p:cNvPr>
          <p:cNvGraphicFramePr>
            <a:graphicFrameLocks noGrp="1"/>
          </p:cNvGraphicFramePr>
          <p:nvPr>
            <p:ph idx="4294967295"/>
            <p:extLst>
              <p:ext uri="{D42A27DB-BD31-4B8C-83A1-F6EECF244321}">
                <p14:modId xmlns:p14="http://schemas.microsoft.com/office/powerpoint/2010/main" val="2639120969"/>
              </p:ext>
            </p:extLst>
          </p:nvPr>
        </p:nvGraphicFramePr>
        <p:xfrm>
          <a:off x="6325569" y="1985401"/>
          <a:ext cx="4881309" cy="2445667"/>
        </p:xfrm>
        <a:graphic>
          <a:graphicData uri="http://schemas.openxmlformats.org/drawingml/2006/table">
            <a:tbl>
              <a:tblPr firstRow="1" bandRow="1"/>
              <a:tblGrid>
                <a:gridCol w="4881309">
                  <a:extLst>
                    <a:ext uri="{9D8B030D-6E8A-4147-A177-3AD203B41FA5}">
                      <a16:colId xmlns:a16="http://schemas.microsoft.com/office/drawing/2014/main" val="1563570424"/>
                    </a:ext>
                  </a:extLst>
                </a:gridCol>
              </a:tblGrid>
              <a:tr h="757799">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latin typeface="+mn-lt"/>
                          <a:cs typeface="Gill Sans Light" panose="020B0302020104020203" pitchFamily="34" charset="-79"/>
                        </a:rPr>
                        <a:t>WHAT IS MEDIAN?</a:t>
                      </a:r>
                    </a:p>
                  </a:txBody>
                  <a:tcPr anchor="ctr">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803189">
                <a:tc>
                  <a:txBody>
                    <a:bodyPr/>
                    <a:lstStyle/>
                    <a:p>
                      <a:pPr algn="r"/>
                      <a:r>
                        <a:rPr lang="en-US" sz="2400" b="0" dirty="0"/>
                        <a:t>WHAT IS K-TH SMALLEST ELEMENT</a:t>
                      </a:r>
                    </a:p>
                  </a:txBody>
                  <a:tcPr anchor="ctr">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884679">
                <a:tc>
                  <a:txBody>
                    <a:bodyPr/>
                    <a:lstStyle/>
                    <a:p>
                      <a:pPr algn="r"/>
                      <a:r>
                        <a:rPr lang="en-US" sz="2400" b="0" dirty="0"/>
                        <a:t>MOTIVATION FOR SOLVING</a:t>
                      </a:r>
                    </a:p>
                  </a:txBody>
                  <a:tcPr anchor="ctr">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bl>
          </a:graphicData>
        </a:graphic>
      </p:graphicFrame>
      <p:sp>
        <p:nvSpPr>
          <p:cNvPr id="8" name="Slide Number Placeholder 7">
            <a:extLst>
              <a:ext uri="{FF2B5EF4-FFF2-40B4-BE49-F238E27FC236}">
                <a16:creationId xmlns:a16="http://schemas.microsoft.com/office/drawing/2014/main" id="{3CA847F0-1051-4546-B013-29DF636058FB}"/>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2234801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914400" y="547912"/>
            <a:ext cx="7534656" cy="914400"/>
          </a:xfrm>
        </p:spPr>
        <p:txBody>
          <a:bodyPr/>
          <a:lstStyle/>
          <a:p>
            <a:r>
              <a:rPr lang="en-US" dirty="0"/>
              <a:t>problem setup</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400" y="2323070"/>
            <a:ext cx="10439400" cy="3556734"/>
          </a:xfrm>
        </p:spPr>
        <p:txBody>
          <a:bodyPr>
            <a:normAutofit/>
          </a:bodyPr>
          <a:lstStyle/>
          <a:p>
            <a:r>
              <a:rPr lang="en-US" b="1" dirty="0"/>
              <a:t>What is Median?</a:t>
            </a:r>
          </a:p>
          <a:p>
            <a:pPr lvl="1"/>
            <a:r>
              <a:rPr lang="en-US" b="0" i="0" dirty="0">
                <a:effectLst/>
              </a:rPr>
              <a:t>The median of an array of size n is defined as the middle element when n is odd and the average of the middle two elements when n is even</a:t>
            </a:r>
            <a:r>
              <a:rPr lang="en-US" b="0" i="0" dirty="0">
                <a:solidFill>
                  <a:srgbClr val="FF0000"/>
                </a:solidFill>
                <a:effectLst/>
              </a:rPr>
              <a:t>.</a:t>
            </a:r>
          </a:p>
          <a:p>
            <a:pPr marL="0" indent="0" algn="l" rtl="0" fontAlgn="base">
              <a:buNone/>
            </a:pPr>
            <a:r>
              <a:rPr lang="en-US" b="0" dirty="0">
                <a:effectLst/>
              </a:rPr>
              <a:t>[12, 3, 5, 7, 4, 19, 26]</a:t>
            </a:r>
            <a:br>
              <a:rPr lang="en-US" b="0" dirty="0">
                <a:effectLst/>
              </a:rPr>
            </a:br>
            <a:r>
              <a:rPr lang="en-US" b="1" dirty="0">
                <a:effectLst/>
              </a:rPr>
              <a:t>Median:</a:t>
            </a:r>
            <a:r>
              <a:rPr lang="en-US" b="0" dirty="0">
                <a:effectLst/>
              </a:rPr>
              <a:t> 7 </a:t>
            </a:r>
            <a:br>
              <a:rPr lang="en-US" b="0" dirty="0">
                <a:effectLst/>
              </a:rPr>
            </a:br>
            <a:r>
              <a:rPr lang="en-US" b="1" dirty="0">
                <a:effectLst/>
              </a:rPr>
              <a:t>Explanation</a:t>
            </a:r>
            <a:r>
              <a:rPr lang="en-US" b="0" dirty="0">
                <a:effectLst/>
              </a:rPr>
              <a:t>: Sorted sequence of given array [3, 4, 5, 7, 12, 19, 26] Since the number of elements is odd, the median is 4th element in the sorted sequence of given array, which is 7</a:t>
            </a:r>
          </a:p>
          <a:p>
            <a:pPr marL="0" indent="0" algn="l" rtl="0" fontAlgn="base">
              <a:buNone/>
            </a:pPr>
            <a:r>
              <a:rPr lang="en-US" b="0" dirty="0">
                <a:effectLst/>
              </a:rPr>
              <a:t>[12, 3, 5, 7, 4, 26] </a:t>
            </a:r>
            <a:br>
              <a:rPr lang="en-US" b="0" dirty="0">
                <a:effectLst/>
              </a:rPr>
            </a:br>
            <a:r>
              <a:rPr lang="en-US" b="1" dirty="0">
                <a:effectLst/>
              </a:rPr>
              <a:t>Median:</a:t>
            </a:r>
            <a:r>
              <a:rPr lang="en-US" b="0" dirty="0">
                <a:effectLst/>
              </a:rPr>
              <a:t> 6</a:t>
            </a:r>
            <a:br>
              <a:rPr lang="en-US" b="0" dirty="0">
                <a:effectLst/>
              </a:rPr>
            </a:br>
            <a:r>
              <a:rPr lang="en-US" b="1" dirty="0">
                <a:effectLst/>
              </a:rPr>
              <a:t>Explanation</a:t>
            </a:r>
            <a:r>
              <a:rPr lang="en-US" b="0" dirty="0">
                <a:effectLst/>
              </a:rPr>
              <a:t>: Since number of elements are even, median is average of 3rd and 4th element in sorted sequence of given array, which means (5 + 7)/2 = 6</a:t>
            </a:r>
          </a:p>
          <a:p>
            <a:pPr marL="457200" lvl="1" indent="0">
              <a:buNone/>
            </a:pPr>
            <a:endParaRPr lang="en-US" dirty="0">
              <a:solidFill>
                <a:srgbClr val="FF0000"/>
              </a:solidFill>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sp>
        <p:nvSpPr>
          <p:cNvPr id="2" name="TextBox 1">
            <a:extLst>
              <a:ext uri="{FF2B5EF4-FFF2-40B4-BE49-F238E27FC236}">
                <a16:creationId xmlns:a16="http://schemas.microsoft.com/office/drawing/2014/main" id="{32C076E2-90D6-4456-BF02-22C829509C64}"/>
              </a:ext>
            </a:extLst>
          </p:cNvPr>
          <p:cNvSpPr txBox="1"/>
          <p:nvPr/>
        </p:nvSpPr>
        <p:spPr>
          <a:xfrm>
            <a:off x="914400" y="1742052"/>
            <a:ext cx="4127157" cy="461665"/>
          </a:xfrm>
          <a:prstGeom prst="rect">
            <a:avLst/>
          </a:prstGeom>
          <a:noFill/>
        </p:spPr>
        <p:txBody>
          <a:bodyPr wrap="square" rtlCol="0" anchor="b">
            <a:spAutoFit/>
          </a:bodyPr>
          <a:lstStyle/>
          <a:p>
            <a:r>
              <a:rPr lang="en-US" sz="2400" dirty="0"/>
              <a:t>Definition</a:t>
            </a:r>
            <a:r>
              <a:rPr lang="en-US" dirty="0"/>
              <a:t> </a:t>
            </a:r>
          </a:p>
        </p:txBody>
      </p:sp>
    </p:spTree>
    <p:extLst>
      <p:ext uri="{BB962C8B-B14F-4D97-AF65-F5344CB8AC3E}">
        <p14:creationId xmlns:p14="http://schemas.microsoft.com/office/powerpoint/2010/main" val="196691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849C45-CC7B-44E8-99D9-48D2C7E618FC}"/>
              </a:ext>
            </a:extLst>
          </p:cNvPr>
          <p:cNvSpPr>
            <a:spLocks noGrp="1"/>
          </p:cNvSpPr>
          <p:nvPr>
            <p:ph type="sldNum" sz="quarter" idx="4294967295"/>
          </p:nvPr>
        </p:nvSpPr>
        <p:spPr>
          <a:xfrm>
            <a:off x="11530013" y="5880100"/>
            <a:ext cx="661987" cy="895350"/>
          </a:xfrm>
        </p:spPr>
        <p:txBody>
          <a:bodyPr/>
          <a:lstStyle/>
          <a:p>
            <a:fld id="{58FB4751-880F-D840-AAA9-3A15815CC996}" type="slidenum">
              <a:rPr lang="en-US" smtClean="0"/>
              <a:pPr/>
              <a:t>6</a:t>
            </a:fld>
            <a:endParaRPr lang="en-US" dirty="0"/>
          </a:p>
        </p:txBody>
      </p:sp>
      <p:sp>
        <p:nvSpPr>
          <p:cNvPr id="7" name="Title 18">
            <a:extLst>
              <a:ext uri="{FF2B5EF4-FFF2-40B4-BE49-F238E27FC236}">
                <a16:creationId xmlns:a16="http://schemas.microsoft.com/office/drawing/2014/main" id="{AA793F3C-CE28-42D8-B08D-C7B86ECB33E9}"/>
              </a:ext>
            </a:extLst>
          </p:cNvPr>
          <p:cNvSpPr>
            <a:spLocks noGrp="1"/>
          </p:cNvSpPr>
          <p:nvPr>
            <p:ph type="title"/>
          </p:nvPr>
        </p:nvSpPr>
        <p:spPr>
          <a:xfrm>
            <a:off x="742122" y="865965"/>
            <a:ext cx="5897217" cy="914400"/>
          </a:xfrm>
        </p:spPr>
        <p:txBody>
          <a:bodyPr/>
          <a:lstStyle/>
          <a:p>
            <a:r>
              <a:rPr lang="en-US" sz="3200" dirty="0"/>
              <a:t>problem setup</a:t>
            </a:r>
          </a:p>
        </p:txBody>
      </p:sp>
      <p:sp>
        <p:nvSpPr>
          <p:cNvPr id="8" name="TextBox 7">
            <a:extLst>
              <a:ext uri="{FF2B5EF4-FFF2-40B4-BE49-F238E27FC236}">
                <a16:creationId xmlns:a16="http://schemas.microsoft.com/office/drawing/2014/main" id="{13B4FDF0-201B-43E7-99E0-C4D557AC3897}"/>
              </a:ext>
            </a:extLst>
          </p:cNvPr>
          <p:cNvSpPr txBox="1"/>
          <p:nvPr/>
        </p:nvSpPr>
        <p:spPr>
          <a:xfrm>
            <a:off x="742122" y="1780365"/>
            <a:ext cx="4127157" cy="461665"/>
          </a:xfrm>
          <a:prstGeom prst="rect">
            <a:avLst/>
          </a:prstGeom>
          <a:noFill/>
        </p:spPr>
        <p:txBody>
          <a:bodyPr wrap="square" rtlCol="0" anchor="b">
            <a:spAutoFit/>
          </a:bodyPr>
          <a:lstStyle/>
          <a:p>
            <a:r>
              <a:rPr lang="en-US" sz="2400" dirty="0"/>
              <a:t>Definition</a:t>
            </a:r>
            <a:r>
              <a:rPr lang="en-US" dirty="0"/>
              <a:t> </a:t>
            </a:r>
          </a:p>
        </p:txBody>
      </p:sp>
      <p:sp>
        <p:nvSpPr>
          <p:cNvPr id="9" name="Content Placeholder 7">
            <a:extLst>
              <a:ext uri="{FF2B5EF4-FFF2-40B4-BE49-F238E27FC236}">
                <a16:creationId xmlns:a16="http://schemas.microsoft.com/office/drawing/2014/main" id="{D6D64972-7DE2-4B2B-9136-FCAAF8E9C0BF}"/>
              </a:ext>
            </a:extLst>
          </p:cNvPr>
          <p:cNvSpPr txBox="1">
            <a:spLocks/>
          </p:cNvSpPr>
          <p:nvPr/>
        </p:nvSpPr>
        <p:spPr>
          <a:xfrm>
            <a:off x="742122" y="2435301"/>
            <a:ext cx="6487541" cy="355673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What is k-</a:t>
            </a:r>
            <a:r>
              <a:rPr lang="en-US" sz="2000" b="1" dirty="0" err="1"/>
              <a:t>th</a:t>
            </a:r>
            <a:r>
              <a:rPr lang="en-US" sz="2000" b="1" dirty="0"/>
              <a:t> smallest element?</a:t>
            </a:r>
          </a:p>
          <a:p>
            <a:pPr lvl="1"/>
            <a:r>
              <a:rPr lang="en-US" sz="1800" dirty="0"/>
              <a:t>The kth smallest element in an array is the element that would be at the kth position if the array were sorted in ascending order</a:t>
            </a:r>
          </a:p>
          <a:p>
            <a:pPr marL="457200" lvl="1" indent="0">
              <a:buNone/>
            </a:pPr>
            <a:r>
              <a:rPr lang="en-US" sz="1800" dirty="0"/>
              <a:t>For Example:</a:t>
            </a:r>
          </a:p>
          <a:p>
            <a:pPr lvl="1"/>
            <a:r>
              <a:rPr lang="en-US" sz="1800" dirty="0"/>
              <a:t>Array [1, 5, 7, 6, 4, 3, 2] and k is 3, the 3</a:t>
            </a:r>
            <a:r>
              <a:rPr lang="en-US" sz="1800" baseline="30000" dirty="0"/>
              <a:t>rd</a:t>
            </a:r>
            <a:r>
              <a:rPr lang="en-US" sz="1800" dirty="0"/>
              <a:t> smallest element is 3, as it’s larger than 1 and 2</a:t>
            </a:r>
          </a:p>
          <a:p>
            <a:pPr lvl="1"/>
            <a:r>
              <a:rPr lang="en-US" sz="1800" dirty="0"/>
              <a:t>Array [2, 3, 1, 20, 15] and k is 4, the 4</a:t>
            </a:r>
            <a:r>
              <a:rPr lang="en-US" sz="1800" baseline="30000" dirty="0"/>
              <a:t>th</a:t>
            </a:r>
            <a:r>
              <a:rPr lang="en-US" sz="1800" dirty="0"/>
              <a:t> smallest element is 15</a:t>
            </a:r>
          </a:p>
        </p:txBody>
      </p:sp>
      <p:pic>
        <p:nvPicPr>
          <p:cNvPr id="21" name="Picture Placeholder 20">
            <a:extLst>
              <a:ext uri="{FF2B5EF4-FFF2-40B4-BE49-F238E27FC236}">
                <a16:creationId xmlns:a16="http://schemas.microsoft.com/office/drawing/2014/main" id="{A71C30B7-05B5-47A2-87E7-0AC7D2756845}"/>
              </a:ext>
            </a:extLst>
          </p:cNvPr>
          <p:cNvPicPr>
            <a:picLocks noGrp="1" noChangeAspect="1"/>
          </p:cNvPicPr>
          <p:nvPr>
            <p:ph type="pic" idx="1"/>
          </p:nvPr>
        </p:nvPicPr>
        <p:blipFill rotWithShape="1">
          <a:blip r:embed="rId2"/>
          <a:srcRect l="13416" t="-26" r="27056" b="-26"/>
          <a:stretch/>
        </p:blipFill>
        <p:spPr>
          <a:xfrm>
            <a:off x="7401941" y="0"/>
            <a:ext cx="4790059" cy="6587067"/>
          </a:xfrm>
        </p:spPr>
      </p:pic>
    </p:spTree>
    <p:extLst>
      <p:ext uri="{BB962C8B-B14F-4D97-AF65-F5344CB8AC3E}">
        <p14:creationId xmlns:p14="http://schemas.microsoft.com/office/powerpoint/2010/main" val="3804949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914400" y="547912"/>
            <a:ext cx="7534656" cy="914400"/>
          </a:xfrm>
        </p:spPr>
        <p:txBody>
          <a:bodyPr/>
          <a:lstStyle/>
          <a:p>
            <a:r>
              <a:rPr lang="en-US" dirty="0"/>
              <a:t>problem setup</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400" y="2323070"/>
            <a:ext cx="10439400" cy="3556734"/>
          </a:xfrm>
        </p:spPr>
        <p:txBody>
          <a:bodyPr>
            <a:normAutofit/>
          </a:bodyPr>
          <a:lstStyle/>
          <a:p>
            <a:r>
              <a:rPr lang="en-US" b="1" dirty="0"/>
              <a:t>Why Not Sort Everything ?(The Naïve Approach)</a:t>
            </a:r>
            <a:endParaRPr lang="en-US" b="1" dirty="0">
              <a:solidFill>
                <a:srgbClr val="FF0000"/>
              </a:solidFill>
            </a:endParaRPr>
          </a:p>
          <a:p>
            <a:pPr marL="0" indent="0">
              <a:buNone/>
            </a:pPr>
            <a:r>
              <a:rPr lang="en-US" b="1" dirty="0">
                <a:solidFill>
                  <a:srgbClr val="FF0000"/>
                </a:solidFill>
              </a:rPr>
              <a:t>	</a:t>
            </a:r>
            <a:r>
              <a:rPr lang="en-US" dirty="0"/>
              <a:t>This problem can be solved using Brute force approach which will take O(</a:t>
            </a:r>
            <a:r>
              <a:rPr lang="en-US" dirty="0" err="1"/>
              <a:t>nlogn</a:t>
            </a:r>
            <a:r>
              <a:rPr lang="en-US" dirty="0"/>
              <a:t>) </a:t>
            </a:r>
          </a:p>
          <a:p>
            <a:pPr marL="0" indent="0">
              <a:buNone/>
            </a:pPr>
            <a:r>
              <a:rPr lang="en-US" b="1" dirty="0"/>
              <a:t>	</a:t>
            </a:r>
            <a:r>
              <a:rPr lang="en-US" dirty="0"/>
              <a:t>O(</a:t>
            </a:r>
            <a:r>
              <a:rPr lang="en-US" dirty="0" err="1"/>
              <a:t>logn</a:t>
            </a:r>
            <a:r>
              <a:rPr lang="en-US" dirty="0"/>
              <a:t>) is required to partition the array based on a pivot and </a:t>
            </a:r>
          </a:p>
          <a:p>
            <a:pPr marL="0" indent="0">
              <a:buNone/>
            </a:pPr>
            <a:r>
              <a:rPr lang="en-US" dirty="0"/>
              <a:t>	O(n) is required to swap the subarrays .</a:t>
            </a:r>
          </a:p>
          <a:p>
            <a:pPr marL="0" indent="0">
              <a:buNone/>
            </a:pPr>
            <a:r>
              <a:rPr lang="en-US" b="1" dirty="0"/>
              <a:t>	</a:t>
            </a:r>
            <a:r>
              <a:rPr lang="en-US" dirty="0"/>
              <a:t>So the total complexity stands O(</a:t>
            </a:r>
            <a:r>
              <a:rPr lang="en-US" dirty="0" err="1"/>
              <a:t>nlogn</a:t>
            </a:r>
            <a:r>
              <a:rPr lang="en-US" dirty="0"/>
              <a:t>) &amp; which is inefficient for large data</a:t>
            </a:r>
          </a:p>
          <a:p>
            <a:pPr marL="0" indent="0">
              <a:buNone/>
            </a:pPr>
            <a:r>
              <a:rPr lang="en-US" b="1" dirty="0"/>
              <a:t>Can we do better??</a:t>
            </a:r>
          </a:p>
          <a:p>
            <a:pPr marL="0" indent="0">
              <a:buNone/>
            </a:pPr>
            <a:r>
              <a:rPr lang="en-US" b="1" dirty="0"/>
              <a:t>Can we reduce the time complexity to O(n) , Linear Time Complexity?</a:t>
            </a:r>
          </a:p>
          <a:p>
            <a:pPr marL="0" indent="0">
              <a:buNone/>
            </a:pPr>
            <a:r>
              <a:rPr lang="en-US" b="1" dirty="0"/>
              <a:t>Yes we can. For this we will use Divide &amp; Conquer(D&amp;C)</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
        <p:nvSpPr>
          <p:cNvPr id="2" name="TextBox 1">
            <a:extLst>
              <a:ext uri="{FF2B5EF4-FFF2-40B4-BE49-F238E27FC236}">
                <a16:creationId xmlns:a16="http://schemas.microsoft.com/office/drawing/2014/main" id="{32C076E2-90D6-4456-BF02-22C829509C64}"/>
              </a:ext>
            </a:extLst>
          </p:cNvPr>
          <p:cNvSpPr txBox="1"/>
          <p:nvPr/>
        </p:nvSpPr>
        <p:spPr>
          <a:xfrm>
            <a:off x="914400" y="1742052"/>
            <a:ext cx="4127157" cy="461665"/>
          </a:xfrm>
          <a:prstGeom prst="rect">
            <a:avLst/>
          </a:prstGeom>
          <a:noFill/>
        </p:spPr>
        <p:txBody>
          <a:bodyPr wrap="square" rtlCol="0" anchor="b">
            <a:spAutoFit/>
          </a:bodyPr>
          <a:lstStyle/>
          <a:p>
            <a:r>
              <a:rPr lang="en-US" sz="2400" dirty="0"/>
              <a:t>Motivation</a:t>
            </a:r>
            <a:r>
              <a:rPr lang="en-US" dirty="0"/>
              <a:t> </a:t>
            </a:r>
          </a:p>
        </p:txBody>
      </p:sp>
    </p:spTree>
    <p:extLst>
      <p:ext uri="{BB962C8B-B14F-4D97-AF65-F5344CB8AC3E}">
        <p14:creationId xmlns:p14="http://schemas.microsoft.com/office/powerpoint/2010/main" val="3258381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53DD0-A67B-440D-B256-50193D7B165C}"/>
              </a:ext>
            </a:extLst>
          </p:cNvPr>
          <p:cNvSpPr txBox="1"/>
          <p:nvPr/>
        </p:nvSpPr>
        <p:spPr>
          <a:xfrm>
            <a:off x="1409700" y="726141"/>
            <a:ext cx="9372600" cy="646331"/>
          </a:xfrm>
          <a:prstGeom prst="rect">
            <a:avLst/>
          </a:prstGeom>
          <a:noFill/>
        </p:spPr>
        <p:txBody>
          <a:bodyPr wrap="square" rtlCol="0">
            <a:spAutoFit/>
          </a:bodyPr>
          <a:lstStyle/>
          <a:p>
            <a:r>
              <a:rPr lang="en-US" sz="3600" dirty="0"/>
              <a:t>WHY EXPECTED LINEAR TIME IS IMPORTANT?</a:t>
            </a:r>
          </a:p>
        </p:txBody>
      </p:sp>
      <p:sp>
        <p:nvSpPr>
          <p:cNvPr id="7" name="TextBox 6">
            <a:extLst>
              <a:ext uri="{FF2B5EF4-FFF2-40B4-BE49-F238E27FC236}">
                <a16:creationId xmlns:a16="http://schemas.microsoft.com/office/drawing/2014/main" id="{46690BB7-44BE-4541-9ECE-0054025D22BB}"/>
              </a:ext>
            </a:extLst>
          </p:cNvPr>
          <p:cNvSpPr txBox="1"/>
          <p:nvPr/>
        </p:nvSpPr>
        <p:spPr>
          <a:xfrm>
            <a:off x="2535713" y="4396512"/>
            <a:ext cx="2487706" cy="707886"/>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2000" dirty="0"/>
              <a:t>Efficiency in Real-Time Applications</a:t>
            </a:r>
          </a:p>
        </p:txBody>
      </p:sp>
      <p:sp>
        <p:nvSpPr>
          <p:cNvPr id="9" name="TextBox 8">
            <a:extLst>
              <a:ext uri="{FF2B5EF4-FFF2-40B4-BE49-F238E27FC236}">
                <a16:creationId xmlns:a16="http://schemas.microsoft.com/office/drawing/2014/main" id="{2F61706C-40BE-4CA0-9FDE-E5576C17E23C}"/>
              </a:ext>
            </a:extLst>
          </p:cNvPr>
          <p:cNvSpPr txBox="1"/>
          <p:nvPr/>
        </p:nvSpPr>
        <p:spPr>
          <a:xfrm>
            <a:off x="7517097" y="3734086"/>
            <a:ext cx="2487706" cy="707886"/>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2000" dirty="0"/>
              <a:t>Optimal Use of Resources</a:t>
            </a:r>
          </a:p>
        </p:txBody>
      </p:sp>
      <p:sp>
        <p:nvSpPr>
          <p:cNvPr id="10" name="TextBox 9">
            <a:extLst>
              <a:ext uri="{FF2B5EF4-FFF2-40B4-BE49-F238E27FC236}">
                <a16:creationId xmlns:a16="http://schemas.microsoft.com/office/drawing/2014/main" id="{C17A5160-19E0-4254-8EB4-5B4365AD151E}"/>
              </a:ext>
            </a:extLst>
          </p:cNvPr>
          <p:cNvSpPr txBox="1"/>
          <p:nvPr/>
        </p:nvSpPr>
        <p:spPr>
          <a:xfrm>
            <a:off x="7517097" y="2751433"/>
            <a:ext cx="2487706" cy="707886"/>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2000" dirty="0"/>
              <a:t>Comparison with Other Algorithm</a:t>
            </a:r>
          </a:p>
        </p:txBody>
      </p:sp>
      <p:sp>
        <p:nvSpPr>
          <p:cNvPr id="11" name="TextBox 10">
            <a:extLst>
              <a:ext uri="{FF2B5EF4-FFF2-40B4-BE49-F238E27FC236}">
                <a16:creationId xmlns:a16="http://schemas.microsoft.com/office/drawing/2014/main" id="{1DFE38B7-A636-41B5-A3A9-08FA4C749376}"/>
              </a:ext>
            </a:extLst>
          </p:cNvPr>
          <p:cNvSpPr txBox="1"/>
          <p:nvPr/>
        </p:nvSpPr>
        <p:spPr>
          <a:xfrm>
            <a:off x="7537257" y="4716739"/>
            <a:ext cx="2487706" cy="400110"/>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2000" dirty="0"/>
              <a:t>Practical Applications</a:t>
            </a:r>
          </a:p>
        </p:txBody>
      </p:sp>
      <p:sp>
        <p:nvSpPr>
          <p:cNvPr id="12" name="TextBox 11">
            <a:extLst>
              <a:ext uri="{FF2B5EF4-FFF2-40B4-BE49-F238E27FC236}">
                <a16:creationId xmlns:a16="http://schemas.microsoft.com/office/drawing/2014/main" id="{98FB1A27-42EA-45D6-84A5-A97531A6315D}"/>
              </a:ext>
            </a:extLst>
          </p:cNvPr>
          <p:cNvSpPr txBox="1"/>
          <p:nvPr/>
        </p:nvSpPr>
        <p:spPr>
          <a:xfrm>
            <a:off x="2535713" y="2842810"/>
            <a:ext cx="2487706" cy="707886"/>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2000" dirty="0"/>
              <a:t>Handling Large Datasets</a:t>
            </a:r>
          </a:p>
        </p:txBody>
      </p:sp>
      <p:sp>
        <p:nvSpPr>
          <p:cNvPr id="13" name="TextBox 12">
            <a:extLst>
              <a:ext uri="{FF2B5EF4-FFF2-40B4-BE49-F238E27FC236}">
                <a16:creationId xmlns:a16="http://schemas.microsoft.com/office/drawing/2014/main" id="{7B6D8CD9-40DD-47CD-8EAB-5D2B2A398BD7}"/>
              </a:ext>
            </a:extLst>
          </p:cNvPr>
          <p:cNvSpPr txBox="1"/>
          <p:nvPr/>
        </p:nvSpPr>
        <p:spPr>
          <a:xfrm>
            <a:off x="2535713" y="3773549"/>
            <a:ext cx="1613645" cy="400110"/>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2000" dirty="0"/>
              <a:t>Scalability</a:t>
            </a:r>
          </a:p>
        </p:txBody>
      </p:sp>
      <p:cxnSp>
        <p:nvCxnSpPr>
          <p:cNvPr id="33" name="Straight Connector 32">
            <a:extLst>
              <a:ext uri="{FF2B5EF4-FFF2-40B4-BE49-F238E27FC236}">
                <a16:creationId xmlns:a16="http://schemas.microsoft.com/office/drawing/2014/main" id="{E4F46D33-DE69-461A-ACCA-7142C81651F0}"/>
              </a:ext>
            </a:extLst>
          </p:cNvPr>
          <p:cNvCxnSpPr>
            <a:cxnSpLocks/>
          </p:cNvCxnSpPr>
          <p:nvPr/>
        </p:nvCxnSpPr>
        <p:spPr>
          <a:xfrm>
            <a:off x="2271252" y="2471615"/>
            <a:ext cx="0" cy="3164675"/>
          </a:xfrm>
          <a:prstGeom prst="line">
            <a:avLst/>
          </a:prstGeom>
          <a:ln>
            <a:solidFill>
              <a:schemeClr val="accent1">
                <a:lumMod val="10000"/>
              </a:schemeClr>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9BB33BE1-A8BB-4B8C-8350-71B7B5794DCD}"/>
              </a:ext>
            </a:extLst>
          </p:cNvPr>
          <p:cNvSpPr/>
          <p:nvPr/>
        </p:nvSpPr>
        <p:spPr>
          <a:xfrm>
            <a:off x="2167037" y="2471615"/>
            <a:ext cx="208429" cy="172342"/>
          </a:xfrm>
          <a:prstGeom prst="ellipse">
            <a:avLst/>
          </a:prstGeom>
          <a:solidFill>
            <a:schemeClr val="accent1">
              <a:lumMod val="50000"/>
            </a:schemeClr>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0C297245-E883-48E0-867C-A0435070E431}"/>
              </a:ext>
            </a:extLst>
          </p:cNvPr>
          <p:cNvCxnSpPr>
            <a:cxnSpLocks/>
          </p:cNvCxnSpPr>
          <p:nvPr/>
        </p:nvCxnSpPr>
        <p:spPr>
          <a:xfrm>
            <a:off x="7252637" y="2557786"/>
            <a:ext cx="0" cy="2906162"/>
          </a:xfrm>
          <a:prstGeom prst="line">
            <a:avLst/>
          </a:prstGeom>
          <a:ln>
            <a:solidFill>
              <a:schemeClr val="accent1">
                <a:lumMod val="10000"/>
              </a:schemeClr>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32F78F6B-31D0-4562-8263-41740802A6B6}"/>
              </a:ext>
            </a:extLst>
          </p:cNvPr>
          <p:cNvSpPr/>
          <p:nvPr/>
        </p:nvSpPr>
        <p:spPr>
          <a:xfrm>
            <a:off x="7148422" y="5463948"/>
            <a:ext cx="208429" cy="172342"/>
          </a:xfrm>
          <a:prstGeom prst="ellipse">
            <a:avLst/>
          </a:prstGeom>
          <a:solidFill>
            <a:schemeClr val="accent1">
              <a:lumMod val="50000"/>
            </a:schemeClr>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43">
            <a:extLst>
              <a:ext uri="{FF2B5EF4-FFF2-40B4-BE49-F238E27FC236}">
                <a16:creationId xmlns:a16="http://schemas.microsoft.com/office/drawing/2014/main" id="{DF6D39DF-42B4-46C0-8FF9-DA12B8021310}"/>
              </a:ext>
            </a:extLst>
          </p:cNvPr>
          <p:cNvSpPr>
            <a:spLocks noGrp="1"/>
          </p:cNvSpPr>
          <p:nvPr>
            <p:ph type="sldNum" sz="quarter" idx="4"/>
          </p:nvPr>
        </p:nvSpPr>
        <p:spPr/>
        <p:txBody>
          <a:bodyPr/>
          <a:lstStyle/>
          <a:p>
            <a:fld id="{58FB4751-880F-D840-AAA9-3A15815CC996}" type="slidenum">
              <a:rPr lang="en-US" smtClean="0"/>
              <a:pPr/>
              <a:t>8</a:t>
            </a:fld>
            <a:endParaRPr lang="en-US" dirty="0"/>
          </a:p>
        </p:txBody>
      </p:sp>
      <p:sp>
        <p:nvSpPr>
          <p:cNvPr id="45" name="Oval 44">
            <a:extLst>
              <a:ext uri="{FF2B5EF4-FFF2-40B4-BE49-F238E27FC236}">
                <a16:creationId xmlns:a16="http://schemas.microsoft.com/office/drawing/2014/main" id="{544642C6-0043-4911-83B7-D342A9A2C7DD}"/>
              </a:ext>
            </a:extLst>
          </p:cNvPr>
          <p:cNvSpPr/>
          <p:nvPr/>
        </p:nvSpPr>
        <p:spPr>
          <a:xfrm>
            <a:off x="2167037" y="3136160"/>
            <a:ext cx="208429" cy="172342"/>
          </a:xfrm>
          <a:prstGeom prst="ellipse">
            <a:avLst/>
          </a:prstGeom>
          <a:solidFill>
            <a:schemeClr val="bg1">
              <a:lumMod val="95000"/>
            </a:schemeClr>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C800E038-2FE2-4984-AA76-60E6623EEE8C}"/>
              </a:ext>
            </a:extLst>
          </p:cNvPr>
          <p:cNvSpPr/>
          <p:nvPr/>
        </p:nvSpPr>
        <p:spPr>
          <a:xfrm>
            <a:off x="2167037" y="3878400"/>
            <a:ext cx="208429" cy="172342"/>
          </a:xfrm>
          <a:prstGeom prst="ellipse">
            <a:avLst/>
          </a:prstGeom>
          <a:solidFill>
            <a:schemeClr val="bg1">
              <a:lumMod val="95000"/>
            </a:schemeClr>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D41B980F-38E1-42DD-8F47-2B1774653013}"/>
              </a:ext>
            </a:extLst>
          </p:cNvPr>
          <p:cNvSpPr/>
          <p:nvPr/>
        </p:nvSpPr>
        <p:spPr>
          <a:xfrm>
            <a:off x="2167037" y="4671174"/>
            <a:ext cx="208429" cy="172342"/>
          </a:xfrm>
          <a:prstGeom prst="ellipse">
            <a:avLst/>
          </a:prstGeom>
          <a:solidFill>
            <a:schemeClr val="bg1">
              <a:lumMod val="95000"/>
            </a:schemeClr>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E05D2DF3-4185-4C84-8532-9CD4F7369C40}"/>
              </a:ext>
            </a:extLst>
          </p:cNvPr>
          <p:cNvSpPr/>
          <p:nvPr/>
        </p:nvSpPr>
        <p:spPr>
          <a:xfrm>
            <a:off x="7145059" y="3049989"/>
            <a:ext cx="208429" cy="172342"/>
          </a:xfrm>
          <a:prstGeom prst="ellipse">
            <a:avLst/>
          </a:prstGeom>
          <a:solidFill>
            <a:schemeClr val="bg1">
              <a:lumMod val="95000"/>
            </a:schemeClr>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23ED308A-B507-4753-B859-1F4C04E493F6}"/>
              </a:ext>
            </a:extLst>
          </p:cNvPr>
          <p:cNvSpPr/>
          <p:nvPr/>
        </p:nvSpPr>
        <p:spPr>
          <a:xfrm>
            <a:off x="7145058" y="4001317"/>
            <a:ext cx="208429" cy="172342"/>
          </a:xfrm>
          <a:prstGeom prst="ellipse">
            <a:avLst/>
          </a:prstGeom>
          <a:solidFill>
            <a:schemeClr val="bg1">
              <a:lumMod val="95000"/>
            </a:schemeClr>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B6DB05B6-1E12-4911-ABA5-F948E1F46712}"/>
              </a:ext>
            </a:extLst>
          </p:cNvPr>
          <p:cNvSpPr/>
          <p:nvPr/>
        </p:nvSpPr>
        <p:spPr>
          <a:xfrm>
            <a:off x="7145057" y="4845885"/>
            <a:ext cx="208429" cy="172342"/>
          </a:xfrm>
          <a:prstGeom prst="ellipse">
            <a:avLst/>
          </a:prstGeom>
          <a:solidFill>
            <a:schemeClr val="bg1">
              <a:lumMod val="95000"/>
            </a:schemeClr>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606CFC4-C4BB-4CEA-A8E4-9E7AC5C0F966}"/>
              </a:ext>
            </a:extLst>
          </p:cNvPr>
          <p:cNvSpPr txBox="1"/>
          <p:nvPr/>
        </p:nvSpPr>
        <p:spPr>
          <a:xfrm>
            <a:off x="3849577" y="1543575"/>
            <a:ext cx="4492846" cy="369332"/>
          </a:xfrm>
          <a:prstGeom prst="rect">
            <a:avLst/>
          </a:prstGeom>
          <a:noFill/>
          <a:ln>
            <a:solidFill>
              <a:schemeClr val="tx1"/>
            </a:solidFill>
          </a:ln>
        </p:spPr>
        <p:txBody>
          <a:bodyPr wrap="square" rtlCol="0" anchor="ctr">
            <a:spAutoFit/>
          </a:bodyPr>
          <a:lstStyle/>
          <a:p>
            <a:r>
              <a:rPr lang="en-US" dirty="0"/>
              <a:t>MOTIVATION FOR EFFICIENT ALGORITHM</a:t>
            </a:r>
          </a:p>
        </p:txBody>
      </p:sp>
    </p:spTree>
    <p:extLst>
      <p:ext uri="{BB962C8B-B14F-4D97-AF65-F5344CB8AC3E}">
        <p14:creationId xmlns:p14="http://schemas.microsoft.com/office/powerpoint/2010/main" val="2458774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BFF51E-109C-4B5C-8B81-F349A8793E55}"/>
              </a:ext>
            </a:extLst>
          </p:cNvPr>
          <p:cNvSpPr>
            <a:spLocks noGrp="1"/>
          </p:cNvSpPr>
          <p:nvPr>
            <p:ph type="sldNum" sz="quarter" idx="4"/>
          </p:nvPr>
        </p:nvSpPr>
        <p:spPr/>
        <p:txBody>
          <a:bodyPr/>
          <a:lstStyle/>
          <a:p>
            <a:fld id="{58FB4751-880F-D840-AAA9-3A15815CC996}" type="slidenum">
              <a:rPr lang="en-US" smtClean="0"/>
              <a:pPr/>
              <a:t>9</a:t>
            </a:fld>
            <a:endParaRPr lang="en-US" dirty="0"/>
          </a:p>
        </p:txBody>
      </p:sp>
      <p:sp>
        <p:nvSpPr>
          <p:cNvPr id="3" name="TextBox 2">
            <a:extLst>
              <a:ext uri="{FF2B5EF4-FFF2-40B4-BE49-F238E27FC236}">
                <a16:creationId xmlns:a16="http://schemas.microsoft.com/office/drawing/2014/main" id="{1C9529BB-A666-4B6C-8EB9-7FEC88463A95}"/>
              </a:ext>
            </a:extLst>
          </p:cNvPr>
          <p:cNvSpPr txBox="1"/>
          <p:nvPr/>
        </p:nvSpPr>
        <p:spPr>
          <a:xfrm>
            <a:off x="640976" y="510989"/>
            <a:ext cx="10910048" cy="5909310"/>
          </a:xfrm>
          <a:prstGeom prst="rect">
            <a:avLst/>
          </a:prstGeom>
          <a:noFill/>
        </p:spPr>
        <p:txBody>
          <a:bodyPr wrap="square" rtlCol="0">
            <a:spAutoFit/>
          </a:bodyPr>
          <a:lstStyle/>
          <a:p>
            <a:pPr marL="342900" indent="-342900">
              <a:buFont typeface="Wingdings" panose="05000000000000000000" pitchFamily="2" charset="2"/>
              <a:buChar char="q"/>
            </a:pPr>
            <a:r>
              <a:rPr lang="en-US" b="1" u="sng" dirty="0"/>
              <a:t>Handling Large Datasets</a:t>
            </a:r>
          </a:p>
          <a:p>
            <a:r>
              <a:rPr lang="en-US" dirty="0"/>
              <a:t>As the size of the dataset increases, algorithms with higher time complexities (like O(n log n) or O(n^2)) can become very slow, making it impractical to process large data within a reasonable time frame. Expected linear time (O(n)) ensures that even for large datasets, the algorithm can process the data quickly.</a:t>
            </a:r>
          </a:p>
          <a:p>
            <a:pPr marL="285750" indent="-285750">
              <a:buFont typeface="Wingdings" panose="05000000000000000000" pitchFamily="2" charset="2"/>
              <a:buChar char="q"/>
            </a:pPr>
            <a:r>
              <a:rPr lang="en-US" b="1" u="sng" dirty="0"/>
              <a:t>Efficiency in Real-Time Applications</a:t>
            </a:r>
          </a:p>
          <a:p>
            <a:r>
              <a:rPr lang="en-US" dirty="0"/>
              <a:t>For real-time systems or applications with time constraints, an algorithm that runs in linear time can be crucial. For instance, in data streaming or online data analysis, where processing speed is critical, algorithms with expected O(n) time are highly valuable.</a:t>
            </a:r>
          </a:p>
          <a:p>
            <a:pPr marL="285750" indent="-285750">
              <a:buFont typeface="Wingdings" panose="05000000000000000000" pitchFamily="2" charset="2"/>
              <a:buChar char="q"/>
            </a:pPr>
            <a:r>
              <a:rPr lang="en-US" b="1" u="sng" dirty="0"/>
              <a:t>Scalability</a:t>
            </a:r>
          </a:p>
          <a:p>
            <a:r>
              <a:rPr lang="en-US" dirty="0"/>
              <a:t>Expected linear time allows the algorithm to scale with the size of the input. As the input grows, the time complexity grows linearly</a:t>
            </a:r>
          </a:p>
          <a:p>
            <a:pPr marL="285750" indent="-285750">
              <a:buFont typeface="Wingdings" panose="05000000000000000000" pitchFamily="2" charset="2"/>
              <a:buChar char="q"/>
            </a:pPr>
            <a:r>
              <a:rPr lang="en-US" b="1" u="sng" dirty="0"/>
              <a:t>Optimal Use of Resources</a:t>
            </a:r>
          </a:p>
          <a:p>
            <a:r>
              <a:rPr lang="en-US" dirty="0"/>
              <a:t>By achieving linear time on average, the algorithm is efficient in terms of CPU usage and memory, which is important in resource-constrained environments like mobile devices or embedded systems.</a:t>
            </a:r>
          </a:p>
          <a:p>
            <a:pPr marL="285750" indent="-285750">
              <a:buFont typeface="Wingdings" panose="05000000000000000000" pitchFamily="2" charset="2"/>
              <a:buChar char="q"/>
            </a:pPr>
            <a:r>
              <a:rPr lang="en-US" b="1" u="sng" dirty="0"/>
              <a:t>Comparison with Other Algorithm</a:t>
            </a:r>
          </a:p>
          <a:p>
            <a:r>
              <a:rPr lang="en-US" dirty="0"/>
              <a:t>Many classical algorithms (e.g., sorting algorithms like </a:t>
            </a:r>
            <a:r>
              <a:rPr lang="en-US" dirty="0" err="1"/>
              <a:t>MergeSort</a:t>
            </a:r>
            <a:r>
              <a:rPr lang="en-US" dirty="0"/>
              <a:t> and </a:t>
            </a:r>
            <a:r>
              <a:rPr lang="en-US" dirty="0" err="1"/>
              <a:t>QuickSort</a:t>
            </a:r>
            <a:r>
              <a:rPr lang="en-US" dirty="0"/>
              <a:t>) have O(n log n) time complexity, which makes them less efficient than linear time algorithms when processing massive amounts of data.</a:t>
            </a:r>
          </a:p>
          <a:p>
            <a:pPr marL="285750" indent="-285750">
              <a:buFont typeface="Wingdings" panose="05000000000000000000" pitchFamily="2" charset="2"/>
              <a:buChar char="q"/>
            </a:pPr>
            <a:r>
              <a:rPr lang="en-US" b="1" u="sng" dirty="0"/>
              <a:t>Practical Applications</a:t>
            </a:r>
          </a:p>
          <a:p>
            <a:r>
              <a:rPr lang="en-US" dirty="0"/>
              <a:t>Many real-world applications, such as </a:t>
            </a:r>
            <a:r>
              <a:rPr lang="en-US" u="sng" dirty="0"/>
              <a:t>database queries</a:t>
            </a:r>
            <a:r>
              <a:rPr lang="en-US" dirty="0"/>
              <a:t>, </a:t>
            </a:r>
            <a:r>
              <a:rPr lang="en-US" u="sng" dirty="0"/>
              <a:t>image processing</a:t>
            </a:r>
            <a:r>
              <a:rPr lang="en-US" dirty="0"/>
              <a:t>, </a:t>
            </a:r>
            <a:r>
              <a:rPr lang="en-US" u="sng" dirty="0"/>
              <a:t>network routing</a:t>
            </a:r>
            <a:r>
              <a:rPr lang="en-US" dirty="0"/>
              <a:t>, and </a:t>
            </a:r>
            <a:r>
              <a:rPr lang="en-US" u="sng" dirty="0"/>
              <a:t>machine learning</a:t>
            </a:r>
            <a:r>
              <a:rPr lang="en-US" dirty="0"/>
              <a:t>, require the ability to process large amounts of data in an optimal time frame. Expected linear time helps in ensuring these tasks can be completed efficiently.</a:t>
            </a:r>
            <a:endParaRPr lang="en-US" b="1" u="sng" dirty="0"/>
          </a:p>
        </p:txBody>
      </p:sp>
    </p:spTree>
    <p:extLst>
      <p:ext uri="{BB962C8B-B14F-4D97-AF65-F5344CB8AC3E}">
        <p14:creationId xmlns:p14="http://schemas.microsoft.com/office/powerpoint/2010/main" val="1468466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CA640D-9566-4BD8-84AF-EE7D9C04CA81}"/>
              </a:ext>
            </a:extLst>
          </p:cNvPr>
          <p:cNvSpPr>
            <a:spLocks noGrp="1"/>
          </p:cNvSpPr>
          <p:nvPr>
            <p:ph type="title"/>
          </p:nvPr>
        </p:nvSpPr>
        <p:spPr>
          <a:xfrm>
            <a:off x="926756" y="914401"/>
            <a:ext cx="10347795" cy="877330"/>
          </a:xfrm>
        </p:spPr>
        <p:txBody>
          <a:bodyPr/>
          <a:lstStyle/>
          <a:p>
            <a:r>
              <a:rPr lang="en-US" sz="3600" dirty="0"/>
              <a:t>PROBLEM STATEMENT &amp; CONSTRAINTS</a:t>
            </a:r>
          </a:p>
        </p:txBody>
      </p:sp>
      <p:sp>
        <p:nvSpPr>
          <p:cNvPr id="2" name="Slide Number Placeholder 1">
            <a:extLst>
              <a:ext uri="{FF2B5EF4-FFF2-40B4-BE49-F238E27FC236}">
                <a16:creationId xmlns:a16="http://schemas.microsoft.com/office/drawing/2014/main" id="{9C69A6D0-8E00-4F4F-96AB-3D3DA13B205E}"/>
              </a:ext>
            </a:extLst>
          </p:cNvPr>
          <p:cNvSpPr>
            <a:spLocks noGrp="1"/>
          </p:cNvSpPr>
          <p:nvPr>
            <p:ph type="sldNum" sz="quarter" idx="4294967295"/>
          </p:nvPr>
        </p:nvSpPr>
        <p:spPr>
          <a:xfrm>
            <a:off x="11530013" y="5880100"/>
            <a:ext cx="661987" cy="895350"/>
          </a:xfrm>
        </p:spPr>
        <p:txBody>
          <a:bodyPr/>
          <a:lstStyle/>
          <a:p>
            <a:fld id="{58FB4751-880F-D840-AAA9-3A15815CC996}" type="slidenum">
              <a:rPr lang="en-US" smtClean="0"/>
              <a:pPr/>
              <a:t>10</a:t>
            </a:fld>
            <a:endParaRPr lang="en-US" dirty="0"/>
          </a:p>
        </p:txBody>
      </p:sp>
      <p:sp>
        <p:nvSpPr>
          <p:cNvPr id="7" name="TextBox 6">
            <a:extLst>
              <a:ext uri="{FF2B5EF4-FFF2-40B4-BE49-F238E27FC236}">
                <a16:creationId xmlns:a16="http://schemas.microsoft.com/office/drawing/2014/main" id="{17A0A7D2-0C17-45E4-99DF-D58D2E8206E4}"/>
              </a:ext>
            </a:extLst>
          </p:cNvPr>
          <p:cNvSpPr txBox="1"/>
          <p:nvPr/>
        </p:nvSpPr>
        <p:spPr>
          <a:xfrm>
            <a:off x="1606378" y="2384854"/>
            <a:ext cx="8958649" cy="2062103"/>
          </a:xfrm>
          <a:prstGeom prst="rect">
            <a:avLst/>
          </a:prstGeom>
          <a:noFill/>
        </p:spPr>
        <p:txBody>
          <a:bodyPr wrap="square" rtlCol="0">
            <a:spAutoFit/>
          </a:bodyPr>
          <a:lstStyle/>
          <a:p>
            <a:pPr marL="342900" indent="-342900">
              <a:buFont typeface="Wingdings" panose="05000000000000000000" pitchFamily="2" charset="2"/>
              <a:buChar char="Ø"/>
            </a:pPr>
            <a:r>
              <a:rPr lang="en-US" sz="3200" dirty="0"/>
              <a:t>Finding Median in a Set(array)</a:t>
            </a:r>
          </a:p>
          <a:p>
            <a:pPr marL="342900" indent="-342900">
              <a:buFont typeface="Wingdings" panose="05000000000000000000" pitchFamily="2" charset="2"/>
              <a:buChar char="Ø"/>
            </a:pPr>
            <a:r>
              <a:rPr lang="en-US" sz="3200" dirty="0"/>
              <a:t>The Array will be Unsorted</a:t>
            </a:r>
          </a:p>
          <a:p>
            <a:pPr marL="342900" indent="-342900">
              <a:buFont typeface="Wingdings" panose="05000000000000000000" pitchFamily="2" charset="2"/>
              <a:buChar char="Ø"/>
            </a:pPr>
            <a:r>
              <a:rPr lang="en-US" sz="3200" dirty="0"/>
              <a:t>Use Divide &amp; Conquer strategy </a:t>
            </a:r>
          </a:p>
          <a:p>
            <a:pPr marL="342900" indent="-342900">
              <a:buFont typeface="Wingdings" panose="05000000000000000000" pitchFamily="2" charset="2"/>
              <a:buChar char="Ø"/>
            </a:pPr>
            <a:r>
              <a:rPr lang="en-US" sz="3200" dirty="0"/>
              <a:t>Find median or k-</a:t>
            </a:r>
            <a:r>
              <a:rPr lang="en-US" sz="3200" dirty="0" err="1"/>
              <a:t>th</a:t>
            </a:r>
            <a:r>
              <a:rPr lang="en-US" sz="3200" dirty="0"/>
              <a:t> smallest in Linear Time( O(n) )</a:t>
            </a:r>
          </a:p>
        </p:txBody>
      </p:sp>
    </p:spTree>
    <p:extLst>
      <p:ext uri="{BB962C8B-B14F-4D97-AF65-F5344CB8AC3E}">
        <p14:creationId xmlns:p14="http://schemas.microsoft.com/office/powerpoint/2010/main" val="3495597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5827205" y="914400"/>
            <a:ext cx="5449824" cy="3538728"/>
          </a:xfrm>
        </p:spPr>
        <p:txBody>
          <a:bodyPr anchor="b"/>
          <a:lstStyle/>
          <a:p>
            <a:r>
              <a:rPr lang="en-US" dirty="0"/>
              <a:t>Divide &amp; Conquer</a:t>
            </a:r>
          </a:p>
        </p:txBody>
      </p:sp>
      <p:sp>
        <p:nvSpPr>
          <p:cNvPr id="11" name="Content Placeholder 10">
            <a:extLst>
              <a:ext uri="{FF2B5EF4-FFF2-40B4-BE49-F238E27FC236}">
                <a16:creationId xmlns:a16="http://schemas.microsoft.com/office/drawing/2014/main" id="{000EBDF4-3413-FCF9-2E25-9A254A61F23E}"/>
              </a:ext>
            </a:extLst>
          </p:cNvPr>
          <p:cNvSpPr>
            <a:spLocks noGrp="1"/>
          </p:cNvSpPr>
          <p:nvPr>
            <p:ph idx="10"/>
          </p:nvPr>
        </p:nvSpPr>
        <p:spPr>
          <a:xfrm>
            <a:off x="5827204" y="4681728"/>
            <a:ext cx="5449824" cy="1280160"/>
          </a:xfrm>
        </p:spPr>
        <p:txBody>
          <a:bodyPr/>
          <a:lstStyle/>
          <a:p>
            <a:r>
              <a:rPr lang="en-US" dirty="0">
                <a:solidFill>
                  <a:srgbClr val="202122"/>
                </a:solidFill>
              </a:rPr>
              <a:t>“the reprobated axiom of tyranny” </a:t>
            </a:r>
            <a:r>
              <a:rPr lang="en-US" sz="1600" i="1" dirty="0">
                <a:solidFill>
                  <a:srgbClr val="202122"/>
                </a:solidFill>
              </a:rPr>
              <a:t>sir </a:t>
            </a:r>
            <a:r>
              <a:rPr lang="en-US" sz="1600" i="1" dirty="0" err="1">
                <a:solidFill>
                  <a:srgbClr val="202122"/>
                </a:solidFill>
              </a:rPr>
              <a:t>francis</a:t>
            </a:r>
            <a:r>
              <a:rPr lang="en-US" sz="1600" i="1" dirty="0">
                <a:solidFill>
                  <a:srgbClr val="202122"/>
                </a:solidFill>
              </a:rPr>
              <a:t> bacon</a:t>
            </a:r>
            <a:endParaRPr lang="en-US" dirty="0"/>
          </a:p>
        </p:txBody>
      </p:sp>
      <p:pic>
        <p:nvPicPr>
          <p:cNvPr id="12" name="Picture Placeholder 11">
            <a:extLst>
              <a:ext uri="{FF2B5EF4-FFF2-40B4-BE49-F238E27FC236}">
                <a16:creationId xmlns:a16="http://schemas.microsoft.com/office/drawing/2014/main" id="{A120E6F1-0836-4840-94F1-115D1792EA1A}"/>
              </a:ext>
            </a:extLst>
          </p:cNvPr>
          <p:cNvPicPr>
            <a:picLocks noGrp="1" noChangeAspect="1"/>
          </p:cNvPicPr>
          <p:nvPr>
            <p:ph type="pic" sz="quarter" idx="11"/>
          </p:nvPr>
        </p:nvPicPr>
        <p:blipFill rotWithShape="1">
          <a:blip r:embed="rId3"/>
          <a:srcRect l="5875" t="-7205" r="-1021" b="5453"/>
          <a:stretch/>
        </p:blipFill>
        <p:spPr>
          <a:xfrm>
            <a:off x="-1" y="-492369"/>
            <a:ext cx="5046134" cy="7350369"/>
          </a:xfrm>
        </p:spPr>
      </p:pic>
    </p:spTree>
    <p:extLst>
      <p:ext uri="{BB962C8B-B14F-4D97-AF65-F5344CB8AC3E}">
        <p14:creationId xmlns:p14="http://schemas.microsoft.com/office/powerpoint/2010/main" val="520000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99FEF8F1-1D2D-4889-A0B5-6B188DA59CFC}"/>
              </a:ext>
            </a:extLst>
          </p:cNvPr>
          <p:cNvPicPr>
            <a:picLocks noGrp="1" noChangeAspect="1"/>
          </p:cNvPicPr>
          <p:nvPr>
            <p:ph type="pic" idx="1"/>
          </p:nvPr>
        </p:nvPicPr>
        <p:blipFill rotWithShape="1">
          <a:blip r:embed="rId2"/>
          <a:srcRect l="57" r="8786" b="-5635"/>
          <a:stretch/>
        </p:blipFill>
        <p:spPr>
          <a:xfrm>
            <a:off x="6523892" y="0"/>
            <a:ext cx="5668108" cy="685800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
        <p:nvSpPr>
          <p:cNvPr id="9" name="TextBox 8">
            <a:extLst>
              <a:ext uri="{FF2B5EF4-FFF2-40B4-BE49-F238E27FC236}">
                <a16:creationId xmlns:a16="http://schemas.microsoft.com/office/drawing/2014/main" id="{53241B8D-E08D-42C1-AAA4-FCBE0C615C39}"/>
              </a:ext>
            </a:extLst>
          </p:cNvPr>
          <p:cNvSpPr txBox="1"/>
          <p:nvPr/>
        </p:nvSpPr>
        <p:spPr>
          <a:xfrm>
            <a:off x="494270" y="790978"/>
            <a:ext cx="5601730" cy="461665"/>
          </a:xfrm>
          <a:prstGeom prst="rect">
            <a:avLst/>
          </a:prstGeom>
          <a:noFill/>
        </p:spPr>
        <p:txBody>
          <a:bodyPr wrap="square" rtlCol="0">
            <a:spAutoFit/>
          </a:bodyPr>
          <a:lstStyle/>
          <a:p>
            <a:r>
              <a:rPr lang="en-US" sz="2400" dirty="0"/>
              <a:t>Working of D&amp;C algorithm</a:t>
            </a:r>
          </a:p>
        </p:txBody>
      </p:sp>
      <p:sp>
        <p:nvSpPr>
          <p:cNvPr id="11" name="TextBox 10">
            <a:extLst>
              <a:ext uri="{FF2B5EF4-FFF2-40B4-BE49-F238E27FC236}">
                <a16:creationId xmlns:a16="http://schemas.microsoft.com/office/drawing/2014/main" id="{FAFFD720-60E2-41BE-A300-9BAE9087302F}"/>
              </a:ext>
            </a:extLst>
          </p:cNvPr>
          <p:cNvSpPr txBox="1"/>
          <p:nvPr/>
        </p:nvSpPr>
        <p:spPr>
          <a:xfrm>
            <a:off x="494270" y="1643449"/>
            <a:ext cx="5601730" cy="4616648"/>
          </a:xfrm>
          <a:prstGeom prst="rect">
            <a:avLst/>
          </a:prstGeom>
          <a:noFill/>
        </p:spPr>
        <p:txBody>
          <a:bodyPr wrap="square" rtlCol="0">
            <a:spAutoFit/>
          </a:bodyPr>
          <a:lstStyle/>
          <a:p>
            <a:pPr marL="285750" indent="-285750">
              <a:buFont typeface="Wingdings" panose="05000000000000000000" pitchFamily="2" charset="2"/>
              <a:buChar char="q"/>
            </a:pPr>
            <a:r>
              <a:rPr lang="en-US" dirty="0"/>
              <a:t>DIVIDE</a:t>
            </a:r>
          </a:p>
          <a:p>
            <a:pPr marL="742950" lvl="1" indent="-285750">
              <a:buFont typeface="Arial" panose="020B0604020202020204" pitchFamily="34" charset="0"/>
              <a:buChar char="•"/>
            </a:pPr>
            <a:r>
              <a:rPr lang="en-US" sz="1600" dirty="0"/>
              <a:t>Break down the original problem into smaller subproblems</a:t>
            </a:r>
          </a:p>
          <a:p>
            <a:pPr marL="742950" lvl="1" indent="-285750">
              <a:buFont typeface="Arial" panose="020B0604020202020204" pitchFamily="34" charset="0"/>
              <a:buChar char="•"/>
            </a:pPr>
            <a:r>
              <a:rPr lang="en-US" sz="1600" dirty="0"/>
              <a:t>Each subproblem should represent a part of the overall problem.</a:t>
            </a:r>
          </a:p>
          <a:p>
            <a:pPr marL="742950" lvl="1" indent="-285750">
              <a:buFont typeface="Arial" panose="020B0604020202020204" pitchFamily="34" charset="0"/>
              <a:buChar char="•"/>
            </a:pPr>
            <a:r>
              <a:rPr lang="en-US" sz="1600" dirty="0"/>
              <a:t>The goal is to divide the problem until no further division is possible</a:t>
            </a:r>
          </a:p>
          <a:p>
            <a:pPr marL="285750" indent="-285750">
              <a:buFont typeface="Wingdings" panose="05000000000000000000" pitchFamily="2" charset="2"/>
              <a:buChar char="q"/>
            </a:pPr>
            <a:r>
              <a:rPr lang="en-US" dirty="0"/>
              <a:t>CONQUER</a:t>
            </a:r>
          </a:p>
          <a:p>
            <a:pPr marL="742950" lvl="1" indent="-285750">
              <a:buFont typeface="Arial" panose="020B0604020202020204" pitchFamily="34" charset="0"/>
              <a:buChar char="•"/>
            </a:pPr>
            <a:r>
              <a:rPr lang="en-US" sz="1600" dirty="0"/>
              <a:t>Solve each of the smaller subproblems individually </a:t>
            </a:r>
          </a:p>
          <a:p>
            <a:pPr marL="742950" lvl="1" indent="-285750">
              <a:buFont typeface="Arial" panose="020B0604020202020204" pitchFamily="34" charset="0"/>
              <a:buChar char="•"/>
            </a:pPr>
            <a:r>
              <a:rPr lang="en-US" sz="1600" dirty="0"/>
              <a:t>If a subproblem is small enough(base case), we solve it directly without further recursion</a:t>
            </a:r>
          </a:p>
          <a:p>
            <a:pPr marL="742950" lvl="1" indent="-285750">
              <a:buFont typeface="Arial" panose="020B0604020202020204" pitchFamily="34" charset="0"/>
              <a:buChar char="•"/>
            </a:pPr>
            <a:r>
              <a:rPr lang="en-US" sz="1600" dirty="0"/>
              <a:t>The goal is to find solutions for these subproblems independently</a:t>
            </a:r>
          </a:p>
          <a:p>
            <a:pPr marL="285750" indent="-285750">
              <a:buFont typeface="Wingdings" panose="05000000000000000000" pitchFamily="2" charset="2"/>
              <a:buChar char="q"/>
            </a:pPr>
            <a:r>
              <a:rPr lang="en-US" dirty="0"/>
              <a:t>MERGE</a:t>
            </a:r>
          </a:p>
          <a:p>
            <a:pPr marL="742950" lvl="1" indent="-285750">
              <a:buFont typeface="Arial" panose="020B0604020202020204" pitchFamily="34" charset="0"/>
              <a:buChar char="•"/>
            </a:pPr>
            <a:r>
              <a:rPr lang="en-US" sz="1600" dirty="0"/>
              <a:t>Combine the sub-problems to get the final solution of the whole problem</a:t>
            </a:r>
          </a:p>
          <a:p>
            <a:pPr marL="742950" lvl="1" indent="-285750">
              <a:buFont typeface="Arial" panose="020B0604020202020204" pitchFamily="34" charset="0"/>
              <a:buChar char="•"/>
            </a:pPr>
            <a:r>
              <a:rPr lang="en-US" sz="1600" dirty="0"/>
              <a:t>Once the smaller subproblems are solved, we recursively combine their solutions to get the solution of larger problem</a:t>
            </a:r>
          </a:p>
        </p:txBody>
      </p:sp>
    </p:spTree>
    <p:extLst>
      <p:ext uri="{BB962C8B-B14F-4D97-AF65-F5344CB8AC3E}">
        <p14:creationId xmlns:p14="http://schemas.microsoft.com/office/powerpoint/2010/main" val="1967495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6B3055-54A0-4132-83DB-4109A9EB6EB1}"/>
              </a:ext>
            </a:extLst>
          </p:cNvPr>
          <p:cNvSpPr txBox="1"/>
          <p:nvPr/>
        </p:nvSpPr>
        <p:spPr>
          <a:xfrm>
            <a:off x="531340" y="593123"/>
            <a:ext cx="5103341" cy="461665"/>
          </a:xfrm>
          <a:prstGeom prst="rect">
            <a:avLst/>
          </a:prstGeom>
          <a:noFill/>
        </p:spPr>
        <p:txBody>
          <a:bodyPr wrap="square" rtlCol="0">
            <a:spAutoFit/>
          </a:bodyPr>
          <a:lstStyle/>
          <a:p>
            <a:r>
              <a:rPr lang="en-US" sz="2400" dirty="0"/>
              <a:t>DIVIDE &amp; CONQUER: Example</a:t>
            </a:r>
          </a:p>
        </p:txBody>
      </p:sp>
      <p:sp>
        <p:nvSpPr>
          <p:cNvPr id="5" name="TextBox 4">
            <a:extLst>
              <a:ext uri="{FF2B5EF4-FFF2-40B4-BE49-F238E27FC236}">
                <a16:creationId xmlns:a16="http://schemas.microsoft.com/office/drawing/2014/main" id="{EA6B53F0-D726-4081-A6C9-318F30F977E3}"/>
              </a:ext>
            </a:extLst>
          </p:cNvPr>
          <p:cNvSpPr txBox="1"/>
          <p:nvPr/>
        </p:nvSpPr>
        <p:spPr>
          <a:xfrm>
            <a:off x="679622" y="1531551"/>
            <a:ext cx="2582563" cy="369332"/>
          </a:xfrm>
          <a:prstGeom prst="rect">
            <a:avLst/>
          </a:prstGeom>
          <a:noFill/>
        </p:spPr>
        <p:txBody>
          <a:bodyPr wrap="square" rtlCol="0">
            <a:spAutoFit/>
          </a:bodyPr>
          <a:lstStyle/>
          <a:p>
            <a:r>
              <a:rPr lang="en-US" dirty="0"/>
              <a:t>Let the given array be:</a:t>
            </a:r>
          </a:p>
        </p:txBody>
      </p:sp>
      <p:pic>
        <p:nvPicPr>
          <p:cNvPr id="7" name="Picture 6">
            <a:extLst>
              <a:ext uri="{FF2B5EF4-FFF2-40B4-BE49-F238E27FC236}">
                <a16:creationId xmlns:a16="http://schemas.microsoft.com/office/drawing/2014/main" id="{03FC20F5-29AC-4144-A2AE-F69D7CC44821}"/>
              </a:ext>
            </a:extLst>
          </p:cNvPr>
          <p:cNvPicPr>
            <a:picLocks noChangeAspect="1"/>
          </p:cNvPicPr>
          <p:nvPr/>
        </p:nvPicPr>
        <p:blipFill>
          <a:blip r:embed="rId2"/>
          <a:stretch>
            <a:fillRect/>
          </a:stretch>
        </p:blipFill>
        <p:spPr>
          <a:xfrm>
            <a:off x="679623" y="1994988"/>
            <a:ext cx="3756454" cy="1452997"/>
          </a:xfrm>
          <a:prstGeom prst="rect">
            <a:avLst/>
          </a:prstGeom>
        </p:spPr>
      </p:pic>
      <p:sp>
        <p:nvSpPr>
          <p:cNvPr id="8" name="TextBox 7">
            <a:extLst>
              <a:ext uri="{FF2B5EF4-FFF2-40B4-BE49-F238E27FC236}">
                <a16:creationId xmlns:a16="http://schemas.microsoft.com/office/drawing/2014/main" id="{204DB82C-F607-478F-B64A-D1E062560D48}"/>
              </a:ext>
            </a:extLst>
          </p:cNvPr>
          <p:cNvSpPr txBox="1"/>
          <p:nvPr/>
        </p:nvSpPr>
        <p:spPr>
          <a:xfrm>
            <a:off x="679622" y="3726756"/>
            <a:ext cx="3373394" cy="369332"/>
          </a:xfrm>
          <a:prstGeom prst="rect">
            <a:avLst/>
          </a:prstGeom>
          <a:noFill/>
        </p:spPr>
        <p:txBody>
          <a:bodyPr wrap="square" rtlCol="0">
            <a:spAutoFit/>
          </a:bodyPr>
          <a:lstStyle/>
          <a:p>
            <a:r>
              <a:rPr lang="en-US" dirty="0"/>
              <a:t>Divide the array into two halves:</a:t>
            </a:r>
          </a:p>
        </p:txBody>
      </p:sp>
      <p:pic>
        <p:nvPicPr>
          <p:cNvPr id="10" name="Picture 9">
            <a:extLst>
              <a:ext uri="{FF2B5EF4-FFF2-40B4-BE49-F238E27FC236}">
                <a16:creationId xmlns:a16="http://schemas.microsoft.com/office/drawing/2014/main" id="{A9BE51A4-D7C7-4F1C-A5AB-DA64EEB0A25C}"/>
              </a:ext>
            </a:extLst>
          </p:cNvPr>
          <p:cNvPicPr>
            <a:picLocks noChangeAspect="1"/>
          </p:cNvPicPr>
          <p:nvPr/>
        </p:nvPicPr>
        <p:blipFill>
          <a:blip r:embed="rId3"/>
          <a:stretch>
            <a:fillRect/>
          </a:stretch>
        </p:blipFill>
        <p:spPr>
          <a:xfrm>
            <a:off x="679622" y="4176586"/>
            <a:ext cx="3756454" cy="1976447"/>
          </a:xfrm>
          <a:prstGeom prst="rect">
            <a:avLst/>
          </a:prstGeom>
        </p:spPr>
      </p:pic>
      <p:sp>
        <p:nvSpPr>
          <p:cNvPr id="11" name="TextBox 10">
            <a:extLst>
              <a:ext uri="{FF2B5EF4-FFF2-40B4-BE49-F238E27FC236}">
                <a16:creationId xmlns:a16="http://schemas.microsoft.com/office/drawing/2014/main" id="{56C751AD-066D-4D55-BB3F-45E6DB762065}"/>
              </a:ext>
            </a:extLst>
          </p:cNvPr>
          <p:cNvSpPr txBox="1"/>
          <p:nvPr/>
        </p:nvSpPr>
        <p:spPr>
          <a:xfrm>
            <a:off x="5359756" y="1531551"/>
            <a:ext cx="2453479" cy="1200329"/>
          </a:xfrm>
          <a:prstGeom prst="rect">
            <a:avLst/>
          </a:prstGeom>
          <a:noFill/>
        </p:spPr>
        <p:txBody>
          <a:bodyPr wrap="square" rtlCol="0">
            <a:spAutoFit/>
          </a:bodyPr>
          <a:lstStyle/>
          <a:p>
            <a:pPr algn="r"/>
            <a:r>
              <a:rPr lang="en-US" dirty="0"/>
              <a:t>Again, divide each subpart recursively into two halves until we get individual elements</a:t>
            </a:r>
          </a:p>
        </p:txBody>
      </p:sp>
      <p:pic>
        <p:nvPicPr>
          <p:cNvPr id="13" name="Picture 12">
            <a:extLst>
              <a:ext uri="{FF2B5EF4-FFF2-40B4-BE49-F238E27FC236}">
                <a16:creationId xmlns:a16="http://schemas.microsoft.com/office/drawing/2014/main" id="{747A8147-6969-4CB5-B548-519F66460DE2}"/>
              </a:ext>
            </a:extLst>
          </p:cNvPr>
          <p:cNvPicPr>
            <a:picLocks noChangeAspect="1"/>
          </p:cNvPicPr>
          <p:nvPr/>
        </p:nvPicPr>
        <p:blipFill>
          <a:blip r:embed="rId4"/>
          <a:stretch>
            <a:fillRect/>
          </a:stretch>
        </p:blipFill>
        <p:spPr>
          <a:xfrm>
            <a:off x="7953275" y="1327545"/>
            <a:ext cx="3559103" cy="2101455"/>
          </a:xfrm>
          <a:prstGeom prst="rect">
            <a:avLst/>
          </a:prstGeom>
        </p:spPr>
      </p:pic>
      <p:pic>
        <p:nvPicPr>
          <p:cNvPr id="15" name="Picture 14">
            <a:extLst>
              <a:ext uri="{FF2B5EF4-FFF2-40B4-BE49-F238E27FC236}">
                <a16:creationId xmlns:a16="http://schemas.microsoft.com/office/drawing/2014/main" id="{0506062D-5C80-4AFA-BD5F-5F59E2DE1738}"/>
              </a:ext>
            </a:extLst>
          </p:cNvPr>
          <p:cNvPicPr>
            <a:picLocks noChangeAspect="1"/>
          </p:cNvPicPr>
          <p:nvPr/>
        </p:nvPicPr>
        <p:blipFill>
          <a:blip r:embed="rId5"/>
          <a:stretch>
            <a:fillRect/>
          </a:stretch>
        </p:blipFill>
        <p:spPr>
          <a:xfrm>
            <a:off x="5359756" y="3866912"/>
            <a:ext cx="3201390" cy="2286121"/>
          </a:xfrm>
          <a:prstGeom prst="rect">
            <a:avLst/>
          </a:prstGeom>
        </p:spPr>
      </p:pic>
      <p:sp>
        <p:nvSpPr>
          <p:cNvPr id="16" name="TextBox 15">
            <a:extLst>
              <a:ext uri="{FF2B5EF4-FFF2-40B4-BE49-F238E27FC236}">
                <a16:creationId xmlns:a16="http://schemas.microsoft.com/office/drawing/2014/main" id="{1C1A7FCC-1B9C-4434-9E30-274CE645BD58}"/>
              </a:ext>
            </a:extLst>
          </p:cNvPr>
          <p:cNvSpPr txBox="1"/>
          <p:nvPr/>
        </p:nvSpPr>
        <p:spPr>
          <a:xfrm>
            <a:off x="8693994" y="3866912"/>
            <a:ext cx="2347783" cy="1477328"/>
          </a:xfrm>
          <a:prstGeom prst="rect">
            <a:avLst/>
          </a:prstGeom>
          <a:noFill/>
        </p:spPr>
        <p:txBody>
          <a:bodyPr wrap="square" rtlCol="0">
            <a:spAutoFit/>
          </a:bodyPr>
          <a:lstStyle/>
          <a:p>
            <a:r>
              <a:rPr lang="en-US" dirty="0"/>
              <a:t>Now, combine the individual elements in a sorted manner. Here conquer and combine steps go side by side</a:t>
            </a:r>
          </a:p>
        </p:txBody>
      </p:sp>
      <p:sp>
        <p:nvSpPr>
          <p:cNvPr id="2" name="Slide Number Placeholder 1">
            <a:extLst>
              <a:ext uri="{FF2B5EF4-FFF2-40B4-BE49-F238E27FC236}">
                <a16:creationId xmlns:a16="http://schemas.microsoft.com/office/drawing/2014/main" id="{5601C39C-F632-4656-AD7D-A0CC736B5179}"/>
              </a:ext>
            </a:extLst>
          </p:cNvPr>
          <p:cNvSpPr>
            <a:spLocks noGrp="1"/>
          </p:cNvSpPr>
          <p:nvPr>
            <p:ph type="sldNum" sz="quarter" idx="4"/>
          </p:nvPr>
        </p:nvSpPr>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4292659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4400" y="914400"/>
            <a:ext cx="10360152" cy="2843784"/>
          </a:xfrm>
        </p:spPr>
        <p:txBody>
          <a:bodyPr anchor="b"/>
          <a:lstStyle/>
          <a:p>
            <a:r>
              <a:rPr lang="en-US" dirty="0"/>
              <a:t>Quick Select Algorithm</a:t>
            </a:r>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2041114" y="3825875"/>
            <a:ext cx="8109772" cy="2644775"/>
          </a:xfrm>
        </p:spPr>
        <p:txBody>
          <a:bodyPr/>
          <a:lstStyle/>
          <a:p>
            <a:r>
              <a:rPr lang="en-US" dirty="0"/>
              <a:t>Inspired by quick sort</a:t>
            </a:r>
          </a:p>
          <a:p>
            <a:pPr>
              <a:lnSpc>
                <a:spcPct val="250000"/>
              </a:lnSpc>
            </a:pPr>
            <a:r>
              <a:rPr lang="en-US" sz="1600" dirty="0"/>
              <a:t>Invented by C.A.R. Hoare</a:t>
            </a:r>
          </a:p>
        </p:txBody>
      </p:sp>
    </p:spTree>
    <p:extLst>
      <p:ext uri="{BB962C8B-B14F-4D97-AF65-F5344CB8AC3E}">
        <p14:creationId xmlns:p14="http://schemas.microsoft.com/office/powerpoint/2010/main" val="1096717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929AF2C-072F-449D-896D-DA15FF531312}"/>
              </a:ext>
            </a:extLst>
          </p:cNvPr>
          <p:cNvSpPr txBox="1"/>
          <p:nvPr/>
        </p:nvSpPr>
        <p:spPr>
          <a:xfrm>
            <a:off x="1161535" y="1309816"/>
            <a:ext cx="6363730" cy="523220"/>
          </a:xfrm>
          <a:prstGeom prst="rect">
            <a:avLst/>
          </a:prstGeom>
          <a:noFill/>
        </p:spPr>
        <p:txBody>
          <a:bodyPr wrap="square" rtlCol="0">
            <a:spAutoFit/>
          </a:bodyPr>
          <a:lstStyle/>
          <a:p>
            <a:r>
              <a:rPr lang="en-US" sz="2800" b="1" dirty="0"/>
              <a:t>QUICK SELECT</a:t>
            </a:r>
          </a:p>
        </p:txBody>
      </p:sp>
      <p:sp>
        <p:nvSpPr>
          <p:cNvPr id="7" name="TextBox 6">
            <a:extLst>
              <a:ext uri="{FF2B5EF4-FFF2-40B4-BE49-F238E27FC236}">
                <a16:creationId xmlns:a16="http://schemas.microsoft.com/office/drawing/2014/main" id="{0197E546-7B4D-4C9B-A153-7068786EDB02}"/>
              </a:ext>
            </a:extLst>
          </p:cNvPr>
          <p:cNvSpPr txBox="1"/>
          <p:nvPr/>
        </p:nvSpPr>
        <p:spPr>
          <a:xfrm>
            <a:off x="1322173" y="2162433"/>
            <a:ext cx="3472249" cy="400110"/>
          </a:xfrm>
          <a:prstGeom prst="rect">
            <a:avLst/>
          </a:prstGeom>
          <a:noFill/>
        </p:spPr>
        <p:txBody>
          <a:bodyPr wrap="square" rtlCol="0">
            <a:spAutoFit/>
          </a:bodyPr>
          <a:lstStyle/>
          <a:p>
            <a:r>
              <a:rPr lang="en-US" sz="2000" dirty="0"/>
              <a:t>Definition</a:t>
            </a:r>
          </a:p>
        </p:txBody>
      </p:sp>
      <p:sp>
        <p:nvSpPr>
          <p:cNvPr id="8" name="TextBox 7">
            <a:extLst>
              <a:ext uri="{FF2B5EF4-FFF2-40B4-BE49-F238E27FC236}">
                <a16:creationId xmlns:a16="http://schemas.microsoft.com/office/drawing/2014/main" id="{3F32626E-AE0D-438B-8FE6-CAEA5FAABBF0}"/>
              </a:ext>
            </a:extLst>
          </p:cNvPr>
          <p:cNvSpPr txBox="1"/>
          <p:nvPr/>
        </p:nvSpPr>
        <p:spPr>
          <a:xfrm>
            <a:off x="1322173" y="3002796"/>
            <a:ext cx="9300518" cy="2585323"/>
          </a:xfrm>
          <a:prstGeom prst="rect">
            <a:avLst/>
          </a:prstGeom>
          <a:noFill/>
        </p:spPr>
        <p:txBody>
          <a:bodyPr wrap="square" rtlCol="0">
            <a:spAutoFit/>
          </a:bodyPr>
          <a:lstStyle/>
          <a:p>
            <a:r>
              <a:rPr lang="en-US" dirty="0"/>
              <a:t>Quick Select is a powerful selection algorithm designed to find the k-</a:t>
            </a:r>
            <a:r>
              <a:rPr lang="en-US" dirty="0" err="1"/>
              <a:t>th</a:t>
            </a:r>
            <a:r>
              <a:rPr lang="en-US" dirty="0"/>
              <a:t> smallest (or largest) element in an unsorted list, without needing to sort the entire array. It’s closely related to Quick Sort, but it optimizes time by only recursively processing the partition that contains the desired element.</a:t>
            </a:r>
          </a:p>
          <a:p>
            <a:endParaRPr lang="en-US" dirty="0"/>
          </a:p>
          <a:p>
            <a:r>
              <a:rPr lang="en-US" u="sng" dirty="0"/>
              <a:t>Key Concepts:</a:t>
            </a:r>
          </a:p>
          <a:p>
            <a:pPr marL="285750" indent="-285750">
              <a:buFont typeface="Arial" panose="020B0604020202020204" pitchFamily="34" charset="0"/>
              <a:buChar char="•"/>
            </a:pPr>
            <a:r>
              <a:rPr lang="en-US" dirty="0"/>
              <a:t>Partitioning: Quick select uses a pivot to divide the array into two subarrays: element smaller than he pivot and elements larger than the pivot.</a:t>
            </a:r>
          </a:p>
          <a:p>
            <a:pPr marL="285750" indent="-285750">
              <a:buFont typeface="Arial" panose="020B0604020202020204" pitchFamily="34" charset="0"/>
              <a:buChar char="•"/>
            </a:pPr>
            <a:r>
              <a:rPr lang="en-US" dirty="0"/>
              <a:t>Recursive Approach: Unlike Quick sort, which recursively sorts both sides, quick select only focuses on the side that contains the k-</a:t>
            </a:r>
            <a:r>
              <a:rPr lang="en-US" dirty="0" err="1"/>
              <a:t>th</a:t>
            </a:r>
            <a:r>
              <a:rPr lang="en-US" dirty="0"/>
              <a:t> element, significantly reducing unnecessary computations.</a:t>
            </a:r>
          </a:p>
        </p:txBody>
      </p:sp>
    </p:spTree>
    <p:extLst>
      <p:ext uri="{BB962C8B-B14F-4D97-AF65-F5344CB8AC3E}">
        <p14:creationId xmlns:p14="http://schemas.microsoft.com/office/powerpoint/2010/main" val="1670463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B7188E-0C79-497B-A974-4C1772A4F8AC}"/>
              </a:ext>
            </a:extLst>
          </p:cNvPr>
          <p:cNvSpPr txBox="1"/>
          <p:nvPr/>
        </p:nvSpPr>
        <p:spPr>
          <a:xfrm>
            <a:off x="988541" y="778477"/>
            <a:ext cx="5107459" cy="523220"/>
          </a:xfrm>
          <a:prstGeom prst="rect">
            <a:avLst/>
          </a:prstGeom>
          <a:noFill/>
        </p:spPr>
        <p:txBody>
          <a:bodyPr wrap="square" rtlCol="0">
            <a:spAutoFit/>
          </a:bodyPr>
          <a:lstStyle/>
          <a:p>
            <a:r>
              <a:rPr lang="en-US" sz="2800" b="1" dirty="0"/>
              <a:t>QUICK SELECT</a:t>
            </a:r>
          </a:p>
        </p:txBody>
      </p:sp>
      <p:sp>
        <p:nvSpPr>
          <p:cNvPr id="5" name="TextBox 4">
            <a:extLst>
              <a:ext uri="{FF2B5EF4-FFF2-40B4-BE49-F238E27FC236}">
                <a16:creationId xmlns:a16="http://schemas.microsoft.com/office/drawing/2014/main" id="{A52DE248-B4B3-47C5-9D9B-226E8423167E}"/>
              </a:ext>
            </a:extLst>
          </p:cNvPr>
          <p:cNvSpPr txBox="1"/>
          <p:nvPr/>
        </p:nvSpPr>
        <p:spPr>
          <a:xfrm>
            <a:off x="988541" y="1642763"/>
            <a:ext cx="3929449" cy="400110"/>
          </a:xfrm>
          <a:prstGeom prst="rect">
            <a:avLst/>
          </a:prstGeom>
          <a:noFill/>
        </p:spPr>
        <p:txBody>
          <a:bodyPr wrap="square" rtlCol="0">
            <a:spAutoFit/>
          </a:bodyPr>
          <a:lstStyle/>
          <a:p>
            <a:r>
              <a:rPr lang="en-US" sz="2000" dirty="0"/>
              <a:t>Steps for the algorithm </a:t>
            </a:r>
          </a:p>
        </p:txBody>
      </p:sp>
      <p:graphicFrame>
        <p:nvGraphicFramePr>
          <p:cNvPr id="8" name="Table 8">
            <a:extLst>
              <a:ext uri="{FF2B5EF4-FFF2-40B4-BE49-F238E27FC236}">
                <a16:creationId xmlns:a16="http://schemas.microsoft.com/office/drawing/2014/main" id="{0ECA5063-25BE-484B-8274-4EC2FB2B8596}"/>
              </a:ext>
            </a:extLst>
          </p:cNvPr>
          <p:cNvGraphicFramePr>
            <a:graphicFrameLocks noGrp="1"/>
          </p:cNvGraphicFramePr>
          <p:nvPr>
            <p:extLst>
              <p:ext uri="{D42A27DB-BD31-4B8C-83A1-F6EECF244321}">
                <p14:modId xmlns:p14="http://schemas.microsoft.com/office/powerpoint/2010/main" val="3876512736"/>
              </p:ext>
            </p:extLst>
          </p:nvPr>
        </p:nvGraphicFramePr>
        <p:xfrm>
          <a:off x="988541" y="2383939"/>
          <a:ext cx="10268464" cy="3258753"/>
        </p:xfrm>
        <a:graphic>
          <a:graphicData uri="http://schemas.openxmlformats.org/drawingml/2006/table">
            <a:tbl>
              <a:tblPr firstRow="1" bandRow="1">
                <a:tableStyleId>{2D5ABB26-0587-4C30-8999-92F81FD0307C}</a:tableStyleId>
              </a:tblPr>
              <a:tblGrid>
                <a:gridCol w="3276903">
                  <a:extLst>
                    <a:ext uri="{9D8B030D-6E8A-4147-A177-3AD203B41FA5}">
                      <a16:colId xmlns:a16="http://schemas.microsoft.com/office/drawing/2014/main" val="1681894323"/>
                    </a:ext>
                  </a:extLst>
                </a:gridCol>
                <a:gridCol w="3439498">
                  <a:extLst>
                    <a:ext uri="{9D8B030D-6E8A-4147-A177-3AD203B41FA5}">
                      <a16:colId xmlns:a16="http://schemas.microsoft.com/office/drawing/2014/main" val="3549493514"/>
                    </a:ext>
                  </a:extLst>
                </a:gridCol>
                <a:gridCol w="3552063">
                  <a:extLst>
                    <a:ext uri="{9D8B030D-6E8A-4147-A177-3AD203B41FA5}">
                      <a16:colId xmlns:a16="http://schemas.microsoft.com/office/drawing/2014/main" val="2528760004"/>
                    </a:ext>
                  </a:extLst>
                </a:gridCol>
              </a:tblGrid>
              <a:tr h="698433">
                <a:tc>
                  <a:txBody>
                    <a:bodyPr/>
                    <a:lstStyle/>
                    <a:p>
                      <a:pPr algn="ctr"/>
                      <a:r>
                        <a:rPr lang="en-US" b="1" dirty="0"/>
                        <a:t>Choose a Pivot</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b="1" dirty="0"/>
                        <a:t>Partition the Array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Check the Pivot’s Position</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7351966"/>
                  </a:ext>
                </a:extLst>
              </a:tr>
              <a:tr h="1818990">
                <a:tc>
                  <a:txBody>
                    <a:bodyPr/>
                    <a:lstStyle/>
                    <a:p>
                      <a:r>
                        <a:rPr lang="en-US" dirty="0"/>
                        <a:t>First select a pivot element. Common strategies include:</a:t>
                      </a:r>
                    </a:p>
                    <a:p>
                      <a:pPr marL="285750" indent="-285750">
                        <a:buFont typeface="Arial" panose="020B0604020202020204" pitchFamily="34" charset="0"/>
                        <a:buChar char="•"/>
                      </a:pPr>
                      <a:r>
                        <a:rPr lang="en-US" dirty="0"/>
                        <a:t>Picking the first or last element</a:t>
                      </a:r>
                    </a:p>
                    <a:p>
                      <a:pPr marL="285750" indent="-285750">
                        <a:buFont typeface="Arial" panose="020B0604020202020204" pitchFamily="34" charset="0"/>
                        <a:buChar char="•"/>
                      </a:pPr>
                      <a:r>
                        <a:rPr lang="en-US" dirty="0"/>
                        <a:t>Selecting a random element</a:t>
                      </a:r>
                    </a:p>
                    <a:p>
                      <a:pPr marL="285750" indent="-285750">
                        <a:buFont typeface="Arial" panose="020B0604020202020204" pitchFamily="34" charset="0"/>
                        <a:buChar char="•"/>
                      </a:pPr>
                      <a:r>
                        <a:rPr lang="en-US" dirty="0"/>
                        <a:t>Using “median of medians” </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n-US" dirty="0"/>
                        <a:t>After choosing the pivot, partition the array into two sections:</a:t>
                      </a:r>
                    </a:p>
                    <a:p>
                      <a:pPr marL="285750" indent="-285750">
                        <a:buFont typeface="Arial" panose="020B0604020202020204" pitchFamily="34" charset="0"/>
                        <a:buChar char="•"/>
                      </a:pPr>
                      <a:r>
                        <a:rPr lang="en-US" b="1" dirty="0"/>
                        <a:t>Left</a:t>
                      </a:r>
                      <a:r>
                        <a:rPr lang="en-US" b="0" dirty="0"/>
                        <a:t>: Elements smaller than pivot</a:t>
                      </a:r>
                    </a:p>
                    <a:p>
                      <a:pPr marL="285750" indent="-285750">
                        <a:buFont typeface="Arial" panose="020B0604020202020204" pitchFamily="34" charset="0"/>
                        <a:buChar char="•"/>
                      </a:pPr>
                      <a:r>
                        <a:rPr lang="en-US" b="1" dirty="0"/>
                        <a:t>Right</a:t>
                      </a:r>
                      <a:r>
                        <a:rPr lang="en-US" b="0" dirty="0"/>
                        <a:t>: Elements larger than the pivot</a:t>
                      </a:r>
                    </a:p>
                    <a:p>
                      <a:pPr marL="0" indent="0">
                        <a:buFont typeface="Arial" panose="020B0604020202020204" pitchFamily="34" charset="0"/>
                        <a:buNone/>
                      </a:pPr>
                      <a:r>
                        <a:rPr lang="en-US" b="0" dirty="0"/>
                        <a:t>The pivot is then placed in its correct sorted position</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t>If the pivot’s position is exactly k, then the pivot is the k-</a:t>
                      </a:r>
                      <a:r>
                        <a:rPr lang="en-US" dirty="0" err="1"/>
                        <a:t>th</a:t>
                      </a:r>
                      <a:r>
                        <a:rPr lang="en-US" dirty="0"/>
                        <a:t> smallest element, and return it.</a:t>
                      </a:r>
                    </a:p>
                    <a:p>
                      <a:pPr marL="285750" indent="-285750">
                        <a:buFont typeface="Arial" panose="020B0604020202020204" pitchFamily="34" charset="0"/>
                        <a:buChar char="•"/>
                      </a:pPr>
                      <a:r>
                        <a:rPr lang="en-US" dirty="0"/>
                        <a:t>If the pivot’s position is greater than k, apply Quick select to left partition</a:t>
                      </a:r>
                    </a:p>
                    <a:p>
                      <a:pPr marL="285750" indent="-285750">
                        <a:buFont typeface="Arial" panose="020B0604020202020204" pitchFamily="34" charset="0"/>
                        <a:buChar char="•"/>
                      </a:pPr>
                      <a:r>
                        <a:rPr lang="en-US" dirty="0"/>
                        <a:t>If the pivot’s position is less than k, apply Quick select to the right partition with an updated k</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62231054"/>
                  </a:ext>
                </a:extLst>
              </a:tr>
            </a:tbl>
          </a:graphicData>
        </a:graphic>
      </p:graphicFrame>
      <p:sp>
        <p:nvSpPr>
          <p:cNvPr id="9" name="TextBox 8">
            <a:extLst>
              <a:ext uri="{FF2B5EF4-FFF2-40B4-BE49-F238E27FC236}">
                <a16:creationId xmlns:a16="http://schemas.microsoft.com/office/drawing/2014/main" id="{1AD4EACF-1B17-445E-89A3-8AE160F2398D}"/>
              </a:ext>
            </a:extLst>
          </p:cNvPr>
          <p:cNvSpPr txBox="1"/>
          <p:nvPr/>
        </p:nvSpPr>
        <p:spPr>
          <a:xfrm>
            <a:off x="988541" y="5894857"/>
            <a:ext cx="6771503" cy="369332"/>
          </a:xfrm>
          <a:prstGeom prst="rect">
            <a:avLst/>
          </a:prstGeom>
          <a:noFill/>
        </p:spPr>
        <p:txBody>
          <a:bodyPr wrap="square" rtlCol="0">
            <a:spAutoFit/>
          </a:bodyPr>
          <a:lstStyle/>
          <a:p>
            <a:r>
              <a:rPr lang="en-US" dirty="0"/>
              <a:t>This recursive process continues until the k-</a:t>
            </a:r>
            <a:r>
              <a:rPr lang="en-US" dirty="0" err="1"/>
              <a:t>th</a:t>
            </a:r>
            <a:r>
              <a:rPr lang="en-US" dirty="0"/>
              <a:t> element is found</a:t>
            </a:r>
          </a:p>
        </p:txBody>
      </p:sp>
    </p:spTree>
    <p:extLst>
      <p:ext uri="{BB962C8B-B14F-4D97-AF65-F5344CB8AC3E}">
        <p14:creationId xmlns:p14="http://schemas.microsoft.com/office/powerpoint/2010/main" val="4143414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EC828F1-4797-4E3E-95A6-8D11B1E2F019}"/>
              </a:ext>
            </a:extLst>
          </p:cNvPr>
          <p:cNvPicPr>
            <a:picLocks noGrp="1" noChangeAspect="1"/>
          </p:cNvPicPr>
          <p:nvPr>
            <p:ph sz="quarter" idx="13"/>
          </p:nvPr>
        </p:nvPicPr>
        <p:blipFill>
          <a:blip r:embed="rId2">
            <a:alphaModFix/>
          </a:blip>
          <a:stretch>
            <a:fillRect/>
          </a:stretch>
        </p:blipFill>
        <p:spPr>
          <a:xfrm>
            <a:off x="729049" y="2489241"/>
            <a:ext cx="3868738" cy="939759"/>
          </a:xfrm>
          <a:noFill/>
        </p:spPr>
      </p:pic>
      <p:sp>
        <p:nvSpPr>
          <p:cNvPr id="4" name="TextBox 3">
            <a:extLst>
              <a:ext uri="{FF2B5EF4-FFF2-40B4-BE49-F238E27FC236}">
                <a16:creationId xmlns:a16="http://schemas.microsoft.com/office/drawing/2014/main" id="{C69DA1DA-2505-4527-ADA5-BAF8EA4E58FE}"/>
              </a:ext>
            </a:extLst>
          </p:cNvPr>
          <p:cNvSpPr txBox="1"/>
          <p:nvPr/>
        </p:nvSpPr>
        <p:spPr>
          <a:xfrm>
            <a:off x="729049" y="914400"/>
            <a:ext cx="5366951" cy="461665"/>
          </a:xfrm>
          <a:prstGeom prst="rect">
            <a:avLst/>
          </a:prstGeom>
          <a:noFill/>
        </p:spPr>
        <p:txBody>
          <a:bodyPr wrap="square" rtlCol="0">
            <a:spAutoFit/>
          </a:bodyPr>
          <a:lstStyle/>
          <a:p>
            <a:r>
              <a:rPr lang="en-US" sz="2400" dirty="0"/>
              <a:t>Quick Select : Step by Step Walkthrough </a:t>
            </a:r>
          </a:p>
        </p:txBody>
      </p:sp>
      <p:sp>
        <p:nvSpPr>
          <p:cNvPr id="5" name="TextBox 4">
            <a:extLst>
              <a:ext uri="{FF2B5EF4-FFF2-40B4-BE49-F238E27FC236}">
                <a16:creationId xmlns:a16="http://schemas.microsoft.com/office/drawing/2014/main" id="{CE7EDDA1-4B0F-45A7-9C55-1464EBEA6AC6}"/>
              </a:ext>
            </a:extLst>
          </p:cNvPr>
          <p:cNvSpPr txBox="1"/>
          <p:nvPr/>
        </p:nvSpPr>
        <p:spPr>
          <a:xfrm>
            <a:off x="729050" y="1825407"/>
            <a:ext cx="2946480" cy="369332"/>
          </a:xfrm>
          <a:prstGeom prst="rect">
            <a:avLst/>
          </a:prstGeom>
          <a:noFill/>
        </p:spPr>
        <p:txBody>
          <a:bodyPr wrap="square" rtlCol="0">
            <a:spAutoFit/>
          </a:bodyPr>
          <a:lstStyle/>
          <a:p>
            <a:r>
              <a:rPr lang="en-US" dirty="0"/>
              <a:t>Let us consider an array:</a:t>
            </a:r>
          </a:p>
        </p:txBody>
      </p:sp>
      <p:sp>
        <p:nvSpPr>
          <p:cNvPr id="8" name="TextBox 7">
            <a:extLst>
              <a:ext uri="{FF2B5EF4-FFF2-40B4-BE49-F238E27FC236}">
                <a16:creationId xmlns:a16="http://schemas.microsoft.com/office/drawing/2014/main" id="{A1B8653A-4355-4A84-B043-FF8F73364050}"/>
              </a:ext>
            </a:extLst>
          </p:cNvPr>
          <p:cNvSpPr txBox="1"/>
          <p:nvPr/>
        </p:nvSpPr>
        <p:spPr>
          <a:xfrm>
            <a:off x="6096000" y="1825407"/>
            <a:ext cx="2946480" cy="369332"/>
          </a:xfrm>
          <a:prstGeom prst="rect">
            <a:avLst/>
          </a:prstGeom>
          <a:noFill/>
        </p:spPr>
        <p:txBody>
          <a:bodyPr wrap="square" rtlCol="0">
            <a:spAutoFit/>
          </a:bodyPr>
          <a:lstStyle/>
          <a:p>
            <a:r>
              <a:rPr lang="en-US" dirty="0"/>
              <a:t>Let’s choose 7 as pivot</a:t>
            </a:r>
          </a:p>
        </p:txBody>
      </p:sp>
      <p:pic>
        <p:nvPicPr>
          <p:cNvPr id="10" name="Picture 9">
            <a:extLst>
              <a:ext uri="{FF2B5EF4-FFF2-40B4-BE49-F238E27FC236}">
                <a16:creationId xmlns:a16="http://schemas.microsoft.com/office/drawing/2014/main" id="{DC42D614-DB46-414E-8F8F-1EC3576AF70D}"/>
              </a:ext>
            </a:extLst>
          </p:cNvPr>
          <p:cNvPicPr>
            <a:picLocks noChangeAspect="1"/>
          </p:cNvPicPr>
          <p:nvPr/>
        </p:nvPicPr>
        <p:blipFill>
          <a:blip r:embed="rId3"/>
          <a:stretch>
            <a:fillRect/>
          </a:stretch>
        </p:blipFill>
        <p:spPr>
          <a:xfrm>
            <a:off x="6096001" y="2489241"/>
            <a:ext cx="3868738" cy="939759"/>
          </a:xfrm>
          <a:prstGeom prst="rect">
            <a:avLst/>
          </a:prstGeom>
        </p:spPr>
      </p:pic>
      <p:sp>
        <p:nvSpPr>
          <p:cNvPr id="11" name="TextBox 10">
            <a:extLst>
              <a:ext uri="{FF2B5EF4-FFF2-40B4-BE49-F238E27FC236}">
                <a16:creationId xmlns:a16="http://schemas.microsoft.com/office/drawing/2014/main" id="{303D77D5-D622-4197-8FF6-09E2B54FD606}"/>
              </a:ext>
            </a:extLst>
          </p:cNvPr>
          <p:cNvSpPr txBox="1"/>
          <p:nvPr/>
        </p:nvSpPr>
        <p:spPr>
          <a:xfrm>
            <a:off x="729049" y="4233983"/>
            <a:ext cx="2946480" cy="1477328"/>
          </a:xfrm>
          <a:prstGeom prst="rect">
            <a:avLst/>
          </a:prstGeom>
          <a:noFill/>
        </p:spPr>
        <p:txBody>
          <a:bodyPr wrap="square" rtlCol="0">
            <a:spAutoFit/>
          </a:bodyPr>
          <a:lstStyle/>
          <a:p>
            <a:r>
              <a:rPr lang="en-US" dirty="0"/>
              <a:t>Now we have partition the array so that every smaller element than pivot comes before and every larger element comes after pivot</a:t>
            </a:r>
          </a:p>
        </p:txBody>
      </p:sp>
      <p:pic>
        <p:nvPicPr>
          <p:cNvPr id="13" name="Picture 12">
            <a:extLst>
              <a:ext uri="{FF2B5EF4-FFF2-40B4-BE49-F238E27FC236}">
                <a16:creationId xmlns:a16="http://schemas.microsoft.com/office/drawing/2014/main" id="{978FE6A7-107B-4744-9634-896299AAD376}"/>
              </a:ext>
            </a:extLst>
          </p:cNvPr>
          <p:cNvPicPr>
            <a:picLocks noChangeAspect="1"/>
          </p:cNvPicPr>
          <p:nvPr/>
        </p:nvPicPr>
        <p:blipFill>
          <a:blip r:embed="rId4"/>
          <a:stretch>
            <a:fillRect/>
          </a:stretch>
        </p:blipFill>
        <p:spPr>
          <a:xfrm>
            <a:off x="3738282" y="4233983"/>
            <a:ext cx="3341687" cy="1709617"/>
          </a:xfrm>
          <a:prstGeom prst="rect">
            <a:avLst/>
          </a:prstGeom>
        </p:spPr>
      </p:pic>
      <p:pic>
        <p:nvPicPr>
          <p:cNvPr id="15" name="Picture 14">
            <a:extLst>
              <a:ext uri="{FF2B5EF4-FFF2-40B4-BE49-F238E27FC236}">
                <a16:creationId xmlns:a16="http://schemas.microsoft.com/office/drawing/2014/main" id="{ADC2CADF-FE51-4FF1-841E-60EC23E91866}"/>
              </a:ext>
            </a:extLst>
          </p:cNvPr>
          <p:cNvPicPr>
            <a:picLocks noChangeAspect="1"/>
          </p:cNvPicPr>
          <p:nvPr/>
        </p:nvPicPr>
        <p:blipFill>
          <a:blip r:embed="rId5"/>
          <a:stretch>
            <a:fillRect/>
          </a:stretch>
        </p:blipFill>
        <p:spPr>
          <a:xfrm>
            <a:off x="7443733" y="4233983"/>
            <a:ext cx="3341687" cy="1709617"/>
          </a:xfrm>
          <a:prstGeom prst="rect">
            <a:avLst/>
          </a:prstGeom>
        </p:spPr>
      </p:pic>
    </p:spTree>
    <p:extLst>
      <p:ext uri="{BB962C8B-B14F-4D97-AF65-F5344CB8AC3E}">
        <p14:creationId xmlns:p14="http://schemas.microsoft.com/office/powerpoint/2010/main" val="3586021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6F7570-7D52-4CB3-A522-DC2FBDFEA349}"/>
              </a:ext>
            </a:extLst>
          </p:cNvPr>
          <p:cNvSpPr txBox="1"/>
          <p:nvPr/>
        </p:nvSpPr>
        <p:spPr>
          <a:xfrm>
            <a:off x="729049" y="914400"/>
            <a:ext cx="5366951" cy="461665"/>
          </a:xfrm>
          <a:prstGeom prst="rect">
            <a:avLst/>
          </a:prstGeom>
          <a:noFill/>
        </p:spPr>
        <p:txBody>
          <a:bodyPr wrap="square" rtlCol="0">
            <a:spAutoFit/>
          </a:bodyPr>
          <a:lstStyle/>
          <a:p>
            <a:r>
              <a:rPr lang="en-US" sz="2400" dirty="0"/>
              <a:t>Quick Select : Step by Step Walkthrough </a:t>
            </a:r>
          </a:p>
        </p:txBody>
      </p:sp>
      <p:sp>
        <p:nvSpPr>
          <p:cNvPr id="5" name="TextBox 4">
            <a:extLst>
              <a:ext uri="{FF2B5EF4-FFF2-40B4-BE49-F238E27FC236}">
                <a16:creationId xmlns:a16="http://schemas.microsoft.com/office/drawing/2014/main" id="{6A0B582C-FC67-4ECD-9D2E-2BBBC3FC30D2}"/>
              </a:ext>
            </a:extLst>
          </p:cNvPr>
          <p:cNvSpPr txBox="1"/>
          <p:nvPr/>
        </p:nvSpPr>
        <p:spPr>
          <a:xfrm>
            <a:off x="729049" y="1658471"/>
            <a:ext cx="3478306" cy="677108"/>
          </a:xfrm>
          <a:prstGeom prst="rect">
            <a:avLst/>
          </a:prstGeom>
          <a:noFill/>
          <a:ln>
            <a:solidFill>
              <a:schemeClr val="tx1"/>
            </a:solidFill>
          </a:ln>
        </p:spPr>
        <p:txBody>
          <a:bodyPr wrap="square" rtlCol="0">
            <a:spAutoFit/>
          </a:bodyPr>
          <a:lstStyle/>
          <a:p>
            <a:r>
              <a:rPr lang="en-US" sz="2000" dirty="0"/>
              <a:t>Hoare Partitioning: </a:t>
            </a:r>
            <a:r>
              <a:rPr lang="en-US" dirty="0"/>
              <a:t>Here is how we can efficiently partition the array</a:t>
            </a:r>
          </a:p>
        </p:txBody>
      </p:sp>
      <p:sp>
        <p:nvSpPr>
          <p:cNvPr id="7" name="TextBox 6">
            <a:extLst>
              <a:ext uri="{FF2B5EF4-FFF2-40B4-BE49-F238E27FC236}">
                <a16:creationId xmlns:a16="http://schemas.microsoft.com/office/drawing/2014/main" id="{2320A0FB-7B89-4F3E-AFC1-B47CFE000336}"/>
              </a:ext>
            </a:extLst>
          </p:cNvPr>
          <p:cNvSpPr txBox="1"/>
          <p:nvPr/>
        </p:nvSpPr>
        <p:spPr>
          <a:xfrm>
            <a:off x="729049" y="3635276"/>
            <a:ext cx="3188528" cy="2308324"/>
          </a:xfrm>
          <a:prstGeom prst="rect">
            <a:avLst/>
          </a:prstGeom>
          <a:noFill/>
        </p:spPr>
        <p:txBody>
          <a:bodyPr wrap="square" rtlCol="0">
            <a:spAutoFit/>
          </a:bodyPr>
          <a:lstStyle/>
          <a:p>
            <a:r>
              <a:rPr lang="en-US" sz="1600" dirty="0"/>
              <a:t>We keep track of two indices in the array called </a:t>
            </a:r>
            <a:r>
              <a:rPr lang="en-US" sz="1600" b="1" dirty="0"/>
              <a:t>L </a:t>
            </a:r>
            <a:r>
              <a:rPr lang="en-US" sz="1600" dirty="0"/>
              <a:t>and </a:t>
            </a:r>
            <a:r>
              <a:rPr lang="en-US" sz="1600" b="1" dirty="0"/>
              <a:t>R s</a:t>
            </a:r>
            <a:r>
              <a:rPr lang="en-US" sz="1600" dirty="0"/>
              <a:t>uch that</a:t>
            </a:r>
          </a:p>
          <a:p>
            <a:pPr marL="285750" indent="-285750">
              <a:buFont typeface="Arial" panose="020B0604020202020204" pitchFamily="34" charset="0"/>
              <a:buChar char="•"/>
            </a:pPr>
            <a:r>
              <a:rPr lang="en-US" sz="1600" dirty="0"/>
              <a:t>The pivot is on the L position </a:t>
            </a:r>
          </a:p>
          <a:p>
            <a:pPr marL="285750" indent="-285750">
              <a:buFont typeface="Arial" panose="020B0604020202020204" pitchFamily="34" charset="0"/>
              <a:buChar char="•"/>
            </a:pPr>
            <a:r>
              <a:rPr lang="en-US" sz="1600" dirty="0"/>
              <a:t>Everything before L is smaller than the pivot</a:t>
            </a:r>
          </a:p>
          <a:p>
            <a:pPr marL="285750" indent="-285750">
              <a:buFont typeface="Arial" panose="020B0604020202020204" pitchFamily="34" charset="0"/>
              <a:buChar char="•"/>
            </a:pPr>
            <a:r>
              <a:rPr lang="en-US" sz="1600" dirty="0"/>
              <a:t>Everything after R is larger than pivot</a:t>
            </a:r>
          </a:p>
          <a:p>
            <a:pPr marL="285750" indent="-285750">
              <a:buFont typeface="Arial" panose="020B0604020202020204" pitchFamily="34" charset="0"/>
              <a:buChar char="•"/>
            </a:pPr>
            <a:r>
              <a:rPr lang="en-US" sz="1600" dirty="0"/>
              <a:t>The elements between L and R could be either smaller or greater</a:t>
            </a:r>
          </a:p>
        </p:txBody>
      </p:sp>
      <p:pic>
        <p:nvPicPr>
          <p:cNvPr id="9" name="Picture 8">
            <a:extLst>
              <a:ext uri="{FF2B5EF4-FFF2-40B4-BE49-F238E27FC236}">
                <a16:creationId xmlns:a16="http://schemas.microsoft.com/office/drawing/2014/main" id="{E6361C91-D920-4936-899F-0EDBA4EC543B}"/>
              </a:ext>
            </a:extLst>
          </p:cNvPr>
          <p:cNvPicPr>
            <a:picLocks noChangeAspect="1"/>
          </p:cNvPicPr>
          <p:nvPr/>
        </p:nvPicPr>
        <p:blipFill>
          <a:blip r:embed="rId2"/>
          <a:stretch>
            <a:fillRect/>
          </a:stretch>
        </p:blipFill>
        <p:spPr>
          <a:xfrm>
            <a:off x="729049" y="2675762"/>
            <a:ext cx="4221273" cy="863829"/>
          </a:xfrm>
          <a:prstGeom prst="rect">
            <a:avLst/>
          </a:prstGeom>
        </p:spPr>
      </p:pic>
      <p:sp>
        <p:nvSpPr>
          <p:cNvPr id="16" name="TextBox 15">
            <a:extLst>
              <a:ext uri="{FF2B5EF4-FFF2-40B4-BE49-F238E27FC236}">
                <a16:creationId xmlns:a16="http://schemas.microsoft.com/office/drawing/2014/main" id="{066EAA41-733C-4042-82F2-69BFBB84DB5E}"/>
              </a:ext>
            </a:extLst>
          </p:cNvPr>
          <p:cNvSpPr txBox="1"/>
          <p:nvPr/>
        </p:nvSpPr>
        <p:spPr>
          <a:xfrm>
            <a:off x="6248400" y="2547625"/>
            <a:ext cx="3711388" cy="1077218"/>
          </a:xfrm>
          <a:prstGeom prst="rect">
            <a:avLst/>
          </a:prstGeom>
          <a:noFill/>
        </p:spPr>
        <p:txBody>
          <a:bodyPr wrap="square" rtlCol="0">
            <a:spAutoFit/>
          </a:bodyPr>
          <a:lstStyle/>
          <a:p>
            <a:r>
              <a:rPr lang="en-US" sz="1600" dirty="0"/>
              <a:t>The segment between L and R decreases with each step. Partitioning finishes when L becomes R which means the segment consists of only the pivot.</a:t>
            </a:r>
          </a:p>
        </p:txBody>
      </p:sp>
      <p:pic>
        <p:nvPicPr>
          <p:cNvPr id="18" name="Picture 17">
            <a:extLst>
              <a:ext uri="{FF2B5EF4-FFF2-40B4-BE49-F238E27FC236}">
                <a16:creationId xmlns:a16="http://schemas.microsoft.com/office/drawing/2014/main" id="{38705770-92A3-4616-8688-08A9BE61F662}"/>
              </a:ext>
            </a:extLst>
          </p:cNvPr>
          <p:cNvPicPr>
            <a:picLocks noChangeAspect="1"/>
          </p:cNvPicPr>
          <p:nvPr/>
        </p:nvPicPr>
        <p:blipFill>
          <a:blip r:embed="rId3"/>
          <a:stretch>
            <a:fillRect/>
          </a:stretch>
        </p:blipFill>
        <p:spPr>
          <a:xfrm>
            <a:off x="5651782" y="3791114"/>
            <a:ext cx="4904623" cy="1716869"/>
          </a:xfrm>
          <a:prstGeom prst="rect">
            <a:avLst/>
          </a:prstGeom>
        </p:spPr>
      </p:pic>
    </p:spTree>
    <p:extLst>
      <p:ext uri="{BB962C8B-B14F-4D97-AF65-F5344CB8AC3E}">
        <p14:creationId xmlns:p14="http://schemas.microsoft.com/office/powerpoint/2010/main" val="981447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BA78E93-46D6-43E1-9923-6D23837FF18F}"/>
              </a:ext>
            </a:extLst>
          </p:cNvPr>
          <p:cNvSpPr txBox="1"/>
          <p:nvPr/>
        </p:nvSpPr>
        <p:spPr>
          <a:xfrm>
            <a:off x="729049" y="791290"/>
            <a:ext cx="5366951" cy="461665"/>
          </a:xfrm>
          <a:prstGeom prst="rect">
            <a:avLst/>
          </a:prstGeom>
          <a:noFill/>
        </p:spPr>
        <p:txBody>
          <a:bodyPr wrap="square" rtlCol="0">
            <a:spAutoFit/>
          </a:bodyPr>
          <a:lstStyle/>
          <a:p>
            <a:r>
              <a:rPr lang="en-US" sz="2400" dirty="0"/>
              <a:t>Quick Select : Step by Step Walkthrough </a:t>
            </a:r>
          </a:p>
        </p:txBody>
      </p:sp>
      <p:sp>
        <p:nvSpPr>
          <p:cNvPr id="5" name="TextBox 4">
            <a:extLst>
              <a:ext uri="{FF2B5EF4-FFF2-40B4-BE49-F238E27FC236}">
                <a16:creationId xmlns:a16="http://schemas.microsoft.com/office/drawing/2014/main" id="{3692BC3C-CB0D-4178-BDA2-85B2F293C7A7}"/>
              </a:ext>
            </a:extLst>
          </p:cNvPr>
          <p:cNvSpPr txBox="1"/>
          <p:nvPr/>
        </p:nvSpPr>
        <p:spPr>
          <a:xfrm>
            <a:off x="729049" y="1851194"/>
            <a:ext cx="4730458" cy="584775"/>
          </a:xfrm>
          <a:prstGeom prst="rect">
            <a:avLst/>
          </a:prstGeom>
          <a:noFill/>
        </p:spPr>
        <p:txBody>
          <a:bodyPr wrap="square" rtlCol="0">
            <a:spAutoFit/>
          </a:bodyPr>
          <a:lstStyle/>
          <a:p>
            <a:r>
              <a:rPr lang="en-US" sz="1600" dirty="0"/>
              <a:t>We start </a:t>
            </a:r>
            <a:r>
              <a:rPr lang="en-US" sz="1600" b="1" dirty="0"/>
              <a:t>L = 0</a:t>
            </a:r>
            <a:r>
              <a:rPr lang="en-US" sz="1600" dirty="0"/>
              <a:t> and </a:t>
            </a:r>
            <a:r>
              <a:rPr lang="en-US" sz="1600" b="1" dirty="0"/>
              <a:t>R = n-1</a:t>
            </a:r>
            <a:r>
              <a:rPr lang="en-US" sz="1600" dirty="0"/>
              <a:t>. By choosing 7 as pivot we have to consider three cases in each step</a:t>
            </a:r>
          </a:p>
        </p:txBody>
      </p:sp>
      <p:pic>
        <p:nvPicPr>
          <p:cNvPr id="7" name="Picture 6">
            <a:extLst>
              <a:ext uri="{FF2B5EF4-FFF2-40B4-BE49-F238E27FC236}">
                <a16:creationId xmlns:a16="http://schemas.microsoft.com/office/drawing/2014/main" id="{EFC66677-6C92-4EEA-A2AC-194660AE2CBC}"/>
              </a:ext>
            </a:extLst>
          </p:cNvPr>
          <p:cNvPicPr>
            <a:picLocks noChangeAspect="1"/>
          </p:cNvPicPr>
          <p:nvPr/>
        </p:nvPicPr>
        <p:blipFill>
          <a:blip r:embed="rId2"/>
          <a:stretch>
            <a:fillRect/>
          </a:stretch>
        </p:blipFill>
        <p:spPr>
          <a:xfrm>
            <a:off x="729049" y="2783196"/>
            <a:ext cx="4461516" cy="2312431"/>
          </a:xfrm>
          <a:prstGeom prst="rect">
            <a:avLst/>
          </a:prstGeom>
        </p:spPr>
      </p:pic>
      <p:cxnSp>
        <p:nvCxnSpPr>
          <p:cNvPr id="9" name="Straight Connector 8">
            <a:extLst>
              <a:ext uri="{FF2B5EF4-FFF2-40B4-BE49-F238E27FC236}">
                <a16:creationId xmlns:a16="http://schemas.microsoft.com/office/drawing/2014/main" id="{E0A7E6CC-685F-4EB6-B8B4-EC0A9359B119}"/>
              </a:ext>
            </a:extLst>
          </p:cNvPr>
          <p:cNvCxnSpPr>
            <a:cxnSpLocks/>
            <a:stCxn id="4" idx="2"/>
          </p:cNvCxnSpPr>
          <p:nvPr/>
        </p:nvCxnSpPr>
        <p:spPr>
          <a:xfrm flipV="1">
            <a:off x="3412525" y="1147482"/>
            <a:ext cx="8779475" cy="105473"/>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480F990-67D8-4DB1-82C1-01FFB3146097}"/>
              </a:ext>
            </a:extLst>
          </p:cNvPr>
          <p:cNvSpPr txBox="1"/>
          <p:nvPr/>
        </p:nvSpPr>
        <p:spPr>
          <a:xfrm>
            <a:off x="5827059" y="1547302"/>
            <a:ext cx="5231199" cy="738664"/>
          </a:xfrm>
          <a:prstGeom prst="rect">
            <a:avLst/>
          </a:prstGeom>
          <a:noFill/>
        </p:spPr>
        <p:txBody>
          <a:bodyPr wrap="square" rtlCol="0">
            <a:spAutoFit/>
          </a:bodyPr>
          <a:lstStyle/>
          <a:p>
            <a:r>
              <a:rPr lang="en-US" sz="1400" b="1" dirty="0"/>
              <a:t>Case_1</a:t>
            </a:r>
            <a:r>
              <a:rPr lang="en-US" sz="1400" dirty="0"/>
              <a:t>: (L+1 &lt; Pivot) The element on the L+1 is smaller than the pivot so we move it to the left of the L-R segment</a:t>
            </a:r>
          </a:p>
          <a:p>
            <a:endParaRPr lang="en-US" sz="1400" dirty="0"/>
          </a:p>
        </p:txBody>
      </p:sp>
      <p:pic>
        <p:nvPicPr>
          <p:cNvPr id="16" name="Picture 15">
            <a:extLst>
              <a:ext uri="{FF2B5EF4-FFF2-40B4-BE49-F238E27FC236}">
                <a16:creationId xmlns:a16="http://schemas.microsoft.com/office/drawing/2014/main" id="{715247E2-C1E7-484A-B5C1-7230BFCB940A}"/>
              </a:ext>
            </a:extLst>
          </p:cNvPr>
          <p:cNvPicPr>
            <a:picLocks noChangeAspect="1"/>
          </p:cNvPicPr>
          <p:nvPr/>
        </p:nvPicPr>
        <p:blipFill>
          <a:blip r:embed="rId3"/>
          <a:stretch>
            <a:fillRect/>
          </a:stretch>
        </p:blipFill>
        <p:spPr>
          <a:xfrm>
            <a:off x="7452638" y="2222973"/>
            <a:ext cx="2817946" cy="675883"/>
          </a:xfrm>
          <a:prstGeom prst="rect">
            <a:avLst/>
          </a:prstGeom>
        </p:spPr>
      </p:pic>
      <p:sp>
        <p:nvSpPr>
          <p:cNvPr id="19" name="TextBox 18">
            <a:extLst>
              <a:ext uri="{FF2B5EF4-FFF2-40B4-BE49-F238E27FC236}">
                <a16:creationId xmlns:a16="http://schemas.microsoft.com/office/drawing/2014/main" id="{206760EE-7305-4CF1-BA5E-1FDAA4009900}"/>
              </a:ext>
            </a:extLst>
          </p:cNvPr>
          <p:cNvSpPr txBox="1"/>
          <p:nvPr/>
        </p:nvSpPr>
        <p:spPr>
          <a:xfrm>
            <a:off x="5827059" y="3214849"/>
            <a:ext cx="5020235" cy="307777"/>
          </a:xfrm>
          <a:prstGeom prst="rect">
            <a:avLst/>
          </a:prstGeom>
          <a:noFill/>
        </p:spPr>
        <p:txBody>
          <a:bodyPr wrap="square" rtlCol="0">
            <a:spAutoFit/>
          </a:bodyPr>
          <a:lstStyle/>
          <a:p>
            <a:r>
              <a:rPr lang="en-US" sz="1400" dirty="0"/>
              <a:t>For doing so, we swap the elements. We increase L afterwards</a:t>
            </a:r>
          </a:p>
        </p:txBody>
      </p:sp>
      <p:pic>
        <p:nvPicPr>
          <p:cNvPr id="21" name="Picture 20">
            <a:extLst>
              <a:ext uri="{FF2B5EF4-FFF2-40B4-BE49-F238E27FC236}">
                <a16:creationId xmlns:a16="http://schemas.microsoft.com/office/drawing/2014/main" id="{E2F99B23-D44D-4E98-ABE8-22D6E47276C7}"/>
              </a:ext>
            </a:extLst>
          </p:cNvPr>
          <p:cNvPicPr>
            <a:picLocks noChangeAspect="1"/>
          </p:cNvPicPr>
          <p:nvPr/>
        </p:nvPicPr>
        <p:blipFill>
          <a:blip r:embed="rId4"/>
          <a:stretch>
            <a:fillRect/>
          </a:stretch>
        </p:blipFill>
        <p:spPr>
          <a:xfrm>
            <a:off x="6653558" y="3838619"/>
            <a:ext cx="2817946" cy="675882"/>
          </a:xfrm>
          <a:prstGeom prst="rect">
            <a:avLst/>
          </a:prstGeom>
        </p:spPr>
      </p:pic>
      <p:pic>
        <p:nvPicPr>
          <p:cNvPr id="23" name="Picture 22">
            <a:extLst>
              <a:ext uri="{FF2B5EF4-FFF2-40B4-BE49-F238E27FC236}">
                <a16:creationId xmlns:a16="http://schemas.microsoft.com/office/drawing/2014/main" id="{60D58A8A-CD7D-47B2-BB54-D384EFE1C61D}"/>
              </a:ext>
            </a:extLst>
          </p:cNvPr>
          <p:cNvPicPr>
            <a:picLocks noChangeAspect="1"/>
          </p:cNvPicPr>
          <p:nvPr/>
        </p:nvPicPr>
        <p:blipFill>
          <a:blip r:embed="rId5"/>
          <a:stretch>
            <a:fillRect/>
          </a:stretch>
        </p:blipFill>
        <p:spPr>
          <a:xfrm>
            <a:off x="8240312" y="4732655"/>
            <a:ext cx="2817946" cy="675882"/>
          </a:xfrm>
          <a:prstGeom prst="rect">
            <a:avLst/>
          </a:prstGeom>
        </p:spPr>
      </p:pic>
      <p:sp>
        <p:nvSpPr>
          <p:cNvPr id="24" name="TextBox 23">
            <a:extLst>
              <a:ext uri="{FF2B5EF4-FFF2-40B4-BE49-F238E27FC236}">
                <a16:creationId xmlns:a16="http://schemas.microsoft.com/office/drawing/2014/main" id="{F25CE49F-F540-47BE-AB19-26CC240CBE62}"/>
              </a:ext>
            </a:extLst>
          </p:cNvPr>
          <p:cNvSpPr txBox="1"/>
          <p:nvPr/>
        </p:nvSpPr>
        <p:spPr>
          <a:xfrm>
            <a:off x="5827058" y="5626691"/>
            <a:ext cx="5020235" cy="523220"/>
          </a:xfrm>
          <a:prstGeom prst="rect">
            <a:avLst/>
          </a:prstGeom>
          <a:noFill/>
        </p:spPr>
        <p:txBody>
          <a:bodyPr wrap="square" rtlCol="0">
            <a:spAutoFit/>
          </a:bodyPr>
          <a:lstStyle/>
          <a:p>
            <a:r>
              <a:rPr lang="en-US" sz="1400" dirty="0"/>
              <a:t>This step ensures to the left of L all elements are smaller than the pivot</a:t>
            </a:r>
          </a:p>
        </p:txBody>
      </p:sp>
    </p:spTree>
    <p:extLst>
      <p:ext uri="{BB962C8B-B14F-4D97-AF65-F5344CB8AC3E}">
        <p14:creationId xmlns:p14="http://schemas.microsoft.com/office/powerpoint/2010/main" val="4126438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97B3D7-582A-462B-90C7-8B20F1B0ECFA}"/>
              </a:ext>
            </a:extLst>
          </p:cNvPr>
          <p:cNvSpPr txBox="1"/>
          <p:nvPr/>
        </p:nvSpPr>
        <p:spPr>
          <a:xfrm>
            <a:off x="729049" y="791290"/>
            <a:ext cx="5366951" cy="461665"/>
          </a:xfrm>
          <a:prstGeom prst="rect">
            <a:avLst/>
          </a:prstGeom>
          <a:noFill/>
        </p:spPr>
        <p:txBody>
          <a:bodyPr wrap="square" rtlCol="0">
            <a:spAutoFit/>
          </a:bodyPr>
          <a:lstStyle/>
          <a:p>
            <a:r>
              <a:rPr lang="en-US" sz="2400" dirty="0"/>
              <a:t>Quick Select : Step by Step Walkthrough </a:t>
            </a:r>
          </a:p>
        </p:txBody>
      </p:sp>
      <p:sp>
        <p:nvSpPr>
          <p:cNvPr id="5" name="TextBox 4">
            <a:extLst>
              <a:ext uri="{FF2B5EF4-FFF2-40B4-BE49-F238E27FC236}">
                <a16:creationId xmlns:a16="http://schemas.microsoft.com/office/drawing/2014/main" id="{0F3E26DF-F1E3-421F-825E-B0CD29E86DAC}"/>
              </a:ext>
            </a:extLst>
          </p:cNvPr>
          <p:cNvSpPr txBox="1"/>
          <p:nvPr/>
        </p:nvSpPr>
        <p:spPr>
          <a:xfrm>
            <a:off x="739051" y="1548680"/>
            <a:ext cx="4838479" cy="523220"/>
          </a:xfrm>
          <a:prstGeom prst="rect">
            <a:avLst/>
          </a:prstGeom>
          <a:noFill/>
        </p:spPr>
        <p:txBody>
          <a:bodyPr wrap="square" rtlCol="0">
            <a:spAutoFit/>
          </a:bodyPr>
          <a:lstStyle/>
          <a:p>
            <a:r>
              <a:rPr lang="en-US" sz="1400" b="1" dirty="0"/>
              <a:t>Case_2</a:t>
            </a:r>
            <a:r>
              <a:rPr lang="en-US" sz="1400" dirty="0"/>
              <a:t>: (R &gt; Pivot) The element on the R is greater than the pivot so we move it to the right of the L-R segment</a:t>
            </a:r>
          </a:p>
        </p:txBody>
      </p:sp>
      <p:pic>
        <p:nvPicPr>
          <p:cNvPr id="7" name="Picture 6">
            <a:extLst>
              <a:ext uri="{FF2B5EF4-FFF2-40B4-BE49-F238E27FC236}">
                <a16:creationId xmlns:a16="http://schemas.microsoft.com/office/drawing/2014/main" id="{80251017-B809-4D62-88F7-0C94D80B0BC0}"/>
              </a:ext>
            </a:extLst>
          </p:cNvPr>
          <p:cNvPicPr>
            <a:picLocks noChangeAspect="1"/>
          </p:cNvPicPr>
          <p:nvPr/>
        </p:nvPicPr>
        <p:blipFill>
          <a:blip r:embed="rId2"/>
          <a:stretch>
            <a:fillRect/>
          </a:stretch>
        </p:blipFill>
        <p:spPr>
          <a:xfrm>
            <a:off x="809732" y="2300652"/>
            <a:ext cx="2817946" cy="675883"/>
          </a:xfrm>
          <a:prstGeom prst="rect">
            <a:avLst/>
          </a:prstGeom>
        </p:spPr>
      </p:pic>
      <p:sp>
        <p:nvSpPr>
          <p:cNvPr id="10" name="TextBox 9">
            <a:extLst>
              <a:ext uri="{FF2B5EF4-FFF2-40B4-BE49-F238E27FC236}">
                <a16:creationId xmlns:a16="http://schemas.microsoft.com/office/drawing/2014/main" id="{384874EB-E43F-4DC2-A960-BEC9BCE72AB6}"/>
              </a:ext>
            </a:extLst>
          </p:cNvPr>
          <p:cNvSpPr txBox="1"/>
          <p:nvPr/>
        </p:nvSpPr>
        <p:spPr>
          <a:xfrm>
            <a:off x="729049" y="3279871"/>
            <a:ext cx="3493327" cy="307777"/>
          </a:xfrm>
          <a:prstGeom prst="rect">
            <a:avLst/>
          </a:prstGeom>
          <a:noFill/>
        </p:spPr>
        <p:txBody>
          <a:bodyPr wrap="square" rtlCol="0">
            <a:spAutoFit/>
          </a:bodyPr>
          <a:lstStyle/>
          <a:p>
            <a:r>
              <a:rPr lang="en-US" sz="1400" dirty="0"/>
              <a:t>After that we simply decrease the value of </a:t>
            </a:r>
            <a:r>
              <a:rPr lang="en-US" sz="1400" b="1" dirty="0"/>
              <a:t>R</a:t>
            </a:r>
            <a:r>
              <a:rPr lang="en-US" sz="1400" dirty="0"/>
              <a:t>. </a:t>
            </a:r>
          </a:p>
        </p:txBody>
      </p:sp>
      <p:pic>
        <p:nvPicPr>
          <p:cNvPr id="12" name="Picture 11">
            <a:extLst>
              <a:ext uri="{FF2B5EF4-FFF2-40B4-BE49-F238E27FC236}">
                <a16:creationId xmlns:a16="http://schemas.microsoft.com/office/drawing/2014/main" id="{5AD52FF6-860F-4431-AD6D-9DDB476A0B39}"/>
              </a:ext>
            </a:extLst>
          </p:cNvPr>
          <p:cNvPicPr>
            <a:picLocks noChangeAspect="1"/>
          </p:cNvPicPr>
          <p:nvPr/>
        </p:nvPicPr>
        <p:blipFill>
          <a:blip r:embed="rId3"/>
          <a:stretch>
            <a:fillRect/>
          </a:stretch>
        </p:blipFill>
        <p:spPr>
          <a:xfrm>
            <a:off x="809732" y="3889758"/>
            <a:ext cx="2817946" cy="675883"/>
          </a:xfrm>
          <a:prstGeom prst="rect">
            <a:avLst/>
          </a:prstGeom>
        </p:spPr>
      </p:pic>
      <p:sp>
        <p:nvSpPr>
          <p:cNvPr id="13" name="TextBox 12">
            <a:extLst>
              <a:ext uri="{FF2B5EF4-FFF2-40B4-BE49-F238E27FC236}">
                <a16:creationId xmlns:a16="http://schemas.microsoft.com/office/drawing/2014/main" id="{6CEE9052-8680-4F46-BCF0-6E8BE468920E}"/>
              </a:ext>
            </a:extLst>
          </p:cNvPr>
          <p:cNvSpPr txBox="1"/>
          <p:nvPr/>
        </p:nvSpPr>
        <p:spPr>
          <a:xfrm>
            <a:off x="729050" y="4867751"/>
            <a:ext cx="4838480" cy="523220"/>
          </a:xfrm>
          <a:prstGeom prst="rect">
            <a:avLst/>
          </a:prstGeom>
          <a:noFill/>
        </p:spPr>
        <p:txBody>
          <a:bodyPr wrap="square" rtlCol="0">
            <a:spAutoFit/>
          </a:bodyPr>
          <a:lstStyle/>
          <a:p>
            <a:r>
              <a:rPr lang="en-US" sz="1400" dirty="0"/>
              <a:t>This step ensures to the right of R all elements are greater than the pivot</a:t>
            </a:r>
          </a:p>
        </p:txBody>
      </p:sp>
      <p:cxnSp>
        <p:nvCxnSpPr>
          <p:cNvPr id="15" name="Straight Connector 14">
            <a:extLst>
              <a:ext uri="{FF2B5EF4-FFF2-40B4-BE49-F238E27FC236}">
                <a16:creationId xmlns:a16="http://schemas.microsoft.com/office/drawing/2014/main" id="{2CE819D1-A996-456B-8DD8-147A8BAFB46B}"/>
              </a:ext>
            </a:extLst>
          </p:cNvPr>
          <p:cNvCxnSpPr/>
          <p:nvPr/>
        </p:nvCxnSpPr>
        <p:spPr>
          <a:xfrm>
            <a:off x="5960248" y="1022122"/>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B51418D-E99D-415E-89E9-575E7FDA3FF2}"/>
              </a:ext>
            </a:extLst>
          </p:cNvPr>
          <p:cNvCxnSpPr>
            <a:cxnSpLocks/>
          </p:cNvCxnSpPr>
          <p:nvPr/>
        </p:nvCxnSpPr>
        <p:spPr>
          <a:xfrm>
            <a:off x="5676989" y="1022122"/>
            <a:ext cx="37347" cy="5835877"/>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EA62042-8A90-44D5-BC03-B2CF93BED828}"/>
              </a:ext>
            </a:extLst>
          </p:cNvPr>
          <p:cNvSpPr txBox="1"/>
          <p:nvPr/>
        </p:nvSpPr>
        <p:spPr>
          <a:xfrm>
            <a:off x="5813795" y="1924908"/>
            <a:ext cx="1585471" cy="1046440"/>
          </a:xfrm>
          <a:prstGeom prst="rect">
            <a:avLst/>
          </a:prstGeom>
          <a:noFill/>
        </p:spPr>
        <p:txBody>
          <a:bodyPr wrap="square" rtlCol="0">
            <a:spAutoFit/>
          </a:bodyPr>
          <a:lstStyle/>
          <a:p>
            <a:r>
              <a:rPr lang="en-US" sz="1200" dirty="0"/>
              <a:t>The element on the L+1 is necessarily greater than the pivot. Otherwise we would be in case_1</a:t>
            </a:r>
          </a:p>
        </p:txBody>
      </p:sp>
      <p:pic>
        <p:nvPicPr>
          <p:cNvPr id="20" name="Picture 19">
            <a:extLst>
              <a:ext uri="{FF2B5EF4-FFF2-40B4-BE49-F238E27FC236}">
                <a16:creationId xmlns:a16="http://schemas.microsoft.com/office/drawing/2014/main" id="{C479A862-C628-4E73-BC18-973E636BCE78}"/>
              </a:ext>
            </a:extLst>
          </p:cNvPr>
          <p:cNvPicPr>
            <a:picLocks noChangeAspect="1"/>
          </p:cNvPicPr>
          <p:nvPr/>
        </p:nvPicPr>
        <p:blipFill>
          <a:blip r:embed="rId4"/>
          <a:stretch>
            <a:fillRect/>
          </a:stretch>
        </p:blipFill>
        <p:spPr>
          <a:xfrm>
            <a:off x="7328626" y="2081290"/>
            <a:ext cx="938737" cy="701206"/>
          </a:xfrm>
          <a:prstGeom prst="rect">
            <a:avLst/>
          </a:prstGeom>
        </p:spPr>
      </p:pic>
      <p:sp>
        <p:nvSpPr>
          <p:cNvPr id="21" name="TextBox 20">
            <a:extLst>
              <a:ext uri="{FF2B5EF4-FFF2-40B4-BE49-F238E27FC236}">
                <a16:creationId xmlns:a16="http://schemas.microsoft.com/office/drawing/2014/main" id="{FD708A02-1BED-44BA-A8EF-FEC2445C3DC5}"/>
              </a:ext>
            </a:extLst>
          </p:cNvPr>
          <p:cNvSpPr txBox="1"/>
          <p:nvPr/>
        </p:nvSpPr>
        <p:spPr>
          <a:xfrm>
            <a:off x="8465559" y="1954682"/>
            <a:ext cx="1732896" cy="830997"/>
          </a:xfrm>
          <a:prstGeom prst="rect">
            <a:avLst/>
          </a:prstGeom>
          <a:noFill/>
        </p:spPr>
        <p:txBody>
          <a:bodyPr wrap="square" rtlCol="0">
            <a:spAutoFit/>
          </a:bodyPr>
          <a:lstStyle/>
          <a:p>
            <a:r>
              <a:rPr lang="en-US" sz="1200" dirty="0"/>
              <a:t>The element on the R is necessarily smaller than the pivot. Otherwise we would be in case_2</a:t>
            </a:r>
          </a:p>
        </p:txBody>
      </p:sp>
      <p:pic>
        <p:nvPicPr>
          <p:cNvPr id="23" name="Picture 22">
            <a:extLst>
              <a:ext uri="{FF2B5EF4-FFF2-40B4-BE49-F238E27FC236}">
                <a16:creationId xmlns:a16="http://schemas.microsoft.com/office/drawing/2014/main" id="{E137BD99-82B1-4D55-9651-9B76BAE1ADF5}"/>
              </a:ext>
            </a:extLst>
          </p:cNvPr>
          <p:cNvPicPr>
            <a:picLocks noChangeAspect="1"/>
          </p:cNvPicPr>
          <p:nvPr/>
        </p:nvPicPr>
        <p:blipFill>
          <a:blip r:embed="rId5"/>
          <a:stretch>
            <a:fillRect/>
          </a:stretch>
        </p:blipFill>
        <p:spPr>
          <a:xfrm>
            <a:off x="10198455" y="2081290"/>
            <a:ext cx="1183813" cy="701206"/>
          </a:xfrm>
          <a:prstGeom prst="rect">
            <a:avLst/>
          </a:prstGeom>
        </p:spPr>
      </p:pic>
      <p:cxnSp>
        <p:nvCxnSpPr>
          <p:cNvPr id="25" name="Straight Connector 24">
            <a:extLst>
              <a:ext uri="{FF2B5EF4-FFF2-40B4-BE49-F238E27FC236}">
                <a16:creationId xmlns:a16="http://schemas.microsoft.com/office/drawing/2014/main" id="{FF4CFB02-9791-48D4-87FA-E037177492F5}"/>
              </a:ext>
            </a:extLst>
          </p:cNvPr>
          <p:cNvCxnSpPr/>
          <p:nvPr/>
        </p:nvCxnSpPr>
        <p:spPr>
          <a:xfrm>
            <a:off x="8437357" y="1838853"/>
            <a:ext cx="0" cy="1132495"/>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F431775-F059-4226-9352-1A869D0D9F86}"/>
              </a:ext>
            </a:extLst>
          </p:cNvPr>
          <p:cNvSpPr txBox="1"/>
          <p:nvPr/>
        </p:nvSpPr>
        <p:spPr>
          <a:xfrm>
            <a:off x="5821465" y="3217540"/>
            <a:ext cx="1964552" cy="276999"/>
          </a:xfrm>
          <a:prstGeom prst="rect">
            <a:avLst/>
          </a:prstGeom>
          <a:noFill/>
        </p:spPr>
        <p:txBody>
          <a:bodyPr wrap="square" rtlCol="0">
            <a:spAutoFit/>
          </a:bodyPr>
          <a:lstStyle/>
          <a:p>
            <a:r>
              <a:rPr lang="en-US" sz="1200" dirty="0"/>
              <a:t>We swap these two elements</a:t>
            </a:r>
          </a:p>
        </p:txBody>
      </p:sp>
      <p:pic>
        <p:nvPicPr>
          <p:cNvPr id="29" name="Picture 28">
            <a:extLst>
              <a:ext uri="{FF2B5EF4-FFF2-40B4-BE49-F238E27FC236}">
                <a16:creationId xmlns:a16="http://schemas.microsoft.com/office/drawing/2014/main" id="{5BE2F055-614D-4384-873E-4467D7EEC0CC}"/>
              </a:ext>
            </a:extLst>
          </p:cNvPr>
          <p:cNvPicPr>
            <a:picLocks noChangeAspect="1"/>
          </p:cNvPicPr>
          <p:nvPr/>
        </p:nvPicPr>
        <p:blipFill>
          <a:blip r:embed="rId6"/>
          <a:stretch>
            <a:fillRect/>
          </a:stretch>
        </p:blipFill>
        <p:spPr>
          <a:xfrm>
            <a:off x="7797994" y="3033502"/>
            <a:ext cx="1538766" cy="595043"/>
          </a:xfrm>
          <a:prstGeom prst="rect">
            <a:avLst/>
          </a:prstGeom>
        </p:spPr>
      </p:pic>
      <p:sp>
        <p:nvSpPr>
          <p:cNvPr id="38" name="TextBox 37">
            <a:extLst>
              <a:ext uri="{FF2B5EF4-FFF2-40B4-BE49-F238E27FC236}">
                <a16:creationId xmlns:a16="http://schemas.microsoft.com/office/drawing/2014/main" id="{17675E93-2C41-464A-8734-3784A14B341B}"/>
              </a:ext>
            </a:extLst>
          </p:cNvPr>
          <p:cNvSpPr txBox="1"/>
          <p:nvPr/>
        </p:nvSpPr>
        <p:spPr>
          <a:xfrm>
            <a:off x="5821465" y="1531076"/>
            <a:ext cx="5097547" cy="307777"/>
          </a:xfrm>
          <a:prstGeom prst="rect">
            <a:avLst/>
          </a:prstGeom>
          <a:noFill/>
        </p:spPr>
        <p:txBody>
          <a:bodyPr wrap="square" rtlCol="0">
            <a:spAutoFit/>
          </a:bodyPr>
          <a:lstStyle/>
          <a:p>
            <a:r>
              <a:rPr lang="en-US" sz="1400" b="1" dirty="0"/>
              <a:t>Case_3</a:t>
            </a:r>
            <a:r>
              <a:rPr lang="en-US" sz="1400" dirty="0"/>
              <a:t>: The segment L-R doesn’t decrease, so we follow 1 &amp; 2 steps</a:t>
            </a:r>
          </a:p>
        </p:txBody>
      </p:sp>
      <p:pic>
        <p:nvPicPr>
          <p:cNvPr id="40" name="Picture 39">
            <a:extLst>
              <a:ext uri="{FF2B5EF4-FFF2-40B4-BE49-F238E27FC236}">
                <a16:creationId xmlns:a16="http://schemas.microsoft.com/office/drawing/2014/main" id="{F120A2E3-AB68-4D29-892B-6641BBC7F1EF}"/>
              </a:ext>
            </a:extLst>
          </p:cNvPr>
          <p:cNvPicPr>
            <a:picLocks noChangeAspect="1"/>
          </p:cNvPicPr>
          <p:nvPr/>
        </p:nvPicPr>
        <p:blipFill>
          <a:blip r:embed="rId7"/>
          <a:stretch>
            <a:fillRect/>
          </a:stretch>
        </p:blipFill>
        <p:spPr>
          <a:xfrm>
            <a:off x="9843502" y="3033502"/>
            <a:ext cx="1538766" cy="595043"/>
          </a:xfrm>
          <a:prstGeom prst="rect">
            <a:avLst/>
          </a:prstGeom>
        </p:spPr>
      </p:pic>
      <p:sp>
        <p:nvSpPr>
          <p:cNvPr id="41" name="TextBox 40">
            <a:extLst>
              <a:ext uri="{FF2B5EF4-FFF2-40B4-BE49-F238E27FC236}">
                <a16:creationId xmlns:a16="http://schemas.microsoft.com/office/drawing/2014/main" id="{3262028B-136B-4941-8165-6686F00DE653}"/>
              </a:ext>
            </a:extLst>
          </p:cNvPr>
          <p:cNvSpPr txBox="1"/>
          <p:nvPr/>
        </p:nvSpPr>
        <p:spPr>
          <a:xfrm>
            <a:off x="9395254" y="3125206"/>
            <a:ext cx="463288" cy="461665"/>
          </a:xfrm>
          <a:prstGeom prst="rect">
            <a:avLst/>
          </a:prstGeom>
          <a:noFill/>
        </p:spPr>
        <p:txBody>
          <a:bodyPr wrap="square" rtlCol="0">
            <a:spAutoFit/>
          </a:bodyPr>
          <a:lstStyle/>
          <a:p>
            <a:r>
              <a:rPr lang="en-US" sz="1200" dirty="0"/>
              <a:t>We get</a:t>
            </a:r>
          </a:p>
        </p:txBody>
      </p:sp>
      <p:sp>
        <p:nvSpPr>
          <p:cNvPr id="42" name="TextBox 41">
            <a:extLst>
              <a:ext uri="{FF2B5EF4-FFF2-40B4-BE49-F238E27FC236}">
                <a16:creationId xmlns:a16="http://schemas.microsoft.com/office/drawing/2014/main" id="{D50C017A-EA3A-4610-AD3C-11035B3EB3A6}"/>
              </a:ext>
            </a:extLst>
          </p:cNvPr>
          <p:cNvSpPr txBox="1"/>
          <p:nvPr/>
        </p:nvSpPr>
        <p:spPr>
          <a:xfrm>
            <a:off x="5821465" y="3940060"/>
            <a:ext cx="5411774" cy="276999"/>
          </a:xfrm>
          <a:prstGeom prst="rect">
            <a:avLst/>
          </a:prstGeom>
          <a:noFill/>
        </p:spPr>
        <p:txBody>
          <a:bodyPr wrap="square" rtlCol="0">
            <a:spAutoFit/>
          </a:bodyPr>
          <a:lstStyle/>
          <a:p>
            <a:r>
              <a:rPr lang="en-US" sz="1200" dirty="0"/>
              <a:t>The size of segment remains same, we follow step1, 2 &amp; 3 to shrink the segment</a:t>
            </a:r>
          </a:p>
        </p:txBody>
      </p:sp>
      <p:pic>
        <p:nvPicPr>
          <p:cNvPr id="44" name="Picture 43">
            <a:extLst>
              <a:ext uri="{FF2B5EF4-FFF2-40B4-BE49-F238E27FC236}">
                <a16:creationId xmlns:a16="http://schemas.microsoft.com/office/drawing/2014/main" id="{17147993-805A-43E7-BFAC-0D1A6D830311}"/>
              </a:ext>
            </a:extLst>
          </p:cNvPr>
          <p:cNvPicPr>
            <a:picLocks noChangeAspect="1"/>
          </p:cNvPicPr>
          <p:nvPr/>
        </p:nvPicPr>
        <p:blipFill>
          <a:blip r:embed="rId8"/>
          <a:stretch>
            <a:fillRect/>
          </a:stretch>
        </p:blipFill>
        <p:spPr>
          <a:xfrm>
            <a:off x="5889928" y="4309483"/>
            <a:ext cx="1677531" cy="558268"/>
          </a:xfrm>
          <a:prstGeom prst="rect">
            <a:avLst/>
          </a:prstGeom>
        </p:spPr>
      </p:pic>
      <p:pic>
        <p:nvPicPr>
          <p:cNvPr id="46" name="Picture 45">
            <a:extLst>
              <a:ext uri="{FF2B5EF4-FFF2-40B4-BE49-F238E27FC236}">
                <a16:creationId xmlns:a16="http://schemas.microsoft.com/office/drawing/2014/main" id="{022909CC-3AD7-430E-9348-4E0E531D4865}"/>
              </a:ext>
            </a:extLst>
          </p:cNvPr>
          <p:cNvPicPr>
            <a:picLocks noChangeAspect="1"/>
          </p:cNvPicPr>
          <p:nvPr/>
        </p:nvPicPr>
        <p:blipFill>
          <a:blip r:embed="rId9"/>
          <a:stretch>
            <a:fillRect/>
          </a:stretch>
        </p:blipFill>
        <p:spPr>
          <a:xfrm>
            <a:off x="7797994" y="4309483"/>
            <a:ext cx="1677700" cy="558268"/>
          </a:xfrm>
          <a:prstGeom prst="rect">
            <a:avLst/>
          </a:prstGeom>
        </p:spPr>
      </p:pic>
      <p:pic>
        <p:nvPicPr>
          <p:cNvPr id="48" name="Picture 47">
            <a:extLst>
              <a:ext uri="{FF2B5EF4-FFF2-40B4-BE49-F238E27FC236}">
                <a16:creationId xmlns:a16="http://schemas.microsoft.com/office/drawing/2014/main" id="{DAA8F24E-9AB0-406A-B694-4C9CFED4C82C}"/>
              </a:ext>
            </a:extLst>
          </p:cNvPr>
          <p:cNvPicPr>
            <a:picLocks noChangeAspect="1"/>
          </p:cNvPicPr>
          <p:nvPr/>
        </p:nvPicPr>
        <p:blipFill>
          <a:blip r:embed="rId10"/>
          <a:stretch>
            <a:fillRect/>
          </a:stretch>
        </p:blipFill>
        <p:spPr>
          <a:xfrm>
            <a:off x="9706060" y="4317135"/>
            <a:ext cx="1676208" cy="558268"/>
          </a:xfrm>
          <a:prstGeom prst="rect">
            <a:avLst/>
          </a:prstGeom>
        </p:spPr>
      </p:pic>
      <p:sp>
        <p:nvSpPr>
          <p:cNvPr id="49" name="TextBox 48">
            <a:extLst>
              <a:ext uri="{FF2B5EF4-FFF2-40B4-BE49-F238E27FC236}">
                <a16:creationId xmlns:a16="http://schemas.microsoft.com/office/drawing/2014/main" id="{588880B6-B5DB-4EF5-9648-67368FFBC0B5}"/>
              </a:ext>
            </a:extLst>
          </p:cNvPr>
          <p:cNvSpPr txBox="1"/>
          <p:nvPr/>
        </p:nvSpPr>
        <p:spPr>
          <a:xfrm>
            <a:off x="5889928" y="4960175"/>
            <a:ext cx="5573022" cy="461665"/>
          </a:xfrm>
          <a:prstGeom prst="rect">
            <a:avLst/>
          </a:prstGeom>
          <a:noFill/>
        </p:spPr>
        <p:txBody>
          <a:bodyPr wrap="square" rtlCol="0">
            <a:spAutoFit/>
          </a:bodyPr>
          <a:lstStyle/>
          <a:p>
            <a:r>
              <a:rPr lang="en-US" sz="1200" dirty="0"/>
              <a:t>We keep applying one of the three steps until the segment L-R reduces to a single element which is necessarily the pivot and partitioning is done and the pivot is in it’s final position</a:t>
            </a:r>
          </a:p>
        </p:txBody>
      </p:sp>
      <p:pic>
        <p:nvPicPr>
          <p:cNvPr id="51" name="Picture 50">
            <a:extLst>
              <a:ext uri="{FF2B5EF4-FFF2-40B4-BE49-F238E27FC236}">
                <a16:creationId xmlns:a16="http://schemas.microsoft.com/office/drawing/2014/main" id="{24A9F276-1C42-48DF-8BF3-285C479351C8}"/>
              </a:ext>
            </a:extLst>
          </p:cNvPr>
          <p:cNvPicPr>
            <a:picLocks noChangeAspect="1"/>
          </p:cNvPicPr>
          <p:nvPr/>
        </p:nvPicPr>
        <p:blipFill>
          <a:blip r:embed="rId11"/>
          <a:stretch>
            <a:fillRect/>
          </a:stretch>
        </p:blipFill>
        <p:spPr>
          <a:xfrm>
            <a:off x="6864795" y="5484704"/>
            <a:ext cx="3145124" cy="643040"/>
          </a:xfrm>
          <a:prstGeom prst="rect">
            <a:avLst/>
          </a:prstGeom>
        </p:spPr>
      </p:pic>
    </p:spTree>
    <p:extLst>
      <p:ext uri="{BB962C8B-B14F-4D97-AF65-F5344CB8AC3E}">
        <p14:creationId xmlns:p14="http://schemas.microsoft.com/office/powerpoint/2010/main" val="304585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7543312-E695-4BE8-B18A-3ABE32F8543F}"/>
              </a:ext>
            </a:extLst>
          </p:cNvPr>
          <p:cNvSpPr txBox="1"/>
          <p:nvPr/>
        </p:nvSpPr>
        <p:spPr>
          <a:xfrm>
            <a:off x="729049" y="791290"/>
            <a:ext cx="5366951" cy="461665"/>
          </a:xfrm>
          <a:prstGeom prst="rect">
            <a:avLst/>
          </a:prstGeom>
          <a:noFill/>
        </p:spPr>
        <p:txBody>
          <a:bodyPr wrap="square" rtlCol="0">
            <a:spAutoFit/>
          </a:bodyPr>
          <a:lstStyle/>
          <a:p>
            <a:r>
              <a:rPr lang="en-US" sz="2400" dirty="0"/>
              <a:t>Quick Select : Step by Step Walkthrough </a:t>
            </a:r>
          </a:p>
        </p:txBody>
      </p:sp>
      <p:sp>
        <p:nvSpPr>
          <p:cNvPr id="5" name="TextBox 4">
            <a:extLst>
              <a:ext uri="{FF2B5EF4-FFF2-40B4-BE49-F238E27FC236}">
                <a16:creationId xmlns:a16="http://schemas.microsoft.com/office/drawing/2014/main" id="{B3FDA469-2262-4CDF-B123-C474DF0D03A8}"/>
              </a:ext>
            </a:extLst>
          </p:cNvPr>
          <p:cNvSpPr txBox="1"/>
          <p:nvPr/>
        </p:nvSpPr>
        <p:spPr>
          <a:xfrm>
            <a:off x="729049" y="1658471"/>
            <a:ext cx="3478306" cy="400110"/>
          </a:xfrm>
          <a:prstGeom prst="rect">
            <a:avLst/>
          </a:prstGeom>
          <a:noFill/>
          <a:ln>
            <a:solidFill>
              <a:schemeClr val="tx1"/>
            </a:solidFill>
          </a:ln>
        </p:spPr>
        <p:txBody>
          <a:bodyPr wrap="square" rtlCol="0">
            <a:spAutoFit/>
          </a:bodyPr>
          <a:lstStyle/>
          <a:p>
            <a:r>
              <a:rPr lang="en-US" sz="2000" dirty="0"/>
              <a:t>Determining the pivot’s position</a:t>
            </a:r>
            <a:endParaRPr lang="en-US" dirty="0"/>
          </a:p>
        </p:txBody>
      </p:sp>
      <p:sp>
        <p:nvSpPr>
          <p:cNvPr id="6" name="TextBox 5">
            <a:extLst>
              <a:ext uri="{FF2B5EF4-FFF2-40B4-BE49-F238E27FC236}">
                <a16:creationId xmlns:a16="http://schemas.microsoft.com/office/drawing/2014/main" id="{82E34905-D0DE-4C5A-93F9-034DB9F52EDF}"/>
              </a:ext>
            </a:extLst>
          </p:cNvPr>
          <p:cNvSpPr txBox="1"/>
          <p:nvPr/>
        </p:nvSpPr>
        <p:spPr>
          <a:xfrm>
            <a:off x="729049" y="2447365"/>
            <a:ext cx="1915539" cy="276999"/>
          </a:xfrm>
          <a:prstGeom prst="rect">
            <a:avLst/>
          </a:prstGeom>
          <a:noFill/>
        </p:spPr>
        <p:txBody>
          <a:bodyPr wrap="square" rtlCol="0">
            <a:spAutoFit/>
          </a:bodyPr>
          <a:lstStyle/>
          <a:p>
            <a:r>
              <a:rPr lang="en-US" sz="1200" dirty="0"/>
              <a:t>Let us consider the input k</a:t>
            </a:r>
          </a:p>
        </p:txBody>
      </p:sp>
      <p:sp>
        <p:nvSpPr>
          <p:cNvPr id="7" name="TextBox 6">
            <a:extLst>
              <a:ext uri="{FF2B5EF4-FFF2-40B4-BE49-F238E27FC236}">
                <a16:creationId xmlns:a16="http://schemas.microsoft.com/office/drawing/2014/main" id="{52CE9652-9764-4DCD-9CB9-DAE6EC29FD14}"/>
              </a:ext>
            </a:extLst>
          </p:cNvPr>
          <p:cNvSpPr txBox="1"/>
          <p:nvPr/>
        </p:nvSpPr>
        <p:spPr>
          <a:xfrm>
            <a:off x="824753" y="2913529"/>
            <a:ext cx="3119718" cy="461665"/>
          </a:xfrm>
          <a:prstGeom prst="rect">
            <a:avLst/>
          </a:prstGeom>
          <a:noFill/>
        </p:spPr>
        <p:txBody>
          <a:bodyPr wrap="square" rtlCol="0">
            <a:spAutoFit/>
          </a:bodyPr>
          <a:lstStyle/>
          <a:p>
            <a:pPr marL="171450" indent="-171450">
              <a:buFont typeface="Wingdings" panose="05000000000000000000" pitchFamily="2" charset="2"/>
              <a:buChar char="Ø"/>
            </a:pPr>
            <a:r>
              <a:rPr lang="en-US" sz="1200" dirty="0"/>
              <a:t>If the pivot ends up exactly in k-</a:t>
            </a:r>
            <a:r>
              <a:rPr lang="en-US" sz="1200" dirty="0" err="1"/>
              <a:t>th</a:t>
            </a:r>
            <a:r>
              <a:rPr lang="en-US" sz="1200" dirty="0"/>
              <a:t> position then the pivot is the kth smallest element</a:t>
            </a:r>
          </a:p>
        </p:txBody>
      </p:sp>
      <p:pic>
        <p:nvPicPr>
          <p:cNvPr id="9" name="Picture 8">
            <a:extLst>
              <a:ext uri="{FF2B5EF4-FFF2-40B4-BE49-F238E27FC236}">
                <a16:creationId xmlns:a16="http://schemas.microsoft.com/office/drawing/2014/main" id="{0D808740-CD9F-44FB-9242-5A1AE6DE9A20}"/>
              </a:ext>
            </a:extLst>
          </p:cNvPr>
          <p:cNvPicPr>
            <a:picLocks noChangeAspect="1"/>
          </p:cNvPicPr>
          <p:nvPr/>
        </p:nvPicPr>
        <p:blipFill>
          <a:blip r:embed="rId2"/>
          <a:stretch>
            <a:fillRect/>
          </a:stretch>
        </p:blipFill>
        <p:spPr>
          <a:xfrm>
            <a:off x="905435" y="3623563"/>
            <a:ext cx="3478306" cy="746091"/>
          </a:xfrm>
          <a:prstGeom prst="rect">
            <a:avLst/>
          </a:prstGeom>
        </p:spPr>
      </p:pic>
      <p:sp>
        <p:nvSpPr>
          <p:cNvPr id="10" name="TextBox 9">
            <a:extLst>
              <a:ext uri="{FF2B5EF4-FFF2-40B4-BE49-F238E27FC236}">
                <a16:creationId xmlns:a16="http://schemas.microsoft.com/office/drawing/2014/main" id="{BCD730B9-0CDC-4453-8171-3EC81EE6EBB4}"/>
              </a:ext>
            </a:extLst>
          </p:cNvPr>
          <p:cNvSpPr txBox="1"/>
          <p:nvPr/>
        </p:nvSpPr>
        <p:spPr>
          <a:xfrm>
            <a:off x="5364043" y="2262698"/>
            <a:ext cx="3119718" cy="646331"/>
          </a:xfrm>
          <a:prstGeom prst="rect">
            <a:avLst/>
          </a:prstGeom>
          <a:noFill/>
        </p:spPr>
        <p:txBody>
          <a:bodyPr wrap="square" rtlCol="0">
            <a:spAutoFit/>
          </a:bodyPr>
          <a:lstStyle/>
          <a:p>
            <a:pPr marL="171450" indent="-171450">
              <a:buFont typeface="Wingdings" panose="05000000000000000000" pitchFamily="2" charset="2"/>
              <a:buChar char="Ø"/>
            </a:pPr>
            <a:r>
              <a:rPr lang="en-US" sz="1200" dirty="0"/>
              <a:t>If k is smaller than the position of the pivot , then we apply the quick select algorithm recursively on the subarray to left of the pivot</a:t>
            </a:r>
          </a:p>
        </p:txBody>
      </p:sp>
      <p:cxnSp>
        <p:nvCxnSpPr>
          <p:cNvPr id="12" name="Straight Connector 11">
            <a:extLst>
              <a:ext uri="{FF2B5EF4-FFF2-40B4-BE49-F238E27FC236}">
                <a16:creationId xmlns:a16="http://schemas.microsoft.com/office/drawing/2014/main" id="{2CB5768F-4873-484E-9090-48ED5AE5F4F7}"/>
              </a:ext>
            </a:extLst>
          </p:cNvPr>
          <p:cNvCxnSpPr>
            <a:cxnSpLocks/>
          </p:cNvCxnSpPr>
          <p:nvPr/>
        </p:nvCxnSpPr>
        <p:spPr>
          <a:xfrm>
            <a:off x="5100918" y="1568824"/>
            <a:ext cx="0" cy="2895600"/>
          </a:xfrm>
          <a:prstGeom prst="line">
            <a:avLst/>
          </a:prstGeom>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BE17BDAE-0288-40BE-8D2A-A741A70F917E}"/>
              </a:ext>
            </a:extLst>
          </p:cNvPr>
          <p:cNvPicPr>
            <a:picLocks noChangeAspect="1"/>
          </p:cNvPicPr>
          <p:nvPr/>
        </p:nvPicPr>
        <p:blipFill>
          <a:blip r:embed="rId3"/>
          <a:stretch>
            <a:fillRect/>
          </a:stretch>
        </p:blipFill>
        <p:spPr>
          <a:xfrm>
            <a:off x="8483761" y="2235803"/>
            <a:ext cx="2979190" cy="746091"/>
          </a:xfrm>
          <a:prstGeom prst="rect">
            <a:avLst/>
          </a:prstGeom>
        </p:spPr>
      </p:pic>
      <p:sp>
        <p:nvSpPr>
          <p:cNvPr id="15" name="TextBox 14">
            <a:extLst>
              <a:ext uri="{FF2B5EF4-FFF2-40B4-BE49-F238E27FC236}">
                <a16:creationId xmlns:a16="http://schemas.microsoft.com/office/drawing/2014/main" id="{706327C8-38B4-4551-A227-1BC152725AC2}"/>
              </a:ext>
            </a:extLst>
          </p:cNvPr>
          <p:cNvSpPr txBox="1"/>
          <p:nvPr/>
        </p:nvSpPr>
        <p:spPr>
          <a:xfrm>
            <a:off x="5364043" y="3460608"/>
            <a:ext cx="3119718" cy="830997"/>
          </a:xfrm>
          <a:prstGeom prst="rect">
            <a:avLst/>
          </a:prstGeom>
          <a:noFill/>
        </p:spPr>
        <p:txBody>
          <a:bodyPr wrap="square" rtlCol="0">
            <a:spAutoFit/>
          </a:bodyPr>
          <a:lstStyle/>
          <a:p>
            <a:pPr marL="171450" indent="-171450">
              <a:buFont typeface="Wingdings" panose="05000000000000000000" pitchFamily="2" charset="2"/>
              <a:buChar char="Ø"/>
            </a:pPr>
            <a:r>
              <a:rPr lang="en-US" sz="1200" dirty="0"/>
              <a:t>If k is larger than the position of the pivot , then we apply the quick select algorithm recursively on the subarray to right of the pivot</a:t>
            </a:r>
          </a:p>
        </p:txBody>
      </p:sp>
      <p:pic>
        <p:nvPicPr>
          <p:cNvPr id="17" name="Picture 16">
            <a:extLst>
              <a:ext uri="{FF2B5EF4-FFF2-40B4-BE49-F238E27FC236}">
                <a16:creationId xmlns:a16="http://schemas.microsoft.com/office/drawing/2014/main" id="{AC067C63-20FE-4E86-A5B9-899347EF1D5C}"/>
              </a:ext>
            </a:extLst>
          </p:cNvPr>
          <p:cNvPicPr>
            <a:picLocks noChangeAspect="1"/>
          </p:cNvPicPr>
          <p:nvPr/>
        </p:nvPicPr>
        <p:blipFill>
          <a:blip r:embed="rId4"/>
          <a:stretch>
            <a:fillRect/>
          </a:stretch>
        </p:blipFill>
        <p:spPr>
          <a:xfrm>
            <a:off x="8483761" y="3533473"/>
            <a:ext cx="1693127" cy="830997"/>
          </a:xfrm>
          <a:prstGeom prst="rect">
            <a:avLst/>
          </a:prstGeom>
        </p:spPr>
      </p:pic>
      <p:sp>
        <p:nvSpPr>
          <p:cNvPr id="19" name="TextBox 18">
            <a:extLst>
              <a:ext uri="{FF2B5EF4-FFF2-40B4-BE49-F238E27FC236}">
                <a16:creationId xmlns:a16="http://schemas.microsoft.com/office/drawing/2014/main" id="{74D8F6B5-CD00-424D-9177-FF16A76A57A4}"/>
              </a:ext>
            </a:extLst>
          </p:cNvPr>
          <p:cNvSpPr txBox="1"/>
          <p:nvPr/>
        </p:nvSpPr>
        <p:spPr>
          <a:xfrm>
            <a:off x="905435" y="4984376"/>
            <a:ext cx="7987553" cy="523220"/>
          </a:xfrm>
          <a:prstGeom prst="rect">
            <a:avLst/>
          </a:prstGeom>
          <a:noFill/>
          <a:ln>
            <a:solidFill>
              <a:schemeClr val="tx1"/>
            </a:solidFill>
          </a:ln>
        </p:spPr>
        <p:txBody>
          <a:bodyPr wrap="square" rtlCol="0">
            <a:spAutoFit/>
          </a:bodyPr>
          <a:lstStyle/>
          <a:p>
            <a:r>
              <a:rPr lang="en-US" sz="1400" dirty="0"/>
              <a:t>Recursion ends when the pivot is exactly the element we are looking for as recursion stops when it hits a subarray of size 1</a:t>
            </a:r>
          </a:p>
        </p:txBody>
      </p:sp>
    </p:spTree>
    <p:extLst>
      <p:ext uri="{BB962C8B-B14F-4D97-AF65-F5344CB8AC3E}">
        <p14:creationId xmlns:p14="http://schemas.microsoft.com/office/powerpoint/2010/main" val="4078718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22</a:t>
            </a:fld>
            <a:endParaRPr lang="en-US" dirty="0"/>
          </a:p>
        </p:txBody>
      </p:sp>
      <p:sp>
        <p:nvSpPr>
          <p:cNvPr id="16" name="TextBox 15">
            <a:extLst>
              <a:ext uri="{FF2B5EF4-FFF2-40B4-BE49-F238E27FC236}">
                <a16:creationId xmlns:a16="http://schemas.microsoft.com/office/drawing/2014/main" id="{2ACABE34-EE4C-42AD-95AF-2676057A2970}"/>
              </a:ext>
            </a:extLst>
          </p:cNvPr>
          <p:cNvSpPr txBox="1"/>
          <p:nvPr/>
        </p:nvSpPr>
        <p:spPr>
          <a:xfrm>
            <a:off x="729049" y="791290"/>
            <a:ext cx="5366951" cy="461665"/>
          </a:xfrm>
          <a:prstGeom prst="rect">
            <a:avLst/>
          </a:prstGeom>
          <a:noFill/>
        </p:spPr>
        <p:txBody>
          <a:bodyPr wrap="square" rtlCol="0">
            <a:spAutoFit/>
          </a:bodyPr>
          <a:lstStyle/>
          <a:p>
            <a:r>
              <a:rPr lang="en-US" sz="2400" dirty="0"/>
              <a:t>Quick Select : Time Complexity Analysis</a:t>
            </a:r>
          </a:p>
        </p:txBody>
      </p:sp>
      <p:sp>
        <p:nvSpPr>
          <p:cNvPr id="19" name="TextBox 18">
            <a:extLst>
              <a:ext uri="{FF2B5EF4-FFF2-40B4-BE49-F238E27FC236}">
                <a16:creationId xmlns:a16="http://schemas.microsoft.com/office/drawing/2014/main" id="{0EFC4ABE-3DCD-4616-942A-949A1E19C625}"/>
              </a:ext>
            </a:extLst>
          </p:cNvPr>
          <p:cNvSpPr txBox="1"/>
          <p:nvPr/>
        </p:nvSpPr>
        <p:spPr>
          <a:xfrm>
            <a:off x="729049" y="1636888"/>
            <a:ext cx="4210756" cy="369332"/>
          </a:xfrm>
          <a:prstGeom prst="rect">
            <a:avLst/>
          </a:prstGeom>
          <a:noFill/>
        </p:spPr>
        <p:txBody>
          <a:bodyPr wrap="square" rtlCol="0">
            <a:spAutoFit/>
          </a:bodyPr>
          <a:lstStyle/>
          <a:p>
            <a:r>
              <a:rPr lang="en-US" dirty="0"/>
              <a:t>Best Case Time Complexity: </a:t>
            </a:r>
            <a:r>
              <a:rPr lang="en-US" b="1" dirty="0"/>
              <a:t>O(n)</a:t>
            </a:r>
            <a:endParaRPr lang="en-US" dirty="0"/>
          </a:p>
        </p:txBody>
      </p:sp>
      <p:sp>
        <p:nvSpPr>
          <p:cNvPr id="20" name="TextBox 19">
            <a:extLst>
              <a:ext uri="{FF2B5EF4-FFF2-40B4-BE49-F238E27FC236}">
                <a16:creationId xmlns:a16="http://schemas.microsoft.com/office/drawing/2014/main" id="{FB86D283-079E-4107-A032-CD13D2F96C2E}"/>
              </a:ext>
            </a:extLst>
          </p:cNvPr>
          <p:cNvSpPr txBox="1"/>
          <p:nvPr/>
        </p:nvSpPr>
        <p:spPr>
          <a:xfrm>
            <a:off x="729049" y="2435309"/>
            <a:ext cx="7778045" cy="584775"/>
          </a:xfrm>
          <a:prstGeom prst="rect">
            <a:avLst/>
          </a:prstGeom>
          <a:noFill/>
        </p:spPr>
        <p:txBody>
          <a:bodyPr wrap="square" rtlCol="0">
            <a:spAutoFit/>
          </a:bodyPr>
          <a:lstStyle/>
          <a:p>
            <a:r>
              <a:rPr lang="en-US" sz="1600" dirty="0"/>
              <a:t>Best case occurs when the pivot selection results in a near-equal partition. The number of elements on each side of the pivot in nearly the same, meaning the recursion depth is minimized</a:t>
            </a:r>
          </a:p>
        </p:txBody>
      </p:sp>
      <p:sp>
        <p:nvSpPr>
          <p:cNvPr id="21" name="TextBox 20">
            <a:extLst>
              <a:ext uri="{FF2B5EF4-FFF2-40B4-BE49-F238E27FC236}">
                <a16:creationId xmlns:a16="http://schemas.microsoft.com/office/drawing/2014/main" id="{72602B31-1C71-4EB9-A9DF-4308DBB4B4AD}"/>
              </a:ext>
            </a:extLst>
          </p:cNvPr>
          <p:cNvSpPr txBox="1"/>
          <p:nvPr/>
        </p:nvSpPr>
        <p:spPr>
          <a:xfrm>
            <a:off x="729050" y="3449173"/>
            <a:ext cx="6495840" cy="2308324"/>
          </a:xfrm>
          <a:prstGeom prst="rect">
            <a:avLst/>
          </a:prstGeom>
          <a:noFill/>
        </p:spPr>
        <p:txBody>
          <a:bodyPr wrap="square" rtlCol="0">
            <a:spAutoFit/>
          </a:bodyPr>
          <a:lstStyle/>
          <a:p>
            <a:r>
              <a:rPr lang="en-US" sz="1600" dirty="0"/>
              <a:t>For example:</a:t>
            </a:r>
          </a:p>
          <a:p>
            <a:pPr marL="285750" indent="-285750">
              <a:buFont typeface="Arial" panose="020B0604020202020204" pitchFamily="34" charset="0"/>
              <a:buChar char="•"/>
            </a:pPr>
            <a:r>
              <a:rPr lang="en-US" sz="1600" dirty="0"/>
              <a:t>After the first partition, the pivot divides the array into two roughly equal parts.</a:t>
            </a:r>
          </a:p>
          <a:p>
            <a:pPr marL="285750" indent="-285750">
              <a:buFont typeface="Arial" panose="020B0604020202020204" pitchFamily="34" charset="0"/>
              <a:buChar char="•"/>
            </a:pPr>
            <a:r>
              <a:rPr lang="en-US" sz="1600" dirty="0"/>
              <a:t>We continue the recursion on the side where the k-</a:t>
            </a:r>
            <a:r>
              <a:rPr lang="en-US" sz="1600" dirty="0" err="1"/>
              <a:t>th</a:t>
            </a:r>
            <a:r>
              <a:rPr lang="en-US" sz="1600" dirty="0"/>
              <a:t> smallest element might be.</a:t>
            </a:r>
          </a:p>
          <a:p>
            <a:r>
              <a:rPr lang="en-US" sz="1600" dirty="0"/>
              <a:t>Since we’re halving the problem size in each step, the number of recursive calls is proportional to log(n), but since we’re dealing with a linear selection i.e., we’re not sorting the entire array, the overall time complexity is still linear: </a:t>
            </a:r>
          </a:p>
          <a:p>
            <a:r>
              <a:rPr lang="en-US" sz="1600" dirty="0"/>
              <a:t>Best Case : O(n)</a:t>
            </a:r>
          </a:p>
        </p:txBody>
      </p:sp>
      <p:pic>
        <p:nvPicPr>
          <p:cNvPr id="23" name="Picture 22">
            <a:extLst>
              <a:ext uri="{FF2B5EF4-FFF2-40B4-BE49-F238E27FC236}">
                <a16:creationId xmlns:a16="http://schemas.microsoft.com/office/drawing/2014/main" id="{29CAEB21-C652-46BC-9B73-CC74F93171CC}"/>
              </a:ext>
            </a:extLst>
          </p:cNvPr>
          <p:cNvPicPr>
            <a:picLocks noChangeAspect="1"/>
          </p:cNvPicPr>
          <p:nvPr/>
        </p:nvPicPr>
        <p:blipFill>
          <a:blip r:embed="rId3"/>
          <a:stretch>
            <a:fillRect/>
          </a:stretch>
        </p:blipFill>
        <p:spPr>
          <a:xfrm>
            <a:off x="7598000" y="3408827"/>
            <a:ext cx="3864952" cy="2314898"/>
          </a:xfrm>
          <a:prstGeom prst="rect">
            <a:avLst/>
          </a:prstGeom>
        </p:spPr>
      </p:pic>
      <p:cxnSp>
        <p:nvCxnSpPr>
          <p:cNvPr id="25" name="Straight Connector 24">
            <a:extLst>
              <a:ext uri="{FF2B5EF4-FFF2-40B4-BE49-F238E27FC236}">
                <a16:creationId xmlns:a16="http://schemas.microsoft.com/office/drawing/2014/main" id="{6FC81CAC-710A-4360-9164-19BE9A971172}"/>
              </a:ext>
            </a:extLst>
          </p:cNvPr>
          <p:cNvCxnSpPr/>
          <p:nvPr/>
        </p:nvCxnSpPr>
        <p:spPr>
          <a:xfrm>
            <a:off x="729049" y="3248378"/>
            <a:ext cx="54864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0106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86C3BBD-2B05-4B92-A005-065A59F6CE63}"/>
              </a:ext>
            </a:extLst>
          </p:cNvPr>
          <p:cNvSpPr>
            <a:spLocks noGrp="1"/>
          </p:cNvSpPr>
          <p:nvPr>
            <p:ph type="sldNum" sz="quarter" idx="4"/>
          </p:nvPr>
        </p:nvSpPr>
        <p:spPr/>
        <p:txBody>
          <a:bodyPr/>
          <a:lstStyle/>
          <a:p>
            <a:fld id="{58FB4751-880F-D840-AAA9-3A15815CC996}" type="slidenum">
              <a:rPr lang="en-US" smtClean="0"/>
              <a:pPr/>
              <a:t>23</a:t>
            </a:fld>
            <a:endParaRPr lang="en-US" dirty="0"/>
          </a:p>
        </p:txBody>
      </p:sp>
      <p:sp>
        <p:nvSpPr>
          <p:cNvPr id="6" name="TextBox 5">
            <a:extLst>
              <a:ext uri="{FF2B5EF4-FFF2-40B4-BE49-F238E27FC236}">
                <a16:creationId xmlns:a16="http://schemas.microsoft.com/office/drawing/2014/main" id="{2A4847C6-5AA6-4E5E-BDB2-800C38D1D4B4}"/>
              </a:ext>
            </a:extLst>
          </p:cNvPr>
          <p:cNvSpPr txBox="1"/>
          <p:nvPr/>
        </p:nvSpPr>
        <p:spPr>
          <a:xfrm>
            <a:off x="729049" y="791290"/>
            <a:ext cx="5366951" cy="461665"/>
          </a:xfrm>
          <a:prstGeom prst="rect">
            <a:avLst/>
          </a:prstGeom>
          <a:noFill/>
        </p:spPr>
        <p:txBody>
          <a:bodyPr wrap="square" rtlCol="0">
            <a:spAutoFit/>
          </a:bodyPr>
          <a:lstStyle/>
          <a:p>
            <a:r>
              <a:rPr lang="en-US" sz="2400" dirty="0"/>
              <a:t>Quick Select : Time Complexity Analysis</a:t>
            </a:r>
          </a:p>
        </p:txBody>
      </p:sp>
      <p:sp>
        <p:nvSpPr>
          <p:cNvPr id="7" name="TextBox 6">
            <a:extLst>
              <a:ext uri="{FF2B5EF4-FFF2-40B4-BE49-F238E27FC236}">
                <a16:creationId xmlns:a16="http://schemas.microsoft.com/office/drawing/2014/main" id="{5D0313D1-F732-482E-9A75-BC39867BFCF6}"/>
              </a:ext>
            </a:extLst>
          </p:cNvPr>
          <p:cNvSpPr txBox="1"/>
          <p:nvPr/>
        </p:nvSpPr>
        <p:spPr>
          <a:xfrm>
            <a:off x="729049" y="1636888"/>
            <a:ext cx="4210756" cy="369332"/>
          </a:xfrm>
          <a:prstGeom prst="rect">
            <a:avLst/>
          </a:prstGeom>
          <a:noFill/>
        </p:spPr>
        <p:txBody>
          <a:bodyPr wrap="square" rtlCol="0">
            <a:spAutoFit/>
          </a:bodyPr>
          <a:lstStyle/>
          <a:p>
            <a:r>
              <a:rPr lang="en-US" dirty="0"/>
              <a:t>Average Case Time Complexity: </a:t>
            </a:r>
            <a:r>
              <a:rPr lang="en-US" b="1" dirty="0"/>
              <a:t>O(n)</a:t>
            </a:r>
            <a:endParaRPr lang="en-US" dirty="0"/>
          </a:p>
        </p:txBody>
      </p:sp>
      <p:sp>
        <p:nvSpPr>
          <p:cNvPr id="9" name="TextBox 8">
            <a:extLst>
              <a:ext uri="{FF2B5EF4-FFF2-40B4-BE49-F238E27FC236}">
                <a16:creationId xmlns:a16="http://schemas.microsoft.com/office/drawing/2014/main" id="{703EA981-B09F-4439-A312-0E03AF8A38EE}"/>
              </a:ext>
            </a:extLst>
          </p:cNvPr>
          <p:cNvSpPr txBox="1"/>
          <p:nvPr/>
        </p:nvSpPr>
        <p:spPr>
          <a:xfrm>
            <a:off x="846667" y="2449689"/>
            <a:ext cx="5439168" cy="2308324"/>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Average case assumes that the pivot is selected randomly, leading to a good balance between the left and right subarrays.</a:t>
            </a:r>
          </a:p>
          <a:p>
            <a:pPr marL="285750" indent="-285750">
              <a:buFont typeface="Arial" panose="020B0604020202020204" pitchFamily="34" charset="0"/>
              <a:buChar char="•"/>
            </a:pPr>
            <a:r>
              <a:rPr lang="en-US" sz="1600" dirty="0"/>
              <a:t>In most cases, the pivot will split the array into subarrays of size approximately n/2 each, resulting in a recursive call on just one of the subarrays.</a:t>
            </a:r>
          </a:p>
          <a:p>
            <a:pPr marL="285750" indent="-285750">
              <a:buFont typeface="Arial" panose="020B0604020202020204" pitchFamily="34" charset="0"/>
              <a:buChar char="•"/>
            </a:pPr>
            <a:r>
              <a:rPr lang="en-US" sz="1600" dirty="0"/>
              <a:t>With each recursive call, the size of the array being processed reduces and since the pivot is not always the median but is still expected to divide the array fairly evenly.</a:t>
            </a:r>
          </a:p>
          <a:p>
            <a:pPr marL="742950" lvl="1" indent="-285750">
              <a:buFont typeface="Arial" panose="020B0604020202020204" pitchFamily="34" charset="0"/>
              <a:buChar char="•"/>
            </a:pPr>
            <a:r>
              <a:rPr lang="en-US" sz="1600" dirty="0"/>
              <a:t>The recurrence relation follows : </a:t>
            </a:r>
            <a:r>
              <a:rPr lang="en-US" sz="1600" b="1" dirty="0"/>
              <a:t>T(n) = T(n/2) + O(n)</a:t>
            </a:r>
            <a:endParaRPr lang="en-US" sz="1600" dirty="0"/>
          </a:p>
        </p:txBody>
      </p:sp>
      <p:pic>
        <p:nvPicPr>
          <p:cNvPr id="10" name="Picture 9">
            <a:extLst>
              <a:ext uri="{FF2B5EF4-FFF2-40B4-BE49-F238E27FC236}">
                <a16:creationId xmlns:a16="http://schemas.microsoft.com/office/drawing/2014/main" id="{59330791-D38E-4434-AE2D-4990075CA1DB}"/>
              </a:ext>
            </a:extLst>
          </p:cNvPr>
          <p:cNvPicPr>
            <a:picLocks noChangeAspect="1"/>
          </p:cNvPicPr>
          <p:nvPr/>
        </p:nvPicPr>
        <p:blipFill>
          <a:blip r:embed="rId2"/>
          <a:stretch>
            <a:fillRect/>
          </a:stretch>
        </p:blipFill>
        <p:spPr>
          <a:xfrm>
            <a:off x="7234102" y="2443115"/>
            <a:ext cx="3864952" cy="2314898"/>
          </a:xfrm>
          <a:prstGeom prst="rect">
            <a:avLst/>
          </a:prstGeom>
        </p:spPr>
      </p:pic>
      <p:cxnSp>
        <p:nvCxnSpPr>
          <p:cNvPr id="12" name="Straight Connector 11">
            <a:extLst>
              <a:ext uri="{FF2B5EF4-FFF2-40B4-BE49-F238E27FC236}">
                <a16:creationId xmlns:a16="http://schemas.microsoft.com/office/drawing/2014/main" id="{0364DCD2-F000-41AD-94DA-8B90369CCCC3}"/>
              </a:ext>
            </a:extLst>
          </p:cNvPr>
          <p:cNvCxnSpPr/>
          <p:nvPr/>
        </p:nvCxnSpPr>
        <p:spPr>
          <a:xfrm>
            <a:off x="6570133" y="1636888"/>
            <a:ext cx="0" cy="362373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1362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129F9B-4C3F-4AA0-AC75-D3E6C809866D}"/>
              </a:ext>
            </a:extLst>
          </p:cNvPr>
          <p:cNvSpPr>
            <a:spLocks noGrp="1"/>
          </p:cNvSpPr>
          <p:nvPr>
            <p:ph sz="quarter" idx="11"/>
          </p:nvPr>
        </p:nvSpPr>
        <p:spPr>
          <a:xfrm>
            <a:off x="914400" y="2652889"/>
            <a:ext cx="4576953" cy="3263278"/>
          </a:xfrm>
        </p:spPr>
        <p:txBody>
          <a:bodyPr>
            <a:normAutofit/>
          </a:bodyPr>
          <a:lstStyle/>
          <a:p>
            <a:r>
              <a:rPr lang="en-US" sz="1600" dirty="0"/>
              <a:t>The worst case occurs when the picot selection consistently results in extremely unbalanced partitions. This happens if we select the </a:t>
            </a:r>
            <a:r>
              <a:rPr lang="en-US" sz="1600" b="1" dirty="0"/>
              <a:t>smallest </a:t>
            </a:r>
            <a:r>
              <a:rPr lang="en-US" sz="1600" dirty="0"/>
              <a:t>or </a:t>
            </a:r>
            <a:r>
              <a:rPr lang="en-US" sz="1600" b="1" dirty="0"/>
              <a:t>largest</a:t>
            </a:r>
            <a:r>
              <a:rPr lang="en-US" sz="1600" dirty="0"/>
              <a:t> element as the pivot, leading to one subarray containing all the elements and the other containing only one element. </a:t>
            </a:r>
          </a:p>
          <a:p>
            <a:r>
              <a:rPr lang="en-US" sz="1600" dirty="0"/>
              <a:t>For example: </a:t>
            </a:r>
          </a:p>
          <a:p>
            <a:r>
              <a:rPr lang="en-US" sz="1600" dirty="0"/>
              <a:t>If the pivot is always the smallest or largest element, each partition only reduces the problem size by one element at each step, resulting in a linear recursion depth (i.e., n recursive calls)</a:t>
            </a:r>
          </a:p>
          <a:p>
            <a:r>
              <a:rPr lang="en-US" sz="1600" dirty="0"/>
              <a:t>Worst case recurrence: </a:t>
            </a:r>
            <a:r>
              <a:rPr lang="en-US" sz="1600" b="1" dirty="0"/>
              <a:t>T(n) = T(n-1) + O(n)</a:t>
            </a:r>
            <a:endParaRPr lang="en-US" sz="1600" dirty="0"/>
          </a:p>
        </p:txBody>
      </p:sp>
      <p:pic>
        <p:nvPicPr>
          <p:cNvPr id="11" name="Content Placeholder 10">
            <a:extLst>
              <a:ext uri="{FF2B5EF4-FFF2-40B4-BE49-F238E27FC236}">
                <a16:creationId xmlns:a16="http://schemas.microsoft.com/office/drawing/2014/main" id="{86BC9790-45FF-4691-B1D3-6F622760815B}"/>
              </a:ext>
            </a:extLst>
          </p:cNvPr>
          <p:cNvPicPr>
            <a:picLocks noGrp="1" noChangeAspect="1"/>
          </p:cNvPicPr>
          <p:nvPr>
            <p:ph sz="quarter" idx="12"/>
          </p:nvPr>
        </p:nvPicPr>
        <p:blipFill>
          <a:blip r:embed="rId2"/>
          <a:stretch>
            <a:fillRect/>
          </a:stretch>
        </p:blipFill>
        <p:spPr>
          <a:xfrm>
            <a:off x="6424922" y="2759392"/>
            <a:ext cx="4420217" cy="1781424"/>
          </a:xfrm>
        </p:spPr>
      </p:pic>
      <p:sp>
        <p:nvSpPr>
          <p:cNvPr id="5" name="Slide Number Placeholder 4">
            <a:extLst>
              <a:ext uri="{FF2B5EF4-FFF2-40B4-BE49-F238E27FC236}">
                <a16:creationId xmlns:a16="http://schemas.microsoft.com/office/drawing/2014/main" id="{E50B6EC4-A77C-46B5-B82D-DD3F9AE83F93}"/>
              </a:ext>
            </a:extLst>
          </p:cNvPr>
          <p:cNvSpPr>
            <a:spLocks noGrp="1"/>
          </p:cNvSpPr>
          <p:nvPr>
            <p:ph type="sldNum" sz="quarter" idx="4"/>
          </p:nvPr>
        </p:nvSpPr>
        <p:spPr/>
        <p:txBody>
          <a:bodyPr/>
          <a:lstStyle/>
          <a:p>
            <a:fld id="{58FB4751-880F-D840-AAA9-3A15815CC996}" type="slidenum">
              <a:rPr lang="en-US" smtClean="0"/>
              <a:pPr/>
              <a:t>24</a:t>
            </a:fld>
            <a:endParaRPr lang="en-US" dirty="0"/>
          </a:p>
        </p:txBody>
      </p:sp>
      <p:sp>
        <p:nvSpPr>
          <p:cNvPr id="6" name="TextBox 5">
            <a:extLst>
              <a:ext uri="{FF2B5EF4-FFF2-40B4-BE49-F238E27FC236}">
                <a16:creationId xmlns:a16="http://schemas.microsoft.com/office/drawing/2014/main" id="{D2D500BE-0FB3-448A-B494-EB71434FB7FB}"/>
              </a:ext>
            </a:extLst>
          </p:cNvPr>
          <p:cNvSpPr txBox="1"/>
          <p:nvPr/>
        </p:nvSpPr>
        <p:spPr>
          <a:xfrm>
            <a:off x="729049" y="791290"/>
            <a:ext cx="5366951" cy="461665"/>
          </a:xfrm>
          <a:prstGeom prst="rect">
            <a:avLst/>
          </a:prstGeom>
          <a:noFill/>
        </p:spPr>
        <p:txBody>
          <a:bodyPr wrap="square" rtlCol="0">
            <a:spAutoFit/>
          </a:bodyPr>
          <a:lstStyle/>
          <a:p>
            <a:r>
              <a:rPr lang="en-US" sz="2400" dirty="0"/>
              <a:t>Quick Select : Time Complexity Analysis</a:t>
            </a:r>
          </a:p>
        </p:txBody>
      </p:sp>
      <p:sp>
        <p:nvSpPr>
          <p:cNvPr id="7" name="TextBox 6">
            <a:extLst>
              <a:ext uri="{FF2B5EF4-FFF2-40B4-BE49-F238E27FC236}">
                <a16:creationId xmlns:a16="http://schemas.microsoft.com/office/drawing/2014/main" id="{80BA0750-DD63-43EF-96EE-2FD2BD1CCDF4}"/>
              </a:ext>
            </a:extLst>
          </p:cNvPr>
          <p:cNvSpPr txBox="1"/>
          <p:nvPr/>
        </p:nvSpPr>
        <p:spPr>
          <a:xfrm>
            <a:off x="729049" y="1636888"/>
            <a:ext cx="4210756" cy="369332"/>
          </a:xfrm>
          <a:prstGeom prst="rect">
            <a:avLst/>
          </a:prstGeom>
          <a:noFill/>
        </p:spPr>
        <p:txBody>
          <a:bodyPr wrap="square" rtlCol="0">
            <a:spAutoFit/>
          </a:bodyPr>
          <a:lstStyle/>
          <a:p>
            <a:r>
              <a:rPr lang="en-US" dirty="0"/>
              <a:t>Worst Case Time Complexity: </a:t>
            </a:r>
            <a:r>
              <a:rPr lang="en-US" b="1" dirty="0"/>
              <a:t>O(n²)</a:t>
            </a:r>
          </a:p>
        </p:txBody>
      </p:sp>
      <p:sp>
        <p:nvSpPr>
          <p:cNvPr id="12" name="TextBox 11">
            <a:extLst>
              <a:ext uri="{FF2B5EF4-FFF2-40B4-BE49-F238E27FC236}">
                <a16:creationId xmlns:a16="http://schemas.microsoft.com/office/drawing/2014/main" id="{1E30CFA4-1AB6-49B3-B5CC-D93CE840E310}"/>
              </a:ext>
            </a:extLst>
          </p:cNvPr>
          <p:cNvSpPr txBox="1"/>
          <p:nvPr/>
        </p:nvSpPr>
        <p:spPr>
          <a:xfrm>
            <a:off x="6555037" y="5511847"/>
            <a:ext cx="3735079" cy="400110"/>
          </a:xfrm>
          <a:prstGeom prst="rect">
            <a:avLst/>
          </a:prstGeom>
          <a:noFill/>
          <a:ln w="19050">
            <a:solidFill>
              <a:schemeClr val="tx1"/>
            </a:solidFill>
          </a:ln>
        </p:spPr>
        <p:txBody>
          <a:bodyPr wrap="square" rtlCol="0">
            <a:spAutoFit/>
          </a:bodyPr>
          <a:lstStyle/>
          <a:p>
            <a:pPr algn="ctr"/>
            <a:r>
              <a:rPr lang="en-US" sz="2000" dirty="0"/>
              <a:t>Can we make it better??</a:t>
            </a:r>
          </a:p>
        </p:txBody>
      </p:sp>
    </p:spTree>
    <p:extLst>
      <p:ext uri="{BB962C8B-B14F-4D97-AF65-F5344CB8AC3E}">
        <p14:creationId xmlns:p14="http://schemas.microsoft.com/office/powerpoint/2010/main" val="1473366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914400" y="864179"/>
            <a:ext cx="10360152" cy="914400"/>
          </a:xfrm>
        </p:spPr>
        <p:txBody>
          <a:bodyPr/>
          <a:lstStyle/>
          <a:p>
            <a:r>
              <a:rPr lang="en-US" sz="3200" dirty="0"/>
              <a:t>Problem with Worst Case Scenario in Quick Select</a:t>
            </a:r>
            <a:endParaRPr lang="en-US" dirty="0"/>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914400" y="2415935"/>
            <a:ext cx="3364992" cy="1501309"/>
          </a:xfrm>
        </p:spPr>
        <p:txBody>
          <a:bodyPr/>
          <a:lstStyle/>
          <a:p>
            <a:r>
              <a:rPr lang="en-US" dirty="0"/>
              <a:t>The input array is sorted or nearly sorted, and</a:t>
            </a:r>
          </a:p>
          <a:p>
            <a:r>
              <a:rPr lang="en-US" dirty="0"/>
              <a:t>The pivot is always the smallest or largest element</a:t>
            </a:r>
          </a:p>
        </p:txBody>
      </p:sp>
      <p:sp>
        <p:nvSpPr>
          <p:cNvPr id="25" name="Content Placeholder 24">
            <a:extLst>
              <a:ext uri="{FF2B5EF4-FFF2-40B4-BE49-F238E27FC236}">
                <a16:creationId xmlns:a16="http://schemas.microsoft.com/office/drawing/2014/main" id="{7798761A-B671-4825-623F-F4726F2BDF28}"/>
              </a:ext>
            </a:extLst>
          </p:cNvPr>
          <p:cNvSpPr>
            <a:spLocks noGrp="1"/>
          </p:cNvSpPr>
          <p:nvPr>
            <p:ph sz="quarter" idx="12"/>
          </p:nvPr>
        </p:nvSpPr>
        <p:spPr>
          <a:xfrm>
            <a:off x="4947398" y="2415935"/>
            <a:ext cx="5393971" cy="1268532"/>
          </a:xfrm>
        </p:spPr>
        <p:txBody>
          <a:bodyPr>
            <a:normAutofit/>
          </a:bodyPr>
          <a:lstStyle/>
          <a:p>
            <a:r>
              <a:rPr lang="en-US" sz="2400" dirty="0"/>
              <a:t>In these cases, the partitions are extremely unbalanced and Quick select ends up doing </a:t>
            </a:r>
            <a:r>
              <a:rPr lang="en-US" sz="2400" b="1" dirty="0"/>
              <a:t>unnecessary work</a:t>
            </a:r>
            <a:r>
              <a:rPr lang="en-US" sz="2400" dirty="0"/>
              <a:t>, which is inefficient. </a:t>
            </a:r>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25</a:t>
            </a:fld>
            <a:endParaRPr lang="en-US" dirty="0"/>
          </a:p>
        </p:txBody>
      </p:sp>
      <p:sp>
        <p:nvSpPr>
          <p:cNvPr id="2" name="Right Brace 1">
            <a:extLst>
              <a:ext uri="{FF2B5EF4-FFF2-40B4-BE49-F238E27FC236}">
                <a16:creationId xmlns:a16="http://schemas.microsoft.com/office/drawing/2014/main" id="{0DED8E5B-2E85-4A8E-8CA0-B193170B9376}"/>
              </a:ext>
            </a:extLst>
          </p:cNvPr>
          <p:cNvSpPr/>
          <p:nvPr/>
        </p:nvSpPr>
        <p:spPr>
          <a:xfrm>
            <a:off x="4173129" y="2415935"/>
            <a:ext cx="440266" cy="123037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FB5B4B16-392A-4EFF-9C69-58A6F96CAEF0}"/>
              </a:ext>
            </a:extLst>
          </p:cNvPr>
          <p:cNvSpPr txBox="1"/>
          <p:nvPr/>
        </p:nvSpPr>
        <p:spPr>
          <a:xfrm>
            <a:off x="3781778" y="5383790"/>
            <a:ext cx="3612444" cy="461665"/>
          </a:xfrm>
          <a:prstGeom prst="rect">
            <a:avLst/>
          </a:prstGeom>
          <a:noFill/>
        </p:spPr>
        <p:txBody>
          <a:bodyPr wrap="square" rtlCol="0" anchor="ctr">
            <a:spAutoFit/>
          </a:bodyPr>
          <a:lstStyle/>
          <a:p>
            <a:pPr algn="ctr"/>
            <a:r>
              <a:rPr lang="en-US" sz="2400" dirty="0"/>
              <a:t>SOLUTION???</a:t>
            </a:r>
          </a:p>
        </p:txBody>
      </p:sp>
    </p:spTree>
    <p:extLst>
      <p:ext uri="{BB962C8B-B14F-4D97-AF65-F5344CB8AC3E}">
        <p14:creationId xmlns:p14="http://schemas.microsoft.com/office/powerpoint/2010/main" val="3748348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DA78E38-9281-4636-BB6E-05217C9275F7}"/>
              </a:ext>
            </a:extLst>
          </p:cNvPr>
          <p:cNvSpPr>
            <a:spLocks noGrp="1"/>
          </p:cNvSpPr>
          <p:nvPr>
            <p:ph type="title"/>
          </p:nvPr>
        </p:nvSpPr>
        <p:spPr/>
        <p:txBody>
          <a:bodyPr/>
          <a:lstStyle/>
          <a:p>
            <a:r>
              <a:rPr lang="en-US" dirty="0"/>
              <a:t>MEDIAN OF MEDIANS</a:t>
            </a:r>
          </a:p>
        </p:txBody>
      </p:sp>
      <p:sp>
        <p:nvSpPr>
          <p:cNvPr id="7" name="Text Placeholder 6">
            <a:extLst>
              <a:ext uri="{FF2B5EF4-FFF2-40B4-BE49-F238E27FC236}">
                <a16:creationId xmlns:a16="http://schemas.microsoft.com/office/drawing/2014/main" id="{0D056358-AC86-40EC-9019-B132C4B99390}"/>
              </a:ext>
            </a:extLst>
          </p:cNvPr>
          <p:cNvSpPr>
            <a:spLocks noGrp="1"/>
          </p:cNvSpPr>
          <p:nvPr>
            <p:ph type="body" sz="quarter" idx="13"/>
          </p:nvPr>
        </p:nvSpPr>
        <p:spPr/>
        <p:txBody>
          <a:bodyPr/>
          <a:lstStyle/>
          <a:p>
            <a:r>
              <a:rPr lang="en-US" dirty="0"/>
              <a:t>YOU WON’T HIT O(n²)</a:t>
            </a:r>
          </a:p>
        </p:txBody>
      </p:sp>
      <p:sp>
        <p:nvSpPr>
          <p:cNvPr id="5" name="Slide Number Placeholder 4">
            <a:extLst>
              <a:ext uri="{FF2B5EF4-FFF2-40B4-BE49-F238E27FC236}">
                <a16:creationId xmlns:a16="http://schemas.microsoft.com/office/drawing/2014/main" id="{687470D7-CB50-4AC3-BB60-8AEC09B0BBBE}"/>
              </a:ext>
            </a:extLst>
          </p:cNvPr>
          <p:cNvSpPr>
            <a:spLocks noGrp="1"/>
          </p:cNvSpPr>
          <p:nvPr>
            <p:ph type="sldNum" sz="quarter" idx="4294967295"/>
          </p:nvPr>
        </p:nvSpPr>
        <p:spPr>
          <a:xfrm>
            <a:off x="11530013" y="5880100"/>
            <a:ext cx="661987" cy="895350"/>
          </a:xfrm>
        </p:spPr>
        <p:txBody>
          <a:bodyPr/>
          <a:lstStyle/>
          <a:p>
            <a:fld id="{58FB4751-880F-D840-AAA9-3A15815CC996}" type="slidenum">
              <a:rPr lang="en-US" smtClean="0"/>
              <a:pPr/>
              <a:t>26</a:t>
            </a:fld>
            <a:endParaRPr lang="en-US" dirty="0"/>
          </a:p>
        </p:txBody>
      </p:sp>
    </p:spTree>
    <p:extLst>
      <p:ext uri="{BB962C8B-B14F-4D97-AF65-F5344CB8AC3E}">
        <p14:creationId xmlns:p14="http://schemas.microsoft.com/office/powerpoint/2010/main" val="3826435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p:txBody>
          <a:bodyPr/>
          <a:lstStyle/>
          <a:p>
            <a:r>
              <a:rPr lang="en-US" sz="3200" dirty="0"/>
              <a:t>introduction</a:t>
            </a:r>
            <a:endParaRPr lang="en-US" dirty="0"/>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914399" y="2039111"/>
            <a:ext cx="5650992" cy="3904488"/>
          </a:xfrm>
        </p:spPr>
        <p:txBody>
          <a:bodyPr/>
          <a:lstStyle/>
          <a:p>
            <a:r>
              <a:rPr lang="en-US" dirty="0"/>
              <a:t>The median of medians is an approximate median-selection algorithm that helps building an asymptotically optimal, exact general selection algorithm by producing good pivot elements.</a:t>
            </a:r>
          </a:p>
          <a:p>
            <a:r>
              <a:rPr lang="en-US" dirty="0"/>
              <a:t>It was published at 1973 and sometimes called BFPRT after the last names of the authors</a:t>
            </a:r>
          </a:p>
          <a:p>
            <a:r>
              <a:rPr lang="en-US" dirty="0"/>
              <a:t>For most practical scenarios where the data is random and QuickSelect is used with a randomized pivot, we don’t need median of medians. However, for Deterministic Worst Case behavior, Median of Medians provides an optimal solution</a:t>
            </a:r>
          </a:p>
        </p:txBody>
      </p:sp>
      <p:sp>
        <p:nvSpPr>
          <p:cNvPr id="2" name="Slide Number Placeholder 1">
            <a:extLst>
              <a:ext uri="{FF2B5EF4-FFF2-40B4-BE49-F238E27FC236}">
                <a16:creationId xmlns:a16="http://schemas.microsoft.com/office/drawing/2014/main" id="{F145C08D-ADDB-4AEA-B815-D59669828035}"/>
              </a:ext>
            </a:extLst>
          </p:cNvPr>
          <p:cNvSpPr>
            <a:spLocks noGrp="1"/>
          </p:cNvSpPr>
          <p:nvPr>
            <p:ph type="sldNum" sz="quarter" idx="4"/>
          </p:nvPr>
        </p:nvSpPr>
        <p:spPr/>
        <p:txBody>
          <a:bodyPr/>
          <a:lstStyle/>
          <a:p>
            <a:fld id="{58FB4751-880F-D840-AAA9-3A15815CC996}" type="slidenum">
              <a:rPr lang="en-US" smtClean="0"/>
              <a:pPr/>
              <a:t>27</a:t>
            </a:fld>
            <a:endParaRPr lang="en-US" dirty="0"/>
          </a:p>
        </p:txBody>
      </p:sp>
      <p:pic>
        <p:nvPicPr>
          <p:cNvPr id="8" name="Picture Placeholder 7">
            <a:extLst>
              <a:ext uri="{FF2B5EF4-FFF2-40B4-BE49-F238E27FC236}">
                <a16:creationId xmlns:a16="http://schemas.microsoft.com/office/drawing/2014/main" id="{C6D0A79C-4557-43EB-ADA7-398A8E289239}"/>
              </a:ext>
            </a:extLst>
          </p:cNvPr>
          <p:cNvPicPr>
            <a:picLocks noGrp="1" noChangeAspect="1"/>
          </p:cNvPicPr>
          <p:nvPr>
            <p:ph type="pic" sz="quarter" idx="10"/>
          </p:nvPr>
        </p:nvPicPr>
        <p:blipFill rotWithShape="1">
          <a:blip r:embed="rId3"/>
          <a:srcRect l="-10213" t="-7811" r="-1323" b="-7811"/>
          <a:stretch/>
        </p:blipFill>
        <p:spPr>
          <a:xfrm>
            <a:off x="7623125" y="-20757"/>
            <a:ext cx="4589511" cy="6555026"/>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Tree>
    <p:extLst>
      <p:ext uri="{BB962C8B-B14F-4D97-AF65-F5344CB8AC3E}">
        <p14:creationId xmlns:p14="http://schemas.microsoft.com/office/powerpoint/2010/main" val="8599098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3A2202A-9671-4011-A173-3DEC57AEF37B}"/>
              </a:ext>
            </a:extLst>
          </p:cNvPr>
          <p:cNvSpPr>
            <a:spLocks noGrp="1"/>
          </p:cNvSpPr>
          <p:nvPr>
            <p:ph type="sldNum" sz="quarter" idx="4"/>
          </p:nvPr>
        </p:nvSpPr>
        <p:spPr/>
        <p:txBody>
          <a:bodyPr/>
          <a:lstStyle/>
          <a:p>
            <a:fld id="{58FB4751-880F-D840-AAA9-3A15815CC996}" type="slidenum">
              <a:rPr lang="en-US" smtClean="0"/>
              <a:pPr/>
              <a:t>28</a:t>
            </a:fld>
            <a:endParaRPr lang="en-US" dirty="0"/>
          </a:p>
        </p:txBody>
      </p:sp>
      <p:sp>
        <p:nvSpPr>
          <p:cNvPr id="7" name="TextBox 6">
            <a:extLst>
              <a:ext uri="{FF2B5EF4-FFF2-40B4-BE49-F238E27FC236}">
                <a16:creationId xmlns:a16="http://schemas.microsoft.com/office/drawing/2014/main" id="{2EF71A84-1F01-4346-96AD-274CD17994F3}"/>
              </a:ext>
            </a:extLst>
          </p:cNvPr>
          <p:cNvSpPr txBox="1"/>
          <p:nvPr/>
        </p:nvSpPr>
        <p:spPr>
          <a:xfrm>
            <a:off x="852615" y="877330"/>
            <a:ext cx="5659396" cy="461665"/>
          </a:xfrm>
          <a:prstGeom prst="rect">
            <a:avLst/>
          </a:prstGeom>
          <a:noFill/>
        </p:spPr>
        <p:txBody>
          <a:bodyPr wrap="square" rtlCol="0">
            <a:spAutoFit/>
          </a:bodyPr>
          <a:lstStyle/>
          <a:p>
            <a:r>
              <a:rPr lang="en-US" sz="2400" dirty="0"/>
              <a:t>Median of medians: Step by step walkthrough</a:t>
            </a:r>
          </a:p>
        </p:txBody>
      </p:sp>
      <p:sp>
        <p:nvSpPr>
          <p:cNvPr id="8" name="TextBox 7">
            <a:extLst>
              <a:ext uri="{FF2B5EF4-FFF2-40B4-BE49-F238E27FC236}">
                <a16:creationId xmlns:a16="http://schemas.microsoft.com/office/drawing/2014/main" id="{679748CD-5EA5-4933-943E-3E481592249B}"/>
              </a:ext>
            </a:extLst>
          </p:cNvPr>
          <p:cNvSpPr txBox="1"/>
          <p:nvPr/>
        </p:nvSpPr>
        <p:spPr>
          <a:xfrm>
            <a:off x="1078673" y="3511100"/>
            <a:ext cx="10059127" cy="338554"/>
          </a:xfrm>
          <a:prstGeom prst="rect">
            <a:avLst/>
          </a:prstGeom>
          <a:noFill/>
        </p:spPr>
        <p:txBody>
          <a:bodyPr wrap="square" rtlCol="0">
            <a:spAutoFit/>
          </a:bodyPr>
          <a:lstStyle/>
          <a:p>
            <a:r>
              <a:rPr lang="en-US" sz="1600" dirty="0"/>
              <a:t>Step-1: Divide the list into </a:t>
            </a:r>
            <a:r>
              <a:rPr lang="en-US" sz="1600" dirty="0" err="1"/>
              <a:t>sublists</a:t>
            </a:r>
            <a:r>
              <a:rPr lang="en-US" sz="1600" dirty="0"/>
              <a:t> each of length five.(if there are fewer than five elements available for the last list, that's fine)</a:t>
            </a:r>
          </a:p>
        </p:txBody>
      </p:sp>
      <p:sp>
        <p:nvSpPr>
          <p:cNvPr id="14" name="TextBox 13">
            <a:extLst>
              <a:ext uri="{FF2B5EF4-FFF2-40B4-BE49-F238E27FC236}">
                <a16:creationId xmlns:a16="http://schemas.microsoft.com/office/drawing/2014/main" id="{5E517D3C-5081-44F7-94F9-7540A465F9F8}"/>
              </a:ext>
            </a:extLst>
          </p:cNvPr>
          <p:cNvSpPr txBox="1"/>
          <p:nvPr/>
        </p:nvSpPr>
        <p:spPr>
          <a:xfrm>
            <a:off x="1078673" y="1742391"/>
            <a:ext cx="10041924" cy="338554"/>
          </a:xfrm>
          <a:prstGeom prst="rect">
            <a:avLst/>
          </a:prstGeom>
          <a:noFill/>
        </p:spPr>
        <p:txBody>
          <a:bodyPr wrap="square" rtlCol="0">
            <a:spAutoFit/>
          </a:bodyPr>
          <a:lstStyle/>
          <a:p>
            <a:r>
              <a:rPr lang="en-US" sz="1600" dirty="0"/>
              <a:t>Let us consider an array. We have to find k =25</a:t>
            </a:r>
            <a:r>
              <a:rPr lang="en-US" sz="1600" baseline="30000" dirty="0"/>
              <a:t>th</a:t>
            </a:r>
            <a:r>
              <a:rPr lang="en-US" sz="1600" dirty="0"/>
              <a:t> smallest element using MoM </a:t>
            </a:r>
          </a:p>
        </p:txBody>
      </p:sp>
      <p:pic>
        <p:nvPicPr>
          <p:cNvPr id="16" name="Picture 15">
            <a:extLst>
              <a:ext uri="{FF2B5EF4-FFF2-40B4-BE49-F238E27FC236}">
                <a16:creationId xmlns:a16="http://schemas.microsoft.com/office/drawing/2014/main" id="{3C674C61-BC24-4999-BF17-3B31CCDDB762}"/>
              </a:ext>
            </a:extLst>
          </p:cNvPr>
          <p:cNvPicPr>
            <a:picLocks noChangeAspect="1"/>
          </p:cNvPicPr>
          <p:nvPr/>
        </p:nvPicPr>
        <p:blipFill>
          <a:blip r:embed="rId2"/>
          <a:stretch>
            <a:fillRect/>
          </a:stretch>
        </p:blipFill>
        <p:spPr>
          <a:xfrm>
            <a:off x="1509074" y="2243256"/>
            <a:ext cx="9173852" cy="941098"/>
          </a:xfrm>
          <a:prstGeom prst="rect">
            <a:avLst/>
          </a:prstGeom>
        </p:spPr>
      </p:pic>
      <p:pic>
        <p:nvPicPr>
          <p:cNvPr id="18" name="Picture 17">
            <a:extLst>
              <a:ext uri="{FF2B5EF4-FFF2-40B4-BE49-F238E27FC236}">
                <a16:creationId xmlns:a16="http://schemas.microsoft.com/office/drawing/2014/main" id="{AEE5B1F2-0DC5-4D78-8835-980F46B1F31A}"/>
              </a:ext>
            </a:extLst>
          </p:cNvPr>
          <p:cNvPicPr>
            <a:picLocks noChangeAspect="1"/>
          </p:cNvPicPr>
          <p:nvPr/>
        </p:nvPicPr>
        <p:blipFill>
          <a:blip r:embed="rId3"/>
          <a:stretch>
            <a:fillRect/>
          </a:stretch>
        </p:blipFill>
        <p:spPr>
          <a:xfrm>
            <a:off x="2627135" y="4176400"/>
            <a:ext cx="6962201" cy="1804270"/>
          </a:xfrm>
          <a:prstGeom prst="rect">
            <a:avLst/>
          </a:prstGeom>
        </p:spPr>
      </p:pic>
    </p:spTree>
    <p:extLst>
      <p:ext uri="{BB962C8B-B14F-4D97-AF65-F5344CB8AC3E}">
        <p14:creationId xmlns:p14="http://schemas.microsoft.com/office/powerpoint/2010/main" val="2819281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6CA6EF-D84B-4CE5-81F2-38FDD1812874}"/>
              </a:ext>
            </a:extLst>
          </p:cNvPr>
          <p:cNvSpPr>
            <a:spLocks noGrp="1"/>
          </p:cNvSpPr>
          <p:nvPr>
            <p:ph type="sldNum" sz="quarter" idx="4"/>
          </p:nvPr>
        </p:nvSpPr>
        <p:spPr/>
        <p:txBody>
          <a:bodyPr/>
          <a:lstStyle/>
          <a:p>
            <a:fld id="{58FB4751-880F-D840-AAA9-3A15815CC996}" type="slidenum">
              <a:rPr lang="en-US" smtClean="0"/>
              <a:pPr/>
              <a:t>29</a:t>
            </a:fld>
            <a:endParaRPr lang="en-US" dirty="0"/>
          </a:p>
        </p:txBody>
      </p:sp>
      <p:sp>
        <p:nvSpPr>
          <p:cNvPr id="3" name="TextBox 2">
            <a:extLst>
              <a:ext uri="{FF2B5EF4-FFF2-40B4-BE49-F238E27FC236}">
                <a16:creationId xmlns:a16="http://schemas.microsoft.com/office/drawing/2014/main" id="{3EF75235-2B5D-4C4B-96FA-6F4FE61880B3}"/>
              </a:ext>
            </a:extLst>
          </p:cNvPr>
          <p:cNvSpPr txBox="1"/>
          <p:nvPr/>
        </p:nvSpPr>
        <p:spPr>
          <a:xfrm>
            <a:off x="976425" y="1774734"/>
            <a:ext cx="4877527" cy="338554"/>
          </a:xfrm>
          <a:prstGeom prst="rect">
            <a:avLst/>
          </a:prstGeom>
          <a:noFill/>
        </p:spPr>
        <p:txBody>
          <a:bodyPr wrap="square" rtlCol="0">
            <a:spAutoFit/>
          </a:bodyPr>
          <a:lstStyle/>
          <a:p>
            <a:r>
              <a:rPr lang="en-US" sz="1600" dirty="0"/>
              <a:t>Step-2: Sort the sub lists and find the medians of each lists</a:t>
            </a:r>
          </a:p>
        </p:txBody>
      </p:sp>
      <p:sp>
        <p:nvSpPr>
          <p:cNvPr id="4" name="TextBox 3">
            <a:extLst>
              <a:ext uri="{FF2B5EF4-FFF2-40B4-BE49-F238E27FC236}">
                <a16:creationId xmlns:a16="http://schemas.microsoft.com/office/drawing/2014/main" id="{02C2DD0A-5A1D-4C5D-86CD-72B62A0C97D2}"/>
              </a:ext>
            </a:extLst>
          </p:cNvPr>
          <p:cNvSpPr txBox="1"/>
          <p:nvPr/>
        </p:nvSpPr>
        <p:spPr>
          <a:xfrm>
            <a:off x="852615" y="877330"/>
            <a:ext cx="5659396" cy="461665"/>
          </a:xfrm>
          <a:prstGeom prst="rect">
            <a:avLst/>
          </a:prstGeom>
          <a:noFill/>
        </p:spPr>
        <p:txBody>
          <a:bodyPr wrap="square" rtlCol="0">
            <a:spAutoFit/>
          </a:bodyPr>
          <a:lstStyle/>
          <a:p>
            <a:r>
              <a:rPr lang="en-US" sz="2400" dirty="0"/>
              <a:t>Median of medians: Step by step walkthrough</a:t>
            </a:r>
          </a:p>
        </p:txBody>
      </p:sp>
      <p:pic>
        <p:nvPicPr>
          <p:cNvPr id="6" name="Picture 5">
            <a:extLst>
              <a:ext uri="{FF2B5EF4-FFF2-40B4-BE49-F238E27FC236}">
                <a16:creationId xmlns:a16="http://schemas.microsoft.com/office/drawing/2014/main" id="{379B21CD-F4E8-41DA-A726-1CDEEC3AE424}"/>
              </a:ext>
            </a:extLst>
          </p:cNvPr>
          <p:cNvPicPr>
            <a:picLocks noChangeAspect="1"/>
          </p:cNvPicPr>
          <p:nvPr/>
        </p:nvPicPr>
        <p:blipFill>
          <a:blip r:embed="rId2"/>
          <a:stretch>
            <a:fillRect/>
          </a:stretch>
        </p:blipFill>
        <p:spPr>
          <a:xfrm>
            <a:off x="1075038" y="2356705"/>
            <a:ext cx="4680303" cy="1408473"/>
          </a:xfrm>
          <a:prstGeom prst="rect">
            <a:avLst/>
          </a:prstGeom>
        </p:spPr>
      </p:pic>
      <p:sp>
        <p:nvSpPr>
          <p:cNvPr id="8" name="TextBox 7">
            <a:extLst>
              <a:ext uri="{FF2B5EF4-FFF2-40B4-BE49-F238E27FC236}">
                <a16:creationId xmlns:a16="http://schemas.microsoft.com/office/drawing/2014/main" id="{2F473F08-C4C9-438A-88C9-40BB04358569}"/>
              </a:ext>
            </a:extLst>
          </p:cNvPr>
          <p:cNvSpPr txBox="1"/>
          <p:nvPr/>
        </p:nvSpPr>
        <p:spPr>
          <a:xfrm>
            <a:off x="6690181" y="1774734"/>
            <a:ext cx="4811278" cy="338554"/>
          </a:xfrm>
          <a:prstGeom prst="rect">
            <a:avLst/>
          </a:prstGeom>
          <a:noFill/>
        </p:spPr>
        <p:txBody>
          <a:bodyPr wrap="square" rtlCol="0">
            <a:spAutoFit/>
          </a:bodyPr>
          <a:lstStyle/>
          <a:p>
            <a:r>
              <a:rPr lang="en-US" sz="1600" dirty="0"/>
              <a:t>Step-3: Find the median of medians of the sub lists</a:t>
            </a:r>
          </a:p>
        </p:txBody>
      </p:sp>
      <p:pic>
        <p:nvPicPr>
          <p:cNvPr id="10" name="Picture 9">
            <a:extLst>
              <a:ext uri="{FF2B5EF4-FFF2-40B4-BE49-F238E27FC236}">
                <a16:creationId xmlns:a16="http://schemas.microsoft.com/office/drawing/2014/main" id="{FB0C201B-F4B9-4556-A8DE-2BDDE7D55B83}"/>
              </a:ext>
            </a:extLst>
          </p:cNvPr>
          <p:cNvPicPr>
            <a:picLocks noChangeAspect="1"/>
          </p:cNvPicPr>
          <p:nvPr/>
        </p:nvPicPr>
        <p:blipFill>
          <a:blip r:embed="rId3"/>
          <a:stretch>
            <a:fillRect/>
          </a:stretch>
        </p:blipFill>
        <p:spPr>
          <a:xfrm>
            <a:off x="6690181" y="2469847"/>
            <a:ext cx="4426781" cy="362243"/>
          </a:xfrm>
          <a:prstGeom prst="rect">
            <a:avLst/>
          </a:prstGeom>
        </p:spPr>
      </p:pic>
      <p:sp>
        <p:nvSpPr>
          <p:cNvPr id="11" name="TextBox 10">
            <a:extLst>
              <a:ext uri="{FF2B5EF4-FFF2-40B4-BE49-F238E27FC236}">
                <a16:creationId xmlns:a16="http://schemas.microsoft.com/office/drawing/2014/main" id="{D92B44FD-5AA8-487C-AD98-0CBAA494C664}"/>
              </a:ext>
            </a:extLst>
          </p:cNvPr>
          <p:cNvSpPr txBox="1"/>
          <p:nvPr/>
        </p:nvSpPr>
        <p:spPr>
          <a:xfrm>
            <a:off x="1075038" y="4064817"/>
            <a:ext cx="4877527" cy="830997"/>
          </a:xfrm>
          <a:prstGeom prst="rect">
            <a:avLst/>
          </a:prstGeom>
          <a:noFill/>
        </p:spPr>
        <p:txBody>
          <a:bodyPr wrap="square" rtlCol="0">
            <a:spAutoFit/>
          </a:bodyPr>
          <a:lstStyle/>
          <a:p>
            <a:r>
              <a:rPr lang="en-US" sz="1600" dirty="0"/>
              <a:t>Step-4: L contains elements smaller than median, R contains elements larger than median. As k = 25 and L contains 17 elements so kth element can’t be in L</a:t>
            </a:r>
          </a:p>
        </p:txBody>
      </p:sp>
      <p:cxnSp>
        <p:nvCxnSpPr>
          <p:cNvPr id="13" name="Straight Connector 12">
            <a:extLst>
              <a:ext uri="{FF2B5EF4-FFF2-40B4-BE49-F238E27FC236}">
                <a16:creationId xmlns:a16="http://schemas.microsoft.com/office/drawing/2014/main" id="{E1B7FB11-0140-4858-8141-2059B84D1FD8}"/>
              </a:ext>
            </a:extLst>
          </p:cNvPr>
          <p:cNvCxnSpPr/>
          <p:nvPr/>
        </p:nvCxnSpPr>
        <p:spPr>
          <a:xfrm>
            <a:off x="6275658" y="3576918"/>
            <a:ext cx="500230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421B3A0D-EB84-42EC-90E5-CF4931432134}"/>
              </a:ext>
            </a:extLst>
          </p:cNvPr>
          <p:cNvPicPr>
            <a:picLocks noChangeAspect="1"/>
          </p:cNvPicPr>
          <p:nvPr/>
        </p:nvPicPr>
        <p:blipFill>
          <a:blip r:embed="rId4"/>
          <a:stretch>
            <a:fillRect/>
          </a:stretch>
        </p:blipFill>
        <p:spPr>
          <a:xfrm>
            <a:off x="6436661" y="3928167"/>
            <a:ext cx="4680301" cy="1819831"/>
          </a:xfrm>
          <a:prstGeom prst="rect">
            <a:avLst/>
          </a:prstGeom>
        </p:spPr>
      </p:pic>
      <p:sp>
        <p:nvSpPr>
          <p:cNvPr id="16" name="TextBox 15">
            <a:extLst>
              <a:ext uri="{FF2B5EF4-FFF2-40B4-BE49-F238E27FC236}">
                <a16:creationId xmlns:a16="http://schemas.microsoft.com/office/drawing/2014/main" id="{92DD6D1D-1387-481C-8CD4-D6BBC05A30F1}"/>
              </a:ext>
            </a:extLst>
          </p:cNvPr>
          <p:cNvSpPr txBox="1"/>
          <p:nvPr/>
        </p:nvSpPr>
        <p:spPr>
          <a:xfrm>
            <a:off x="1075038" y="5147383"/>
            <a:ext cx="4877527" cy="584775"/>
          </a:xfrm>
          <a:prstGeom prst="rect">
            <a:avLst/>
          </a:prstGeom>
          <a:noFill/>
        </p:spPr>
        <p:txBody>
          <a:bodyPr wrap="square" rtlCol="0">
            <a:spAutoFit/>
          </a:bodyPr>
          <a:lstStyle/>
          <a:p>
            <a:r>
              <a:rPr lang="en-US" sz="1600" dirty="0"/>
              <a:t>Therefore k = (25-L) = 8</a:t>
            </a:r>
            <a:r>
              <a:rPr lang="en-US" sz="1600" baseline="30000" dirty="0"/>
              <a:t>th</a:t>
            </a:r>
            <a:r>
              <a:rPr lang="en-US" sz="1600" dirty="0"/>
              <a:t> element in R is the answer</a:t>
            </a:r>
          </a:p>
          <a:p>
            <a:r>
              <a:rPr lang="en-US" sz="1600" dirty="0"/>
              <a:t>We will follow the previous steps.</a:t>
            </a:r>
          </a:p>
        </p:txBody>
      </p:sp>
    </p:spTree>
    <p:extLst>
      <p:ext uri="{BB962C8B-B14F-4D97-AF65-F5344CB8AC3E}">
        <p14:creationId xmlns:p14="http://schemas.microsoft.com/office/powerpoint/2010/main" val="3793916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B88F18-54C0-49CA-A1E6-1F97B044AF22}"/>
              </a:ext>
            </a:extLst>
          </p:cNvPr>
          <p:cNvSpPr>
            <a:spLocks noGrp="1"/>
          </p:cNvSpPr>
          <p:nvPr>
            <p:ph type="sldNum" sz="quarter" idx="4"/>
          </p:nvPr>
        </p:nvSpPr>
        <p:spPr/>
        <p:txBody>
          <a:bodyPr/>
          <a:lstStyle/>
          <a:p>
            <a:fld id="{58FB4751-880F-D840-AAA9-3A15815CC996}" type="slidenum">
              <a:rPr lang="en-US" smtClean="0"/>
              <a:pPr/>
              <a:t>30</a:t>
            </a:fld>
            <a:endParaRPr lang="en-US" dirty="0"/>
          </a:p>
        </p:txBody>
      </p:sp>
      <p:sp>
        <p:nvSpPr>
          <p:cNvPr id="3" name="TextBox 2">
            <a:extLst>
              <a:ext uri="{FF2B5EF4-FFF2-40B4-BE49-F238E27FC236}">
                <a16:creationId xmlns:a16="http://schemas.microsoft.com/office/drawing/2014/main" id="{6F0DD542-A0ED-44BB-8953-466DFC1BD3D9}"/>
              </a:ext>
            </a:extLst>
          </p:cNvPr>
          <p:cNvSpPr txBox="1"/>
          <p:nvPr/>
        </p:nvSpPr>
        <p:spPr>
          <a:xfrm>
            <a:off x="852615" y="877330"/>
            <a:ext cx="5659396" cy="461665"/>
          </a:xfrm>
          <a:prstGeom prst="rect">
            <a:avLst/>
          </a:prstGeom>
          <a:noFill/>
        </p:spPr>
        <p:txBody>
          <a:bodyPr wrap="square" rtlCol="0">
            <a:spAutoFit/>
          </a:bodyPr>
          <a:lstStyle/>
          <a:p>
            <a:r>
              <a:rPr lang="en-US" sz="2400" dirty="0"/>
              <a:t>Median of medians: Step by step walkthrough</a:t>
            </a:r>
          </a:p>
        </p:txBody>
      </p:sp>
      <p:pic>
        <p:nvPicPr>
          <p:cNvPr id="5" name="Picture 4">
            <a:extLst>
              <a:ext uri="{FF2B5EF4-FFF2-40B4-BE49-F238E27FC236}">
                <a16:creationId xmlns:a16="http://schemas.microsoft.com/office/drawing/2014/main" id="{17B8ADB0-43B9-4020-A9FE-2F52B2A8A126}"/>
              </a:ext>
            </a:extLst>
          </p:cNvPr>
          <p:cNvPicPr>
            <a:picLocks noChangeAspect="1"/>
          </p:cNvPicPr>
          <p:nvPr/>
        </p:nvPicPr>
        <p:blipFill>
          <a:blip r:embed="rId2"/>
          <a:stretch>
            <a:fillRect/>
          </a:stretch>
        </p:blipFill>
        <p:spPr>
          <a:xfrm>
            <a:off x="2050955" y="2268052"/>
            <a:ext cx="3874717" cy="1515053"/>
          </a:xfrm>
          <a:prstGeom prst="rect">
            <a:avLst/>
          </a:prstGeom>
        </p:spPr>
      </p:pic>
      <p:sp>
        <p:nvSpPr>
          <p:cNvPr id="6" name="TextBox 5">
            <a:extLst>
              <a:ext uri="{FF2B5EF4-FFF2-40B4-BE49-F238E27FC236}">
                <a16:creationId xmlns:a16="http://schemas.microsoft.com/office/drawing/2014/main" id="{B376F975-5B73-4096-9D32-421EBDEF7429}"/>
              </a:ext>
            </a:extLst>
          </p:cNvPr>
          <p:cNvSpPr txBox="1"/>
          <p:nvPr/>
        </p:nvSpPr>
        <p:spPr>
          <a:xfrm>
            <a:off x="1245729" y="1766029"/>
            <a:ext cx="10041199" cy="338554"/>
          </a:xfrm>
          <a:prstGeom prst="rect">
            <a:avLst/>
          </a:prstGeom>
          <a:noFill/>
        </p:spPr>
        <p:txBody>
          <a:bodyPr wrap="square" rtlCol="0">
            <a:spAutoFit/>
          </a:bodyPr>
          <a:lstStyle/>
          <a:p>
            <a:r>
              <a:rPr lang="en-US" sz="1600" dirty="0"/>
              <a:t>Step-5: We do the previous steps on R sub array (divide the array, sort the sub parts, find median of medians)</a:t>
            </a:r>
          </a:p>
        </p:txBody>
      </p:sp>
      <p:pic>
        <p:nvPicPr>
          <p:cNvPr id="8" name="Picture 7">
            <a:extLst>
              <a:ext uri="{FF2B5EF4-FFF2-40B4-BE49-F238E27FC236}">
                <a16:creationId xmlns:a16="http://schemas.microsoft.com/office/drawing/2014/main" id="{C579A142-106D-4C99-9519-21D1B0F2EDE5}"/>
              </a:ext>
            </a:extLst>
          </p:cNvPr>
          <p:cNvPicPr>
            <a:picLocks noChangeAspect="1"/>
          </p:cNvPicPr>
          <p:nvPr/>
        </p:nvPicPr>
        <p:blipFill>
          <a:blip r:embed="rId3"/>
          <a:stretch>
            <a:fillRect/>
          </a:stretch>
        </p:blipFill>
        <p:spPr>
          <a:xfrm>
            <a:off x="6266329" y="2268052"/>
            <a:ext cx="3874717" cy="1515053"/>
          </a:xfrm>
          <a:prstGeom prst="rect">
            <a:avLst/>
          </a:prstGeom>
        </p:spPr>
      </p:pic>
      <p:sp>
        <p:nvSpPr>
          <p:cNvPr id="9" name="TextBox 8">
            <a:extLst>
              <a:ext uri="{FF2B5EF4-FFF2-40B4-BE49-F238E27FC236}">
                <a16:creationId xmlns:a16="http://schemas.microsoft.com/office/drawing/2014/main" id="{D6A097DD-8090-4786-A8B7-46AB49276C66}"/>
              </a:ext>
            </a:extLst>
          </p:cNvPr>
          <p:cNvSpPr txBox="1"/>
          <p:nvPr/>
        </p:nvSpPr>
        <p:spPr>
          <a:xfrm>
            <a:off x="1733690" y="4798501"/>
            <a:ext cx="2600493" cy="830997"/>
          </a:xfrm>
          <a:prstGeom prst="rect">
            <a:avLst/>
          </a:prstGeom>
          <a:noFill/>
        </p:spPr>
        <p:txBody>
          <a:bodyPr wrap="square" rtlCol="0">
            <a:spAutoFit/>
          </a:bodyPr>
          <a:lstStyle/>
          <a:p>
            <a:r>
              <a:rPr lang="en-US" sz="1600" dirty="0"/>
              <a:t>Step-6: As there are 9 elements in each sub part the, 8</a:t>
            </a:r>
            <a:r>
              <a:rPr lang="en-US" sz="1600" baseline="30000" dirty="0"/>
              <a:t>th</a:t>
            </a:r>
            <a:r>
              <a:rPr lang="en-US" sz="1600" dirty="0"/>
              <a:t> element must be in L</a:t>
            </a:r>
          </a:p>
        </p:txBody>
      </p:sp>
      <p:pic>
        <p:nvPicPr>
          <p:cNvPr id="11" name="Picture 10">
            <a:extLst>
              <a:ext uri="{FF2B5EF4-FFF2-40B4-BE49-F238E27FC236}">
                <a16:creationId xmlns:a16="http://schemas.microsoft.com/office/drawing/2014/main" id="{8517F8D6-5F50-41DD-AB60-495A56EE6653}"/>
              </a:ext>
            </a:extLst>
          </p:cNvPr>
          <p:cNvPicPr>
            <a:picLocks noChangeAspect="1"/>
          </p:cNvPicPr>
          <p:nvPr/>
        </p:nvPicPr>
        <p:blipFill>
          <a:blip r:embed="rId4"/>
          <a:stretch>
            <a:fillRect/>
          </a:stretch>
        </p:blipFill>
        <p:spPr>
          <a:xfrm>
            <a:off x="4649031" y="4285128"/>
            <a:ext cx="3725960" cy="1695541"/>
          </a:xfrm>
          <a:prstGeom prst="rect">
            <a:avLst/>
          </a:prstGeom>
        </p:spPr>
      </p:pic>
    </p:spTree>
    <p:extLst>
      <p:ext uri="{BB962C8B-B14F-4D97-AF65-F5344CB8AC3E}">
        <p14:creationId xmlns:p14="http://schemas.microsoft.com/office/powerpoint/2010/main" val="41134642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33BC79-3DC5-4E19-92F4-C1941ACBC3D8}"/>
              </a:ext>
            </a:extLst>
          </p:cNvPr>
          <p:cNvSpPr>
            <a:spLocks noGrp="1"/>
          </p:cNvSpPr>
          <p:nvPr>
            <p:ph type="sldNum" sz="quarter" idx="4"/>
          </p:nvPr>
        </p:nvSpPr>
        <p:spPr/>
        <p:txBody>
          <a:bodyPr/>
          <a:lstStyle/>
          <a:p>
            <a:fld id="{58FB4751-880F-D840-AAA9-3A15815CC996}" type="slidenum">
              <a:rPr lang="en-US" smtClean="0"/>
              <a:pPr/>
              <a:t>31</a:t>
            </a:fld>
            <a:endParaRPr lang="en-US" dirty="0"/>
          </a:p>
        </p:txBody>
      </p:sp>
      <p:sp>
        <p:nvSpPr>
          <p:cNvPr id="3" name="TextBox 2">
            <a:extLst>
              <a:ext uri="{FF2B5EF4-FFF2-40B4-BE49-F238E27FC236}">
                <a16:creationId xmlns:a16="http://schemas.microsoft.com/office/drawing/2014/main" id="{FC8D1A1A-3F5E-444B-B93A-EEB06ED2FB1F}"/>
              </a:ext>
            </a:extLst>
          </p:cNvPr>
          <p:cNvSpPr txBox="1"/>
          <p:nvPr/>
        </p:nvSpPr>
        <p:spPr>
          <a:xfrm>
            <a:off x="852615" y="877330"/>
            <a:ext cx="5659396" cy="461665"/>
          </a:xfrm>
          <a:prstGeom prst="rect">
            <a:avLst/>
          </a:prstGeom>
          <a:noFill/>
        </p:spPr>
        <p:txBody>
          <a:bodyPr wrap="square" rtlCol="0">
            <a:spAutoFit/>
          </a:bodyPr>
          <a:lstStyle/>
          <a:p>
            <a:r>
              <a:rPr lang="en-US" sz="2400" dirty="0"/>
              <a:t>Median of medians: Step by step walkthrough</a:t>
            </a:r>
          </a:p>
        </p:txBody>
      </p:sp>
      <p:sp>
        <p:nvSpPr>
          <p:cNvPr id="4" name="TextBox 3">
            <a:extLst>
              <a:ext uri="{FF2B5EF4-FFF2-40B4-BE49-F238E27FC236}">
                <a16:creationId xmlns:a16="http://schemas.microsoft.com/office/drawing/2014/main" id="{F214F2E4-399C-4691-8CE9-611A48B0D30B}"/>
              </a:ext>
            </a:extLst>
          </p:cNvPr>
          <p:cNvSpPr txBox="1"/>
          <p:nvPr/>
        </p:nvSpPr>
        <p:spPr>
          <a:xfrm>
            <a:off x="1245729" y="1766029"/>
            <a:ext cx="4195847" cy="338554"/>
          </a:xfrm>
          <a:prstGeom prst="rect">
            <a:avLst/>
          </a:prstGeom>
          <a:noFill/>
        </p:spPr>
        <p:txBody>
          <a:bodyPr wrap="square" rtlCol="0">
            <a:spAutoFit/>
          </a:bodyPr>
          <a:lstStyle/>
          <a:p>
            <a:r>
              <a:rPr lang="en-US" sz="1600" dirty="0"/>
              <a:t>Step-7: This time we have to create two sub parts </a:t>
            </a:r>
          </a:p>
        </p:txBody>
      </p:sp>
      <p:pic>
        <p:nvPicPr>
          <p:cNvPr id="6" name="Picture 5">
            <a:extLst>
              <a:ext uri="{FF2B5EF4-FFF2-40B4-BE49-F238E27FC236}">
                <a16:creationId xmlns:a16="http://schemas.microsoft.com/office/drawing/2014/main" id="{961A7B8B-5F80-418B-AD39-D2699106758B}"/>
              </a:ext>
            </a:extLst>
          </p:cNvPr>
          <p:cNvPicPr>
            <a:picLocks noChangeAspect="1"/>
          </p:cNvPicPr>
          <p:nvPr/>
        </p:nvPicPr>
        <p:blipFill>
          <a:blip r:embed="rId2"/>
          <a:stretch>
            <a:fillRect/>
          </a:stretch>
        </p:blipFill>
        <p:spPr>
          <a:xfrm>
            <a:off x="1601940" y="2360710"/>
            <a:ext cx="3212107" cy="2103714"/>
          </a:xfrm>
          <a:prstGeom prst="rect">
            <a:avLst/>
          </a:prstGeom>
        </p:spPr>
      </p:pic>
      <p:sp>
        <p:nvSpPr>
          <p:cNvPr id="7" name="TextBox 6">
            <a:extLst>
              <a:ext uri="{FF2B5EF4-FFF2-40B4-BE49-F238E27FC236}">
                <a16:creationId xmlns:a16="http://schemas.microsoft.com/office/drawing/2014/main" id="{0F78ED7A-DA6B-4A3C-8C09-E8B540F6C1F7}"/>
              </a:ext>
            </a:extLst>
          </p:cNvPr>
          <p:cNvSpPr txBox="1"/>
          <p:nvPr/>
        </p:nvSpPr>
        <p:spPr>
          <a:xfrm>
            <a:off x="6750426" y="1766011"/>
            <a:ext cx="4707201" cy="584775"/>
          </a:xfrm>
          <a:prstGeom prst="rect">
            <a:avLst/>
          </a:prstGeom>
          <a:noFill/>
        </p:spPr>
        <p:txBody>
          <a:bodyPr wrap="square" rtlCol="0">
            <a:spAutoFit/>
          </a:bodyPr>
          <a:lstStyle/>
          <a:p>
            <a:r>
              <a:rPr lang="en-US" sz="1600" dirty="0"/>
              <a:t>Step-8: Since the size of L is smaller than k=8, 8</a:t>
            </a:r>
            <a:r>
              <a:rPr lang="en-US" sz="1600" baseline="30000" dirty="0"/>
              <a:t>th</a:t>
            </a:r>
            <a:r>
              <a:rPr lang="en-US" sz="1600" dirty="0"/>
              <a:t> element must be in R</a:t>
            </a:r>
          </a:p>
        </p:txBody>
      </p:sp>
      <p:pic>
        <p:nvPicPr>
          <p:cNvPr id="9" name="Picture 8">
            <a:extLst>
              <a:ext uri="{FF2B5EF4-FFF2-40B4-BE49-F238E27FC236}">
                <a16:creationId xmlns:a16="http://schemas.microsoft.com/office/drawing/2014/main" id="{51D4DB01-22E7-4F65-BF64-808C56C66FC4}"/>
              </a:ext>
            </a:extLst>
          </p:cNvPr>
          <p:cNvPicPr>
            <a:picLocks noChangeAspect="1"/>
          </p:cNvPicPr>
          <p:nvPr/>
        </p:nvPicPr>
        <p:blipFill>
          <a:blip r:embed="rId3"/>
          <a:stretch>
            <a:fillRect/>
          </a:stretch>
        </p:blipFill>
        <p:spPr>
          <a:xfrm>
            <a:off x="7078944" y="2484408"/>
            <a:ext cx="3511116" cy="2022789"/>
          </a:xfrm>
          <a:prstGeom prst="rect">
            <a:avLst/>
          </a:prstGeom>
        </p:spPr>
      </p:pic>
      <p:sp>
        <p:nvSpPr>
          <p:cNvPr id="10" name="TextBox 9">
            <a:extLst>
              <a:ext uri="{FF2B5EF4-FFF2-40B4-BE49-F238E27FC236}">
                <a16:creationId xmlns:a16="http://schemas.microsoft.com/office/drawing/2014/main" id="{8F5991F2-811C-4EE4-A19A-F7F12EA3648D}"/>
              </a:ext>
            </a:extLst>
          </p:cNvPr>
          <p:cNvSpPr txBox="1"/>
          <p:nvPr/>
        </p:nvSpPr>
        <p:spPr>
          <a:xfrm>
            <a:off x="1245728" y="4946846"/>
            <a:ext cx="3212107" cy="830997"/>
          </a:xfrm>
          <a:prstGeom prst="rect">
            <a:avLst/>
          </a:prstGeom>
          <a:noFill/>
        </p:spPr>
        <p:txBody>
          <a:bodyPr wrap="square" rtlCol="0">
            <a:spAutoFit/>
          </a:bodyPr>
          <a:lstStyle/>
          <a:p>
            <a:r>
              <a:rPr lang="en-US" sz="1600" dirty="0"/>
              <a:t>Step-9: Now R has lesser than 5 elements we can directly calculate the 2</a:t>
            </a:r>
            <a:r>
              <a:rPr lang="en-US" sz="1600" baseline="30000" dirty="0"/>
              <a:t>nd</a:t>
            </a:r>
            <a:r>
              <a:rPr lang="en-US" sz="1600" dirty="0"/>
              <a:t> smallest element which is 7</a:t>
            </a:r>
          </a:p>
        </p:txBody>
      </p:sp>
      <p:pic>
        <p:nvPicPr>
          <p:cNvPr id="12" name="Picture 11">
            <a:extLst>
              <a:ext uri="{FF2B5EF4-FFF2-40B4-BE49-F238E27FC236}">
                <a16:creationId xmlns:a16="http://schemas.microsoft.com/office/drawing/2014/main" id="{728E0E1D-C6E4-437D-8875-EA17E51B6D75}"/>
              </a:ext>
            </a:extLst>
          </p:cNvPr>
          <p:cNvPicPr>
            <a:picLocks noChangeAspect="1"/>
          </p:cNvPicPr>
          <p:nvPr/>
        </p:nvPicPr>
        <p:blipFill>
          <a:blip r:embed="rId4"/>
          <a:stretch>
            <a:fillRect/>
          </a:stretch>
        </p:blipFill>
        <p:spPr>
          <a:xfrm>
            <a:off x="4457835" y="4744020"/>
            <a:ext cx="2505425" cy="1236650"/>
          </a:xfrm>
          <a:prstGeom prst="rect">
            <a:avLst/>
          </a:prstGeom>
        </p:spPr>
      </p:pic>
      <p:sp>
        <p:nvSpPr>
          <p:cNvPr id="13" name="TextBox 12">
            <a:extLst>
              <a:ext uri="{FF2B5EF4-FFF2-40B4-BE49-F238E27FC236}">
                <a16:creationId xmlns:a16="http://schemas.microsoft.com/office/drawing/2014/main" id="{7C85E210-6ED2-411E-921E-12D1BC1DD793}"/>
              </a:ext>
            </a:extLst>
          </p:cNvPr>
          <p:cNvSpPr txBox="1"/>
          <p:nvPr/>
        </p:nvSpPr>
        <p:spPr>
          <a:xfrm>
            <a:off x="7377953" y="5193067"/>
            <a:ext cx="3212107" cy="338554"/>
          </a:xfrm>
          <a:prstGeom prst="rect">
            <a:avLst/>
          </a:prstGeom>
          <a:noFill/>
          <a:ln>
            <a:solidFill>
              <a:schemeClr val="tx1"/>
            </a:solidFill>
          </a:ln>
        </p:spPr>
        <p:txBody>
          <a:bodyPr wrap="square" rtlCol="0">
            <a:spAutoFit/>
          </a:bodyPr>
          <a:lstStyle/>
          <a:p>
            <a:r>
              <a:rPr lang="en-US" sz="1600" b="1" dirty="0"/>
              <a:t>Thus kth item in the original list : 7</a:t>
            </a:r>
          </a:p>
        </p:txBody>
      </p:sp>
    </p:spTree>
    <p:extLst>
      <p:ext uri="{BB962C8B-B14F-4D97-AF65-F5344CB8AC3E}">
        <p14:creationId xmlns:p14="http://schemas.microsoft.com/office/powerpoint/2010/main" val="2747624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C49516-E84C-4C57-9D27-F3635DCA8205}"/>
              </a:ext>
            </a:extLst>
          </p:cNvPr>
          <p:cNvSpPr>
            <a:spLocks noGrp="1"/>
          </p:cNvSpPr>
          <p:nvPr>
            <p:ph type="sldNum" sz="quarter" idx="4"/>
          </p:nvPr>
        </p:nvSpPr>
        <p:spPr/>
        <p:txBody>
          <a:bodyPr/>
          <a:lstStyle/>
          <a:p>
            <a:fld id="{58FB4751-880F-D840-AAA9-3A15815CC996}" type="slidenum">
              <a:rPr lang="en-US" smtClean="0"/>
              <a:pPr/>
              <a:t>32</a:t>
            </a:fld>
            <a:endParaRPr lang="en-US" dirty="0"/>
          </a:p>
        </p:txBody>
      </p:sp>
      <p:sp>
        <p:nvSpPr>
          <p:cNvPr id="3" name="TextBox 2">
            <a:extLst>
              <a:ext uri="{FF2B5EF4-FFF2-40B4-BE49-F238E27FC236}">
                <a16:creationId xmlns:a16="http://schemas.microsoft.com/office/drawing/2014/main" id="{F744E63A-8B02-4091-A2E7-E5F11CCC813C}"/>
              </a:ext>
            </a:extLst>
          </p:cNvPr>
          <p:cNvSpPr txBox="1"/>
          <p:nvPr/>
        </p:nvSpPr>
        <p:spPr>
          <a:xfrm>
            <a:off x="852615" y="877330"/>
            <a:ext cx="5659396" cy="461665"/>
          </a:xfrm>
          <a:prstGeom prst="rect">
            <a:avLst/>
          </a:prstGeom>
          <a:noFill/>
        </p:spPr>
        <p:txBody>
          <a:bodyPr wrap="square" rtlCol="0">
            <a:spAutoFit/>
          </a:bodyPr>
          <a:lstStyle/>
          <a:p>
            <a:r>
              <a:rPr lang="en-US" sz="2400" dirty="0"/>
              <a:t>Median of medians: Time Complexity Analysis</a:t>
            </a:r>
          </a:p>
        </p:txBody>
      </p:sp>
      <p:sp>
        <p:nvSpPr>
          <p:cNvPr id="5" name="TextBox 4">
            <a:extLst>
              <a:ext uri="{FF2B5EF4-FFF2-40B4-BE49-F238E27FC236}">
                <a16:creationId xmlns:a16="http://schemas.microsoft.com/office/drawing/2014/main" id="{B68DEBD3-2BD6-401F-B838-01B37C88A16B}"/>
              </a:ext>
            </a:extLst>
          </p:cNvPr>
          <p:cNvSpPr txBox="1"/>
          <p:nvPr/>
        </p:nvSpPr>
        <p:spPr>
          <a:xfrm>
            <a:off x="852615" y="1577787"/>
            <a:ext cx="4249271" cy="707886"/>
          </a:xfrm>
          <a:prstGeom prst="rect">
            <a:avLst/>
          </a:prstGeom>
          <a:noFill/>
        </p:spPr>
        <p:txBody>
          <a:bodyPr wrap="square" rtlCol="0">
            <a:spAutoFit/>
          </a:bodyPr>
          <a:lstStyle/>
          <a:p>
            <a:r>
              <a:rPr lang="en-US" sz="2000" i="1" dirty="0"/>
              <a:t>This algorithm runs in O(n) time. Let’s dive into it and understand how?</a:t>
            </a:r>
          </a:p>
        </p:txBody>
      </p:sp>
      <p:sp>
        <p:nvSpPr>
          <p:cNvPr id="6" name="TextBox 5">
            <a:extLst>
              <a:ext uri="{FF2B5EF4-FFF2-40B4-BE49-F238E27FC236}">
                <a16:creationId xmlns:a16="http://schemas.microsoft.com/office/drawing/2014/main" id="{1E8E21B4-5417-4D76-BB1A-B6F46282648E}"/>
              </a:ext>
            </a:extLst>
          </p:cNvPr>
          <p:cNvSpPr txBox="1"/>
          <p:nvPr/>
        </p:nvSpPr>
        <p:spPr>
          <a:xfrm>
            <a:off x="968188" y="2622176"/>
            <a:ext cx="10255624" cy="1815882"/>
          </a:xfrm>
          <a:prstGeom prst="rect">
            <a:avLst/>
          </a:prstGeom>
          <a:noFill/>
        </p:spPr>
        <p:txBody>
          <a:bodyPr wrap="square" rtlCol="0">
            <a:spAutoFit/>
          </a:bodyPr>
          <a:lstStyle/>
          <a:p>
            <a:r>
              <a:rPr lang="en-US" sz="1600" dirty="0"/>
              <a:t>n is divided into n/5 sub lists of five elements each. If M is the list of all of the medians from these sub lists, then M has (n/5 -1) median for each of the n/5 sub lists. </a:t>
            </a:r>
          </a:p>
          <a:p>
            <a:r>
              <a:rPr lang="en-US" sz="1600" dirty="0"/>
              <a:t>Let’s call the median of this list (median of medians) p. </a:t>
            </a:r>
          </a:p>
          <a:p>
            <a:r>
              <a:rPr lang="en-US" sz="1600" dirty="0"/>
              <a:t>Half of the n/5 elements in M are less than p. Half of n/5 = n/10.</a:t>
            </a:r>
          </a:p>
          <a:p>
            <a:r>
              <a:rPr lang="en-US" sz="1600" dirty="0"/>
              <a:t>For each of these n/10 elements, there are two elements that are smaller than it (since these elements were medians in lists of five elements-two elements were smaller and two elements were larger).</a:t>
            </a:r>
          </a:p>
          <a:p>
            <a:r>
              <a:rPr lang="en-US" sz="1600" dirty="0"/>
              <a:t>Therefore, there are 3n/10 &lt; p and , in the worst case, the algorithm may have to recurse on the remaining 7n/10 elements.</a:t>
            </a:r>
          </a:p>
        </p:txBody>
      </p:sp>
      <p:sp>
        <p:nvSpPr>
          <p:cNvPr id="7" name="TextBox 6">
            <a:extLst>
              <a:ext uri="{FF2B5EF4-FFF2-40B4-BE49-F238E27FC236}">
                <a16:creationId xmlns:a16="http://schemas.microsoft.com/office/drawing/2014/main" id="{784BD76A-5B4A-4777-BB12-7AD68081DD16}"/>
              </a:ext>
            </a:extLst>
          </p:cNvPr>
          <p:cNvSpPr txBox="1"/>
          <p:nvPr/>
        </p:nvSpPr>
        <p:spPr>
          <a:xfrm>
            <a:off x="968188" y="4890242"/>
            <a:ext cx="4579997" cy="1077218"/>
          </a:xfrm>
          <a:prstGeom prst="rect">
            <a:avLst/>
          </a:prstGeom>
          <a:noFill/>
        </p:spPr>
        <p:txBody>
          <a:bodyPr wrap="square" rtlCol="0">
            <a:spAutoFit/>
          </a:bodyPr>
          <a:lstStyle/>
          <a:p>
            <a:r>
              <a:rPr lang="en-US" sz="1600" dirty="0"/>
              <a:t>The time for dividing lists is </a:t>
            </a:r>
            <a:r>
              <a:rPr lang="en-US" sz="1600" b="1" dirty="0"/>
              <a:t>T(n)</a:t>
            </a:r>
            <a:r>
              <a:rPr lang="en-US" sz="1600" dirty="0"/>
              <a:t>,</a:t>
            </a:r>
          </a:p>
          <a:p>
            <a:r>
              <a:rPr lang="en-US" sz="1600" dirty="0"/>
              <a:t>The time for finding medians of the sub lists is </a:t>
            </a:r>
            <a:r>
              <a:rPr lang="en-US" sz="1600" b="1" dirty="0"/>
              <a:t>T(n/5)</a:t>
            </a:r>
          </a:p>
          <a:p>
            <a:r>
              <a:rPr lang="en-US" sz="1600" dirty="0"/>
              <a:t>The time for recursive call on median is </a:t>
            </a:r>
            <a:r>
              <a:rPr lang="en-US" sz="1600" b="1" dirty="0"/>
              <a:t>T(n/5)</a:t>
            </a:r>
            <a:endParaRPr lang="en-US" sz="1600" dirty="0"/>
          </a:p>
          <a:p>
            <a:r>
              <a:rPr lang="en-US" sz="1600" dirty="0"/>
              <a:t>The time for partitioning is </a:t>
            </a:r>
            <a:r>
              <a:rPr lang="en-US" sz="1600" b="1" dirty="0"/>
              <a:t>T(n)</a:t>
            </a:r>
            <a:endParaRPr lang="en-US" sz="1600" dirty="0"/>
          </a:p>
        </p:txBody>
      </p:sp>
      <p:sp>
        <p:nvSpPr>
          <p:cNvPr id="8" name="TextBox 7">
            <a:extLst>
              <a:ext uri="{FF2B5EF4-FFF2-40B4-BE49-F238E27FC236}">
                <a16:creationId xmlns:a16="http://schemas.microsoft.com/office/drawing/2014/main" id="{19C25BFC-23FB-44D0-A161-A151164AE49D}"/>
              </a:ext>
            </a:extLst>
          </p:cNvPr>
          <p:cNvSpPr txBox="1"/>
          <p:nvPr/>
        </p:nvSpPr>
        <p:spPr>
          <a:xfrm>
            <a:off x="6096000" y="4774561"/>
            <a:ext cx="4701988" cy="1200329"/>
          </a:xfrm>
          <a:prstGeom prst="rect">
            <a:avLst/>
          </a:prstGeom>
          <a:noFill/>
          <a:ln>
            <a:solidFill>
              <a:schemeClr val="tx1"/>
            </a:solidFill>
          </a:ln>
        </p:spPr>
        <p:txBody>
          <a:bodyPr wrap="square" rtlCol="0">
            <a:spAutoFit/>
          </a:bodyPr>
          <a:lstStyle/>
          <a:p>
            <a:r>
              <a:rPr lang="en-US" dirty="0"/>
              <a:t>The overall recurrence to describe the algorithm is </a:t>
            </a:r>
          </a:p>
          <a:p>
            <a:pPr algn="ctr"/>
            <a:r>
              <a:rPr lang="pt-BR" b="0" i="1" dirty="0">
                <a:solidFill>
                  <a:srgbClr val="161616"/>
                </a:solidFill>
                <a:effectLst/>
                <a:latin typeface="KaTeX_Math"/>
              </a:rPr>
              <a:t>T</a:t>
            </a:r>
            <a:r>
              <a:rPr lang="pt-BR" b="0" i="0" dirty="0">
                <a:solidFill>
                  <a:srgbClr val="161616"/>
                </a:solidFill>
                <a:effectLst/>
                <a:latin typeface="KaTeX_Main"/>
              </a:rPr>
              <a:t>(</a:t>
            </a:r>
            <a:r>
              <a:rPr lang="pt-BR" b="0" i="1" dirty="0">
                <a:solidFill>
                  <a:srgbClr val="161616"/>
                </a:solidFill>
                <a:effectLst/>
                <a:latin typeface="KaTeX_Math"/>
              </a:rPr>
              <a:t>n</a:t>
            </a:r>
            <a:r>
              <a:rPr lang="pt-BR" b="0" i="0" dirty="0">
                <a:solidFill>
                  <a:srgbClr val="161616"/>
                </a:solidFill>
                <a:effectLst/>
                <a:latin typeface="KaTeX_Main"/>
              </a:rPr>
              <a:t>) ≤ </a:t>
            </a:r>
            <a:r>
              <a:rPr lang="pt-BR" b="0" i="1" dirty="0">
                <a:solidFill>
                  <a:srgbClr val="161616"/>
                </a:solidFill>
                <a:effectLst/>
                <a:latin typeface="KaTeX_Math"/>
              </a:rPr>
              <a:t>T</a:t>
            </a:r>
            <a:r>
              <a:rPr lang="pt-BR" b="0" i="0" dirty="0">
                <a:solidFill>
                  <a:srgbClr val="161616"/>
                </a:solidFill>
                <a:effectLst/>
                <a:latin typeface="KaTeX_Size2"/>
              </a:rPr>
              <a:t>( </a:t>
            </a:r>
            <a:r>
              <a:rPr lang="pt-BR" b="0" i="1" dirty="0">
                <a:solidFill>
                  <a:srgbClr val="161616"/>
                </a:solidFill>
                <a:effectLst/>
                <a:latin typeface="KaTeX_Math"/>
              </a:rPr>
              <a:t>n/5</a:t>
            </a:r>
            <a:r>
              <a:rPr lang="pt-BR" b="0" i="0" dirty="0">
                <a:solidFill>
                  <a:srgbClr val="161616"/>
                </a:solidFill>
                <a:effectLst/>
                <a:latin typeface="KaTeX_Main"/>
              </a:rPr>
              <a:t>​ </a:t>
            </a:r>
            <a:r>
              <a:rPr lang="pt-BR" b="0" i="0" dirty="0">
                <a:solidFill>
                  <a:srgbClr val="161616"/>
                </a:solidFill>
                <a:effectLst/>
                <a:latin typeface="KaTeX_Size2"/>
              </a:rPr>
              <a:t>) </a:t>
            </a:r>
            <a:r>
              <a:rPr lang="pt-BR" b="0" i="0" dirty="0">
                <a:solidFill>
                  <a:srgbClr val="161616"/>
                </a:solidFill>
                <a:effectLst/>
                <a:latin typeface="KaTeX_Main"/>
              </a:rPr>
              <a:t>+ </a:t>
            </a:r>
            <a:r>
              <a:rPr lang="pt-BR" b="0" i="1" dirty="0">
                <a:solidFill>
                  <a:srgbClr val="161616"/>
                </a:solidFill>
                <a:effectLst/>
                <a:latin typeface="KaTeX_Math"/>
              </a:rPr>
              <a:t>T</a:t>
            </a:r>
            <a:r>
              <a:rPr lang="pt-BR" b="0" i="0" dirty="0">
                <a:solidFill>
                  <a:srgbClr val="161616"/>
                </a:solidFill>
                <a:effectLst/>
                <a:latin typeface="KaTeX_Size3"/>
              </a:rPr>
              <a:t>( </a:t>
            </a:r>
            <a:r>
              <a:rPr lang="pt-BR" b="0" i="0" dirty="0">
                <a:solidFill>
                  <a:srgbClr val="161616"/>
                </a:solidFill>
                <a:effectLst/>
                <a:latin typeface="KaTeX_Main"/>
              </a:rPr>
              <a:t>7</a:t>
            </a:r>
            <a:r>
              <a:rPr lang="pt-BR" b="0" i="1" dirty="0">
                <a:solidFill>
                  <a:srgbClr val="161616"/>
                </a:solidFill>
                <a:effectLst/>
                <a:latin typeface="KaTeX_Math"/>
              </a:rPr>
              <a:t>n/10 </a:t>
            </a:r>
            <a:r>
              <a:rPr lang="pt-BR" b="0" i="0" dirty="0">
                <a:solidFill>
                  <a:srgbClr val="161616"/>
                </a:solidFill>
                <a:effectLst/>
                <a:latin typeface="KaTeX_Main"/>
              </a:rPr>
              <a:t>​</a:t>
            </a:r>
            <a:r>
              <a:rPr lang="pt-BR" b="0" i="0" dirty="0">
                <a:solidFill>
                  <a:srgbClr val="161616"/>
                </a:solidFill>
                <a:effectLst/>
                <a:latin typeface="KaTeX_Size3"/>
              </a:rPr>
              <a:t>) </a:t>
            </a:r>
            <a:r>
              <a:rPr lang="pt-BR" b="0" i="0" dirty="0">
                <a:solidFill>
                  <a:srgbClr val="161616"/>
                </a:solidFill>
                <a:effectLst/>
                <a:latin typeface="KaTeX_Main"/>
              </a:rPr>
              <a:t>+ </a:t>
            </a:r>
            <a:r>
              <a:rPr lang="pt-BR" b="0" i="1" dirty="0">
                <a:solidFill>
                  <a:srgbClr val="161616"/>
                </a:solidFill>
                <a:effectLst/>
                <a:latin typeface="KaTeX_Math"/>
              </a:rPr>
              <a:t>O</a:t>
            </a:r>
            <a:r>
              <a:rPr lang="pt-BR" b="0" i="0" dirty="0">
                <a:solidFill>
                  <a:srgbClr val="161616"/>
                </a:solidFill>
                <a:effectLst/>
                <a:latin typeface="KaTeX_Main"/>
              </a:rPr>
              <a:t>( </a:t>
            </a:r>
            <a:r>
              <a:rPr lang="pt-BR" b="0" i="1" dirty="0">
                <a:solidFill>
                  <a:srgbClr val="161616"/>
                </a:solidFill>
                <a:effectLst/>
                <a:latin typeface="KaTeX_Math"/>
              </a:rPr>
              <a:t>n </a:t>
            </a:r>
            <a:r>
              <a:rPr lang="pt-BR" b="0" i="0" dirty="0">
                <a:solidFill>
                  <a:srgbClr val="161616"/>
                </a:solidFill>
                <a:effectLst/>
                <a:latin typeface="KaTeX_Main"/>
              </a:rPr>
              <a:t>)</a:t>
            </a:r>
          </a:p>
          <a:p>
            <a:pPr algn="ctr"/>
            <a:r>
              <a:rPr lang="pt-BR" dirty="0">
                <a:solidFill>
                  <a:srgbClr val="161616"/>
                </a:solidFill>
              </a:rPr>
              <a:t>Using master theorem we can show the running time is O(n)</a:t>
            </a:r>
            <a:endParaRPr lang="en-US" dirty="0"/>
          </a:p>
        </p:txBody>
      </p:sp>
    </p:spTree>
    <p:extLst>
      <p:ext uri="{BB962C8B-B14F-4D97-AF65-F5344CB8AC3E}">
        <p14:creationId xmlns:p14="http://schemas.microsoft.com/office/powerpoint/2010/main" val="3111831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8A926BF-C2A6-4234-9C5C-8A3655333404}"/>
              </a:ext>
            </a:extLst>
          </p:cNvPr>
          <p:cNvSpPr>
            <a:spLocks noGrp="1"/>
          </p:cNvSpPr>
          <p:nvPr>
            <p:ph type="title"/>
          </p:nvPr>
        </p:nvSpPr>
        <p:spPr/>
        <p:txBody>
          <a:bodyPr/>
          <a:lstStyle/>
          <a:p>
            <a:r>
              <a:rPr lang="en-US" dirty="0"/>
              <a:t>Quick Select – Real World Use Cases</a:t>
            </a:r>
          </a:p>
        </p:txBody>
      </p:sp>
      <p:sp>
        <p:nvSpPr>
          <p:cNvPr id="2" name="Slide Number Placeholder 1">
            <a:extLst>
              <a:ext uri="{FF2B5EF4-FFF2-40B4-BE49-F238E27FC236}">
                <a16:creationId xmlns:a16="http://schemas.microsoft.com/office/drawing/2014/main" id="{728563A0-2E7A-4D6F-8338-802ECDF0BDB4}"/>
              </a:ext>
            </a:extLst>
          </p:cNvPr>
          <p:cNvSpPr>
            <a:spLocks noGrp="1"/>
          </p:cNvSpPr>
          <p:nvPr>
            <p:ph type="sldNum" sz="quarter" idx="4"/>
          </p:nvPr>
        </p:nvSpPr>
        <p:spPr/>
        <p:txBody>
          <a:bodyPr/>
          <a:lstStyle/>
          <a:p>
            <a:fld id="{58FB4751-880F-D840-AAA9-3A15815CC996}" type="slidenum">
              <a:rPr lang="en-US" smtClean="0"/>
              <a:pPr/>
              <a:t>33</a:t>
            </a:fld>
            <a:endParaRPr lang="en-US" dirty="0"/>
          </a:p>
        </p:txBody>
      </p:sp>
      <p:sp>
        <p:nvSpPr>
          <p:cNvPr id="8" name="TextBox 7">
            <a:extLst>
              <a:ext uri="{FF2B5EF4-FFF2-40B4-BE49-F238E27FC236}">
                <a16:creationId xmlns:a16="http://schemas.microsoft.com/office/drawing/2014/main" id="{CCA9F472-D461-49D6-879A-BE5DF2AE56FC}"/>
              </a:ext>
            </a:extLst>
          </p:cNvPr>
          <p:cNvSpPr txBox="1"/>
          <p:nvPr/>
        </p:nvSpPr>
        <p:spPr>
          <a:xfrm>
            <a:off x="1124465" y="2162432"/>
            <a:ext cx="5474043" cy="3970318"/>
          </a:xfrm>
          <a:prstGeom prst="rect">
            <a:avLst/>
          </a:prstGeom>
          <a:noFill/>
        </p:spPr>
        <p:txBody>
          <a:bodyPr wrap="square" rtlCol="0">
            <a:spAutoFit/>
          </a:bodyPr>
          <a:lstStyle/>
          <a:p>
            <a:pPr marL="342900" indent="-342900">
              <a:buAutoNum type="arabicPeriod"/>
            </a:pPr>
            <a:r>
              <a:rPr lang="en-US" sz="1400" dirty="0"/>
              <a:t>Finding Median in a Dataset</a:t>
            </a:r>
          </a:p>
          <a:p>
            <a:pPr marL="742950" lvl="1" indent="-285750">
              <a:buFont typeface="Arial" panose="020B0604020202020204" pitchFamily="34" charset="0"/>
              <a:buChar char="•"/>
            </a:pPr>
            <a:r>
              <a:rPr lang="en-US" sz="1400" dirty="0"/>
              <a:t>Used in statistics or analytics to find the median without sorting he entire dataset. </a:t>
            </a:r>
          </a:p>
          <a:p>
            <a:pPr marL="742950" lvl="1" indent="-285750">
              <a:buFont typeface="Arial" panose="020B0604020202020204" pitchFamily="34" charset="0"/>
              <a:buChar char="•"/>
            </a:pPr>
            <a:r>
              <a:rPr lang="en-US" sz="1400" dirty="0"/>
              <a:t>Example: Finding the median income from millions of entries in a census database </a:t>
            </a:r>
          </a:p>
          <a:p>
            <a:pPr marL="342900" indent="-342900">
              <a:buFont typeface="+mj-lt"/>
              <a:buAutoNum type="arabicPeriod"/>
            </a:pPr>
            <a:r>
              <a:rPr lang="en-US" sz="1400" dirty="0"/>
              <a:t>Top K elements </a:t>
            </a:r>
          </a:p>
          <a:p>
            <a:pPr marL="800100" lvl="1" indent="-342900">
              <a:buFont typeface="Arial" panose="020B0604020202020204" pitchFamily="34" charset="0"/>
              <a:buChar char="•"/>
            </a:pPr>
            <a:r>
              <a:rPr lang="en-US" sz="1400" dirty="0"/>
              <a:t>Used in Search Engines or Ranking Systems to find the top k highest or lowest values</a:t>
            </a:r>
          </a:p>
          <a:p>
            <a:pPr marL="800100" lvl="1" indent="-342900">
              <a:buFont typeface="Arial" panose="020B0604020202020204" pitchFamily="34" charset="0"/>
              <a:buChar char="•"/>
            </a:pPr>
            <a:r>
              <a:rPr lang="en-US" sz="1400" dirty="0"/>
              <a:t>Example: Showing top 10 trending hashtags on Twitter</a:t>
            </a:r>
          </a:p>
          <a:p>
            <a:pPr marL="342900" indent="-342900">
              <a:buFont typeface="+mj-lt"/>
              <a:buAutoNum type="arabicPeriod"/>
            </a:pPr>
            <a:r>
              <a:rPr lang="en-US" sz="1400" dirty="0"/>
              <a:t>Real Time Analytics </a:t>
            </a:r>
          </a:p>
          <a:p>
            <a:pPr marL="800100" lvl="1" indent="-342900">
              <a:buFont typeface="Arial" panose="020B0604020202020204" pitchFamily="34" charset="0"/>
              <a:buChar char="•"/>
            </a:pPr>
            <a:r>
              <a:rPr lang="en-US" sz="1400" dirty="0"/>
              <a:t>Quick select is ideal when you need quick, approximate results</a:t>
            </a:r>
          </a:p>
          <a:p>
            <a:pPr marL="800100" lvl="1" indent="-342900">
              <a:buFont typeface="Arial" panose="020B0604020202020204" pitchFamily="34" charset="0"/>
              <a:buChar char="•"/>
            </a:pPr>
            <a:r>
              <a:rPr lang="en-US" sz="1400" dirty="0"/>
              <a:t>Example: Finding the 90</a:t>
            </a:r>
            <a:r>
              <a:rPr lang="en-US" sz="1400" baseline="30000" dirty="0"/>
              <a:t>th</a:t>
            </a:r>
            <a:r>
              <a:rPr lang="en-US" sz="1400" dirty="0"/>
              <a:t> percentile latency in performance monitoring tools</a:t>
            </a:r>
          </a:p>
          <a:p>
            <a:pPr marL="342900" indent="-342900">
              <a:buFont typeface="+mj-lt"/>
              <a:buAutoNum type="arabicPeriod"/>
            </a:pPr>
            <a:r>
              <a:rPr lang="en-US" sz="1400" dirty="0"/>
              <a:t>Memory Efficient Selection</a:t>
            </a:r>
          </a:p>
          <a:p>
            <a:pPr marL="800100" lvl="1" indent="-342900">
              <a:buFont typeface="Arial" panose="020B0604020202020204" pitchFamily="34" charset="0"/>
              <a:buChar char="•"/>
            </a:pPr>
            <a:r>
              <a:rPr lang="en-US" sz="1400" dirty="0"/>
              <a:t>Requires less memory than sorting, especially for embedded devices.</a:t>
            </a:r>
          </a:p>
          <a:p>
            <a:pPr marL="800100" lvl="1" indent="-342900">
              <a:buFont typeface="Arial" panose="020B0604020202020204" pitchFamily="34" charset="0"/>
              <a:buChar char="•"/>
            </a:pPr>
            <a:r>
              <a:rPr lang="en-US" sz="1400" dirty="0"/>
              <a:t>Example: Processing sensor data on IoT devices to filter top/bottom values.</a:t>
            </a:r>
          </a:p>
        </p:txBody>
      </p:sp>
      <p:pic>
        <p:nvPicPr>
          <p:cNvPr id="10" name="Picture 9">
            <a:extLst>
              <a:ext uri="{FF2B5EF4-FFF2-40B4-BE49-F238E27FC236}">
                <a16:creationId xmlns:a16="http://schemas.microsoft.com/office/drawing/2014/main" id="{4B07A124-4D22-4B6D-B7CD-1E6A43F14FC7}"/>
              </a:ext>
            </a:extLst>
          </p:cNvPr>
          <p:cNvPicPr>
            <a:picLocks noChangeAspect="1"/>
          </p:cNvPicPr>
          <p:nvPr/>
        </p:nvPicPr>
        <p:blipFill rotWithShape="1">
          <a:blip r:embed="rId2">
            <a:alphaModFix/>
          </a:blip>
          <a:stretch/>
        </p:blipFill>
        <p:spPr>
          <a:xfrm>
            <a:off x="7634416" y="1983919"/>
            <a:ext cx="3217280" cy="2067857"/>
          </a:xfrm>
          <a:prstGeom prst="rect">
            <a:avLst/>
          </a:prstGeom>
          <a:effectLst>
            <a:softEdge rad="31750"/>
          </a:effectLst>
        </p:spPr>
      </p:pic>
      <p:pic>
        <p:nvPicPr>
          <p:cNvPr id="12" name="Picture 11">
            <a:extLst>
              <a:ext uri="{FF2B5EF4-FFF2-40B4-BE49-F238E27FC236}">
                <a16:creationId xmlns:a16="http://schemas.microsoft.com/office/drawing/2014/main" id="{FB73ED39-0E0A-4765-A001-54A8CF044E24}"/>
              </a:ext>
            </a:extLst>
          </p:cNvPr>
          <p:cNvPicPr>
            <a:picLocks noChangeAspect="1"/>
          </p:cNvPicPr>
          <p:nvPr/>
        </p:nvPicPr>
        <p:blipFill rotWithShape="1">
          <a:blip r:embed="rId3"/>
          <a:srcRect l="-264" t="-146" r="264" b="-146"/>
          <a:stretch/>
        </p:blipFill>
        <p:spPr>
          <a:xfrm>
            <a:off x="7634416" y="4206896"/>
            <a:ext cx="3200400" cy="1925854"/>
          </a:xfrm>
          <a:prstGeom prst="rect">
            <a:avLst/>
          </a:prstGeom>
          <a:effectLst/>
        </p:spPr>
      </p:pic>
    </p:spTree>
    <p:extLst>
      <p:ext uri="{BB962C8B-B14F-4D97-AF65-F5344CB8AC3E}">
        <p14:creationId xmlns:p14="http://schemas.microsoft.com/office/powerpoint/2010/main" val="2456931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7717B-DF57-435B-A3B5-E2E060000DD8}"/>
              </a:ext>
            </a:extLst>
          </p:cNvPr>
          <p:cNvSpPr>
            <a:spLocks noGrp="1"/>
          </p:cNvSpPr>
          <p:nvPr>
            <p:ph type="title"/>
          </p:nvPr>
        </p:nvSpPr>
        <p:spPr/>
        <p:txBody>
          <a:bodyPr/>
          <a:lstStyle/>
          <a:p>
            <a:r>
              <a:rPr lang="en-US" dirty="0"/>
              <a:t>Median of Medians Real World Use Cases</a:t>
            </a:r>
          </a:p>
        </p:txBody>
      </p:sp>
      <p:sp>
        <p:nvSpPr>
          <p:cNvPr id="4" name="Slide Number Placeholder 3">
            <a:extLst>
              <a:ext uri="{FF2B5EF4-FFF2-40B4-BE49-F238E27FC236}">
                <a16:creationId xmlns:a16="http://schemas.microsoft.com/office/drawing/2014/main" id="{F3E552E3-E11F-410D-AE35-99203ACAB99E}"/>
              </a:ext>
            </a:extLst>
          </p:cNvPr>
          <p:cNvSpPr>
            <a:spLocks noGrp="1"/>
          </p:cNvSpPr>
          <p:nvPr>
            <p:ph type="sldNum" sz="quarter" idx="4"/>
          </p:nvPr>
        </p:nvSpPr>
        <p:spPr/>
        <p:txBody>
          <a:bodyPr/>
          <a:lstStyle/>
          <a:p>
            <a:fld id="{58FB4751-880F-D840-AAA9-3A15815CC996}" type="slidenum">
              <a:rPr lang="en-US" smtClean="0"/>
              <a:pPr/>
              <a:t>34</a:t>
            </a:fld>
            <a:endParaRPr lang="en-US" dirty="0"/>
          </a:p>
        </p:txBody>
      </p:sp>
      <p:sp>
        <p:nvSpPr>
          <p:cNvPr id="5" name="TextBox 4">
            <a:extLst>
              <a:ext uri="{FF2B5EF4-FFF2-40B4-BE49-F238E27FC236}">
                <a16:creationId xmlns:a16="http://schemas.microsoft.com/office/drawing/2014/main" id="{0C93B3A4-51FE-4946-B495-3C651534C38C}"/>
              </a:ext>
            </a:extLst>
          </p:cNvPr>
          <p:cNvSpPr txBox="1"/>
          <p:nvPr/>
        </p:nvSpPr>
        <p:spPr>
          <a:xfrm>
            <a:off x="1124465" y="2162432"/>
            <a:ext cx="5474043" cy="3108543"/>
          </a:xfrm>
          <a:prstGeom prst="rect">
            <a:avLst/>
          </a:prstGeom>
          <a:noFill/>
        </p:spPr>
        <p:txBody>
          <a:bodyPr wrap="square" rtlCol="0">
            <a:spAutoFit/>
          </a:bodyPr>
          <a:lstStyle/>
          <a:p>
            <a:pPr marL="342900" indent="-342900">
              <a:buAutoNum type="arabicPeriod"/>
            </a:pPr>
            <a:r>
              <a:rPr lang="en-US" sz="1400" dirty="0"/>
              <a:t>Worst Case Performance Critical Systems</a:t>
            </a:r>
          </a:p>
          <a:p>
            <a:pPr marL="742950" lvl="1" indent="-285750">
              <a:buFont typeface="Arial" panose="020B0604020202020204" pitchFamily="34" charset="0"/>
              <a:buChar char="•"/>
            </a:pPr>
            <a:r>
              <a:rPr lang="en-US" sz="1400" dirty="0"/>
              <a:t>Used when predictable performance Is required even in the worst case scenario</a:t>
            </a:r>
          </a:p>
          <a:p>
            <a:pPr marL="742950" lvl="1" indent="-285750">
              <a:buFont typeface="Arial" panose="020B0604020202020204" pitchFamily="34" charset="0"/>
              <a:buChar char="•"/>
            </a:pPr>
            <a:r>
              <a:rPr lang="en-US" sz="1400" dirty="0"/>
              <a:t>Example: Safety critical applications (medical, aviation)</a:t>
            </a:r>
          </a:p>
          <a:p>
            <a:pPr marL="342900" indent="-342900">
              <a:buFont typeface="+mj-lt"/>
              <a:buAutoNum type="arabicPeriod"/>
            </a:pPr>
            <a:r>
              <a:rPr lang="en-US" sz="1400" dirty="0"/>
              <a:t>Deterministic Algorithms </a:t>
            </a:r>
          </a:p>
          <a:p>
            <a:pPr marL="800100" lvl="1" indent="-342900">
              <a:buFont typeface="Arial" panose="020B0604020202020204" pitchFamily="34" charset="0"/>
              <a:buChar char="•"/>
            </a:pPr>
            <a:r>
              <a:rPr lang="en-US" sz="1400" dirty="0"/>
              <a:t>Required in systems where randomization is not allowed (Cryptographic protocols)</a:t>
            </a:r>
          </a:p>
          <a:p>
            <a:pPr marL="800100" lvl="1" indent="-342900">
              <a:buFont typeface="Arial" panose="020B0604020202020204" pitchFamily="34" charset="0"/>
              <a:buChar char="•"/>
            </a:pPr>
            <a:r>
              <a:rPr lang="en-US" sz="1400" dirty="0"/>
              <a:t>Example: Secure computation system where result timing must be consistent</a:t>
            </a:r>
          </a:p>
          <a:p>
            <a:pPr marL="342900" indent="-342900">
              <a:buFont typeface="+mj-lt"/>
              <a:buAutoNum type="arabicPeriod"/>
            </a:pPr>
            <a:r>
              <a:rPr lang="en-US" sz="1400" dirty="0"/>
              <a:t>Data Structure Guarantees</a:t>
            </a:r>
          </a:p>
          <a:p>
            <a:pPr marL="800100" lvl="1" indent="-342900">
              <a:buFont typeface="Arial" panose="020B0604020202020204" pitchFamily="34" charset="0"/>
              <a:buChar char="•"/>
            </a:pPr>
            <a:r>
              <a:rPr lang="en-US" sz="1400" dirty="0"/>
              <a:t>Algorithms that require selection as a subroutine with guaranteed performance</a:t>
            </a:r>
          </a:p>
          <a:p>
            <a:pPr marL="342900" indent="-342900">
              <a:buFont typeface="+mj-lt"/>
              <a:buAutoNum type="arabicPeriod"/>
            </a:pPr>
            <a:r>
              <a:rPr lang="en-US" sz="1400" dirty="0"/>
              <a:t>Competitive Programming </a:t>
            </a:r>
          </a:p>
          <a:p>
            <a:pPr marL="800100" lvl="1" indent="-342900">
              <a:buFont typeface="Arial" panose="020B0604020202020204" pitchFamily="34" charset="0"/>
              <a:buChar char="•"/>
            </a:pPr>
            <a:r>
              <a:rPr lang="en-US" sz="1400" dirty="0"/>
              <a:t>Helps to solve problems that need to solved in linear time </a:t>
            </a:r>
          </a:p>
        </p:txBody>
      </p:sp>
      <p:pic>
        <p:nvPicPr>
          <p:cNvPr id="7" name="Picture 6">
            <a:extLst>
              <a:ext uri="{FF2B5EF4-FFF2-40B4-BE49-F238E27FC236}">
                <a16:creationId xmlns:a16="http://schemas.microsoft.com/office/drawing/2014/main" id="{099D36F0-1F75-4A09-8E8F-DD8265C72F4F}"/>
              </a:ext>
            </a:extLst>
          </p:cNvPr>
          <p:cNvPicPr>
            <a:picLocks noChangeAspect="1"/>
          </p:cNvPicPr>
          <p:nvPr/>
        </p:nvPicPr>
        <p:blipFill>
          <a:blip r:embed="rId2"/>
          <a:stretch>
            <a:fillRect/>
          </a:stretch>
        </p:blipFill>
        <p:spPr>
          <a:xfrm>
            <a:off x="6898118" y="2156287"/>
            <a:ext cx="4169417" cy="1441629"/>
          </a:xfrm>
          <a:prstGeom prst="rect">
            <a:avLst/>
          </a:prstGeom>
        </p:spPr>
      </p:pic>
      <p:pic>
        <p:nvPicPr>
          <p:cNvPr id="9" name="Picture 8">
            <a:extLst>
              <a:ext uri="{FF2B5EF4-FFF2-40B4-BE49-F238E27FC236}">
                <a16:creationId xmlns:a16="http://schemas.microsoft.com/office/drawing/2014/main" id="{AA4B2B5B-C0A3-4B07-8145-95867A138681}"/>
              </a:ext>
            </a:extLst>
          </p:cNvPr>
          <p:cNvPicPr>
            <a:picLocks noChangeAspect="1"/>
          </p:cNvPicPr>
          <p:nvPr/>
        </p:nvPicPr>
        <p:blipFill>
          <a:blip r:embed="rId3"/>
          <a:stretch>
            <a:fillRect/>
          </a:stretch>
        </p:blipFill>
        <p:spPr>
          <a:xfrm>
            <a:off x="7660658" y="3925403"/>
            <a:ext cx="2644335" cy="1835012"/>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spTree>
    <p:extLst>
      <p:ext uri="{BB962C8B-B14F-4D97-AF65-F5344CB8AC3E}">
        <p14:creationId xmlns:p14="http://schemas.microsoft.com/office/powerpoint/2010/main" val="19272963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4D4C8B-5AA3-4740-8125-08BEE82722DE}"/>
              </a:ext>
            </a:extLst>
          </p:cNvPr>
          <p:cNvSpPr>
            <a:spLocks noGrp="1"/>
          </p:cNvSpPr>
          <p:nvPr>
            <p:ph type="ctrTitle"/>
          </p:nvPr>
        </p:nvSpPr>
        <p:spPr/>
        <p:txBody>
          <a:bodyPr/>
          <a:lstStyle/>
          <a:p>
            <a:r>
              <a:rPr lang="en-US" dirty="0"/>
              <a:t>CONCLUSION</a:t>
            </a:r>
          </a:p>
        </p:txBody>
      </p:sp>
      <p:sp>
        <p:nvSpPr>
          <p:cNvPr id="6" name="Content Placeholder 5">
            <a:extLst>
              <a:ext uri="{FF2B5EF4-FFF2-40B4-BE49-F238E27FC236}">
                <a16:creationId xmlns:a16="http://schemas.microsoft.com/office/drawing/2014/main" id="{F93AEEF4-DA8D-4FD2-B439-0F24D59219C0}"/>
              </a:ext>
            </a:extLst>
          </p:cNvPr>
          <p:cNvSpPr>
            <a:spLocks noGrp="1"/>
          </p:cNvSpPr>
          <p:nvPr>
            <p:ph sz="quarter" idx="13"/>
          </p:nvPr>
        </p:nvSpPr>
        <p:spPr/>
        <p:txBody>
          <a:bodyPr/>
          <a:lstStyle/>
          <a:p>
            <a:pPr marL="285750" indent="-285750">
              <a:buFont typeface="Wingdings" panose="05000000000000000000" pitchFamily="2" charset="2"/>
              <a:buChar char="Ø"/>
            </a:pPr>
            <a:r>
              <a:rPr lang="en-US" sz="1800" dirty="0"/>
              <a:t>Quick select: ideal for most scenarios with randomized inputs, where average performance is the priority</a:t>
            </a:r>
          </a:p>
          <a:p>
            <a:pPr marL="285750" indent="-285750">
              <a:buFont typeface="Wingdings" panose="05000000000000000000" pitchFamily="2" charset="2"/>
              <a:buChar char="Ø"/>
            </a:pPr>
            <a:r>
              <a:rPr lang="en-US" sz="1800" dirty="0"/>
              <a:t>Median of medians: A deterministic solution for problems where worst case performance guarantees are required</a:t>
            </a:r>
          </a:p>
          <a:p>
            <a:r>
              <a:rPr lang="en-US" dirty="0"/>
              <a:t>Both algorithms are crucial tools in selection problems, with trade offs between speed and guaranteed performance</a:t>
            </a:r>
          </a:p>
        </p:txBody>
      </p:sp>
      <p:sp>
        <p:nvSpPr>
          <p:cNvPr id="4" name="Slide Number Placeholder 3">
            <a:extLst>
              <a:ext uri="{FF2B5EF4-FFF2-40B4-BE49-F238E27FC236}">
                <a16:creationId xmlns:a16="http://schemas.microsoft.com/office/drawing/2014/main" id="{B877F9DB-E466-4B8C-B7E6-EC46BE216F62}"/>
              </a:ext>
            </a:extLst>
          </p:cNvPr>
          <p:cNvSpPr>
            <a:spLocks noGrp="1"/>
          </p:cNvSpPr>
          <p:nvPr>
            <p:ph type="sldNum" sz="quarter" idx="4294967295"/>
          </p:nvPr>
        </p:nvSpPr>
        <p:spPr>
          <a:xfrm>
            <a:off x="11530013" y="5880100"/>
            <a:ext cx="661987" cy="895350"/>
          </a:xfrm>
        </p:spPr>
        <p:txBody>
          <a:bodyPr/>
          <a:lstStyle/>
          <a:p>
            <a:fld id="{58FB4751-880F-D840-AAA9-3A15815CC996}" type="slidenum">
              <a:rPr lang="en-US" smtClean="0"/>
              <a:pPr/>
              <a:t>35</a:t>
            </a:fld>
            <a:endParaRPr lang="en-US" dirty="0"/>
          </a:p>
        </p:txBody>
      </p:sp>
    </p:spTree>
    <p:extLst>
      <p:ext uri="{BB962C8B-B14F-4D97-AF65-F5344CB8AC3E}">
        <p14:creationId xmlns:p14="http://schemas.microsoft.com/office/powerpoint/2010/main" val="28944921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36F887-BD1D-4BB0-9A87-F2987EEAD51F}"/>
              </a:ext>
            </a:extLst>
          </p:cNvPr>
          <p:cNvSpPr>
            <a:spLocks noGrp="1"/>
          </p:cNvSpPr>
          <p:nvPr>
            <p:ph type="ctrTitle"/>
          </p:nvPr>
        </p:nvSpPr>
        <p:spPr>
          <a:xfrm>
            <a:off x="914400" y="914400"/>
            <a:ext cx="4428745" cy="5029200"/>
          </a:xfrm>
        </p:spPr>
        <p:txBody>
          <a:bodyPr/>
          <a:lstStyle/>
          <a:p>
            <a:r>
              <a:rPr lang="en-US" dirty="0"/>
              <a:t>References</a:t>
            </a:r>
          </a:p>
        </p:txBody>
      </p:sp>
      <p:sp>
        <p:nvSpPr>
          <p:cNvPr id="5" name="Content Placeholder 4">
            <a:extLst>
              <a:ext uri="{FF2B5EF4-FFF2-40B4-BE49-F238E27FC236}">
                <a16:creationId xmlns:a16="http://schemas.microsoft.com/office/drawing/2014/main" id="{5C551210-72CF-48C5-B263-55B1E9FF48B0}"/>
              </a:ext>
            </a:extLst>
          </p:cNvPr>
          <p:cNvSpPr>
            <a:spLocks noGrp="1"/>
          </p:cNvSpPr>
          <p:nvPr>
            <p:ph sz="quarter" idx="13"/>
          </p:nvPr>
        </p:nvSpPr>
        <p:spPr>
          <a:xfrm>
            <a:off x="5343145" y="914400"/>
            <a:ext cx="5373623" cy="5029200"/>
          </a:xfrm>
        </p:spPr>
        <p:txBody>
          <a:bodyPr>
            <a:normAutofit/>
          </a:bodyPr>
          <a:lstStyle/>
          <a:p>
            <a:pPr marL="342900" indent="-342900">
              <a:buFont typeface="Wingdings" panose="05000000000000000000" pitchFamily="2" charset="2"/>
              <a:buChar char="Ø"/>
            </a:pPr>
            <a:r>
              <a:rPr lang="en-US" sz="1050" dirty="0">
                <a:hlinkClick r:id="rId2"/>
              </a:rPr>
              <a:t>https://www.geeksforgeeks.org/dsa/kth-smallest-largest-element-in-unsorted-array/</a:t>
            </a:r>
            <a:endParaRPr lang="en-US" sz="1050" dirty="0"/>
          </a:p>
          <a:p>
            <a:pPr marL="342900" indent="-342900">
              <a:buFont typeface="Wingdings" panose="05000000000000000000" pitchFamily="2" charset="2"/>
              <a:buChar char="Ø"/>
            </a:pPr>
            <a:r>
              <a:rPr lang="en-US" sz="1050" dirty="0">
                <a:hlinkClick r:id="rId3"/>
              </a:rPr>
              <a:t>https://interviewing.io/questions/kth-smallest-element</a:t>
            </a:r>
            <a:endParaRPr lang="en-US" sz="1050" dirty="0"/>
          </a:p>
          <a:p>
            <a:pPr marL="342900" indent="-342900">
              <a:buFont typeface="Wingdings" panose="05000000000000000000" pitchFamily="2" charset="2"/>
              <a:buChar char="Ø"/>
            </a:pPr>
            <a:r>
              <a:rPr lang="en-US" sz="1050" dirty="0">
                <a:hlinkClick r:id="rId4"/>
              </a:rPr>
              <a:t>https://www.geeksforgeeks.org/dsa/quickselect-algorithm/</a:t>
            </a:r>
            <a:endParaRPr lang="en-US" sz="1050" dirty="0"/>
          </a:p>
          <a:p>
            <a:pPr marL="342900" indent="-342900">
              <a:buFont typeface="Wingdings" panose="05000000000000000000" pitchFamily="2" charset="2"/>
              <a:buChar char="Ø"/>
            </a:pPr>
            <a:r>
              <a:rPr lang="en-US" sz="1050" dirty="0">
                <a:hlinkClick r:id="rId5"/>
              </a:rPr>
              <a:t>https://www.programiz.com/dsa/divide-and-conquer</a:t>
            </a:r>
            <a:endParaRPr lang="en-US" sz="1050" dirty="0"/>
          </a:p>
          <a:p>
            <a:pPr marL="342900" indent="-342900">
              <a:buFont typeface="Wingdings" panose="05000000000000000000" pitchFamily="2" charset="2"/>
              <a:buChar char="Ø"/>
            </a:pPr>
            <a:r>
              <a:rPr lang="en-US" sz="1050" dirty="0">
                <a:hlinkClick r:id="rId6"/>
              </a:rPr>
              <a:t>https://www.geeksforgeeks.org/dsa/introduction-to-divide-and-conquer-algorithm/</a:t>
            </a:r>
            <a:endParaRPr lang="en-US" sz="1050" dirty="0"/>
          </a:p>
          <a:p>
            <a:pPr marL="342900" indent="-342900">
              <a:buFont typeface="Wingdings" panose="05000000000000000000" pitchFamily="2" charset="2"/>
              <a:buChar char="Ø"/>
            </a:pPr>
            <a:r>
              <a:rPr lang="en-US" sz="1050" dirty="0">
                <a:hlinkClick r:id="rId7"/>
              </a:rPr>
              <a:t>https://en.wikipedia.org/wiki/Divide_and_conquer#</a:t>
            </a:r>
            <a:endParaRPr lang="en-US" sz="1050" dirty="0"/>
          </a:p>
          <a:p>
            <a:pPr marL="342900" indent="-342900">
              <a:buFont typeface="Wingdings" panose="05000000000000000000" pitchFamily="2" charset="2"/>
              <a:buChar char="Ø"/>
            </a:pPr>
            <a:r>
              <a:rPr lang="en-US" sz="1050" dirty="0">
                <a:hlinkClick r:id="rId8"/>
              </a:rPr>
              <a:t>https://medium.com/nerd-for-tech/quick-select-algorithm-17ac146b6218</a:t>
            </a:r>
            <a:endParaRPr lang="en-US" sz="1050" dirty="0"/>
          </a:p>
          <a:p>
            <a:pPr marL="342900" indent="-342900">
              <a:buFont typeface="Wingdings" panose="05000000000000000000" pitchFamily="2" charset="2"/>
              <a:buChar char="Ø"/>
            </a:pPr>
            <a:r>
              <a:rPr lang="en-US" sz="1050" dirty="0">
                <a:hlinkClick r:id="rId9"/>
              </a:rPr>
              <a:t>https://www.freecodecamp.org/news/quickselect-algorithm-explained-with-examples/</a:t>
            </a:r>
            <a:endParaRPr lang="en-US" sz="1050" dirty="0"/>
          </a:p>
          <a:p>
            <a:pPr marL="342900" indent="-342900">
              <a:buFont typeface="Wingdings" panose="05000000000000000000" pitchFamily="2" charset="2"/>
              <a:buChar char="Ø"/>
            </a:pPr>
            <a:r>
              <a:rPr lang="en-US" sz="1050" dirty="0">
                <a:hlinkClick r:id="rId10"/>
              </a:rPr>
              <a:t>https://stackoverflow.com/questions/10846482/quickselect-algorithm-understanding</a:t>
            </a:r>
            <a:endParaRPr lang="en-US" sz="1050" dirty="0"/>
          </a:p>
          <a:p>
            <a:pPr marL="342900" indent="-342900">
              <a:buFont typeface="Wingdings" panose="05000000000000000000" pitchFamily="2" charset="2"/>
              <a:buChar char="Ø"/>
            </a:pPr>
            <a:r>
              <a:rPr lang="en-US" sz="1050" dirty="0">
                <a:hlinkClick r:id="rId11"/>
              </a:rPr>
              <a:t>https://stackoverflow.com/questions/56940793/quickselect-time-complexity-explained</a:t>
            </a:r>
            <a:endParaRPr lang="en-US" sz="1050" dirty="0"/>
          </a:p>
          <a:p>
            <a:pPr marL="342900" indent="-342900">
              <a:buFont typeface="Wingdings" panose="05000000000000000000" pitchFamily="2" charset="2"/>
              <a:buChar char="Ø"/>
            </a:pPr>
            <a:r>
              <a:rPr lang="en-US" sz="1050" dirty="0">
                <a:hlinkClick r:id="rId12"/>
              </a:rPr>
              <a:t>https://www.geeksforgeeks.org/dsa/hoare-s-partition-algorithm/</a:t>
            </a:r>
            <a:endParaRPr lang="en-US" sz="1050" dirty="0"/>
          </a:p>
          <a:p>
            <a:pPr marL="342900" indent="-342900">
              <a:buFont typeface="Wingdings" panose="05000000000000000000" pitchFamily="2" charset="2"/>
              <a:buChar char="Ø"/>
            </a:pPr>
            <a:r>
              <a:rPr lang="en-US" sz="1050" dirty="0">
                <a:hlinkClick r:id="rId13"/>
              </a:rPr>
              <a:t>https://en.wikipedia.org/wiki/Median_of_medians</a:t>
            </a:r>
            <a:endParaRPr lang="en-US" sz="1050" dirty="0"/>
          </a:p>
          <a:p>
            <a:pPr marL="342900" indent="-342900">
              <a:buFont typeface="Wingdings" panose="05000000000000000000" pitchFamily="2" charset="2"/>
              <a:buChar char="Ø"/>
            </a:pPr>
            <a:r>
              <a:rPr lang="en-US" sz="1050" dirty="0">
                <a:hlinkClick r:id="rId14"/>
              </a:rPr>
              <a:t>https://brilliant.org/wiki/median-finding-algorithm/</a:t>
            </a:r>
            <a:endParaRPr lang="en-US" sz="1050" dirty="0"/>
          </a:p>
          <a:p>
            <a:pPr marL="342900" indent="-342900">
              <a:buFont typeface="Wingdings" panose="05000000000000000000" pitchFamily="2" charset="2"/>
              <a:buChar char="Ø"/>
            </a:pPr>
            <a:r>
              <a:rPr lang="en-US" sz="1050" dirty="0">
                <a:hlinkClick r:id="rId15"/>
              </a:rPr>
              <a:t>https://stackoverflow.com/questions/9489061/understanding-median-of-medians-algorithm</a:t>
            </a:r>
            <a:endParaRPr lang="en-US" sz="1050" dirty="0"/>
          </a:p>
          <a:p>
            <a:pPr marL="342900" indent="-342900">
              <a:buFont typeface="Wingdings" panose="05000000000000000000" pitchFamily="2" charset="2"/>
              <a:buChar char="Ø"/>
            </a:pPr>
            <a:r>
              <a:rPr lang="en-US" sz="1050" dirty="0">
                <a:hlinkClick r:id="rId16"/>
              </a:rPr>
              <a:t>https://data.census.gov/profile/Midwest_Region?g=020XX00US2</a:t>
            </a:r>
            <a:endParaRPr lang="en-US" sz="1050" dirty="0"/>
          </a:p>
        </p:txBody>
      </p:sp>
    </p:spTree>
    <p:extLst>
      <p:ext uri="{BB962C8B-B14F-4D97-AF65-F5344CB8AC3E}">
        <p14:creationId xmlns:p14="http://schemas.microsoft.com/office/powerpoint/2010/main" val="18317365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any questions?</a:t>
            </a:r>
          </a:p>
        </p:txBody>
      </p:sp>
    </p:spTree>
    <p:extLst>
      <p:ext uri="{BB962C8B-B14F-4D97-AF65-F5344CB8AC3E}">
        <p14:creationId xmlns:p14="http://schemas.microsoft.com/office/powerpoint/2010/main" val="21888285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914400" y="914400"/>
            <a:ext cx="5641848" cy="5029200"/>
          </a:xfrm>
        </p:spPr>
        <p:txBody>
          <a:bodyPr/>
          <a:lstStyle/>
          <a:p>
            <a:r>
              <a:rPr lang="en-US" dirty="0"/>
              <a:t>thank you</a:t>
            </a:r>
          </a:p>
        </p:txBody>
      </p:sp>
      <p:sp>
        <p:nvSpPr>
          <p:cNvPr id="3" name="Content Placeholder 2">
            <a:extLst>
              <a:ext uri="{FF2B5EF4-FFF2-40B4-BE49-F238E27FC236}">
                <a16:creationId xmlns:a16="http://schemas.microsoft.com/office/drawing/2014/main" id="{066100F3-30E5-4B21-A9BA-387CC94274E0}"/>
              </a:ext>
            </a:extLst>
          </p:cNvPr>
          <p:cNvSpPr>
            <a:spLocks noGrp="1"/>
          </p:cNvSpPr>
          <p:nvPr>
            <p:ph sz="quarter" idx="13"/>
          </p:nvPr>
        </p:nvSpPr>
        <p:spPr/>
        <p:txBody>
          <a:bodyPr>
            <a:normAutofit/>
          </a:bodyPr>
          <a:lstStyle/>
          <a:p>
            <a:r>
              <a:rPr lang="en-US" sz="1800" dirty="0"/>
              <a:t>For any queries</a:t>
            </a:r>
          </a:p>
          <a:p>
            <a:r>
              <a:rPr lang="en-US" sz="1800" dirty="0">
                <a:hlinkClick r:id="rId3"/>
              </a:rPr>
              <a:t>srabonaich@gmail.com</a:t>
            </a:r>
            <a:endParaRPr lang="en-US" sz="1800" dirty="0"/>
          </a:p>
          <a:p>
            <a:r>
              <a:rPr lang="en-US" sz="1800" b="0" i="0" dirty="0">
                <a:effectLst/>
                <a:hlinkClick r:id="rId4"/>
              </a:rPr>
              <a:t>rafeulsagor@gmail.com</a:t>
            </a:r>
          </a:p>
          <a:p>
            <a:r>
              <a:rPr lang="en-US" sz="1800" b="0" i="0" dirty="0">
                <a:effectLst/>
                <a:hlinkClick r:id="rId4"/>
              </a:rPr>
              <a:t>saadbinashad2003@gmail.com</a:t>
            </a:r>
            <a:endParaRPr lang="en-US" sz="1800" b="0" i="0" dirty="0">
              <a:effectLst/>
            </a:endParaRPr>
          </a:p>
          <a:p>
            <a:r>
              <a:rPr lang="en-US" sz="1800" b="0" i="0" dirty="0">
                <a:effectLst/>
                <a:hlinkClick r:id="rId5"/>
              </a:rPr>
              <a:t>arafislam0015@gmail.com</a:t>
            </a:r>
            <a:endParaRPr lang="en-US" sz="1800" b="0" i="0" dirty="0">
              <a:effectLst/>
            </a:endParaRPr>
          </a:p>
          <a:p>
            <a:r>
              <a:rPr lang="en-US" sz="1800" dirty="0"/>
              <a:t>Feel free to email</a:t>
            </a:r>
          </a:p>
        </p:txBody>
      </p:sp>
    </p:spTree>
    <p:extLst>
      <p:ext uri="{BB962C8B-B14F-4D97-AF65-F5344CB8AC3E}">
        <p14:creationId xmlns:p14="http://schemas.microsoft.com/office/powerpoint/2010/main" val="168121499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{93BB20B7-4644-43F6-B84F-85F19B3BDC33}TF1ed9553b-00c4-4092-846a-c8f7f2908f3beecd942f_win32-8e33096c3cfc</Template>
  <TotalTime>1318</TotalTime>
  <Words>3333</Words>
  <Application>Microsoft Office PowerPoint</Application>
  <PresentationFormat>Widescreen</PresentationFormat>
  <Paragraphs>304</Paragraphs>
  <Slides>38</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Arial</vt:lpstr>
      <vt:lpstr>Calibri</vt:lpstr>
      <vt:lpstr>Courier New</vt:lpstr>
      <vt:lpstr>Gill Sans Nova Light</vt:lpstr>
      <vt:lpstr>KaTeX_Main</vt:lpstr>
      <vt:lpstr>KaTeX_Math</vt:lpstr>
      <vt:lpstr>KaTeX_Size2</vt:lpstr>
      <vt:lpstr>KaTeX_Size3</vt:lpstr>
      <vt:lpstr>Sagona Book</vt:lpstr>
      <vt:lpstr>Wingdings</vt:lpstr>
      <vt:lpstr>Custom</vt:lpstr>
      <vt:lpstr>Finding Median(kth Smallest Element) in a Set Using D&amp;C in Expected Linear Time</vt:lpstr>
      <vt:lpstr>PowerPoint Presentation</vt:lpstr>
      <vt:lpstr>agenda</vt:lpstr>
      <vt:lpstr>overview</vt:lpstr>
      <vt:lpstr>problem setup</vt:lpstr>
      <vt:lpstr>problem setup</vt:lpstr>
      <vt:lpstr>problem setup</vt:lpstr>
      <vt:lpstr>PowerPoint Presentation</vt:lpstr>
      <vt:lpstr>PowerPoint Presentation</vt:lpstr>
      <vt:lpstr>PROBLEM STATEMENT &amp; CONSTRAINTS</vt:lpstr>
      <vt:lpstr>Divide &amp; Conquer</vt:lpstr>
      <vt:lpstr>PowerPoint Presentation</vt:lpstr>
      <vt:lpstr>PowerPoint Presentation</vt:lpstr>
      <vt:lpstr>Quick Select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 with Worst Case Scenario in Quick Select</vt:lpstr>
      <vt:lpstr>MEDIAN OF MEDIANS</vt:lpstr>
      <vt:lpstr>introduction</vt:lpstr>
      <vt:lpstr>PowerPoint Presentation</vt:lpstr>
      <vt:lpstr>PowerPoint Presentation</vt:lpstr>
      <vt:lpstr>PowerPoint Presentation</vt:lpstr>
      <vt:lpstr>PowerPoint Presentation</vt:lpstr>
      <vt:lpstr>PowerPoint Presentation</vt:lpstr>
      <vt:lpstr>Quick Select – Real World Use Cases</vt:lpstr>
      <vt:lpstr>Median of Medians Real World Use Cases</vt:lpstr>
      <vt:lpstr>CONCLUSION</vt:lpstr>
      <vt:lpstr>References</vt:lpstr>
      <vt:lpstr>any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Median(k-th Smallest Element) in a Set Using D&amp;C in Expected Linear Time</dc:title>
  <dc:creator>Srabon Aich</dc:creator>
  <cp:lastModifiedBy>Srabon Aich</cp:lastModifiedBy>
  <cp:revision>101</cp:revision>
  <dcterms:created xsi:type="dcterms:W3CDTF">2025-06-24T06:31:28Z</dcterms:created>
  <dcterms:modified xsi:type="dcterms:W3CDTF">2025-07-09T17:58:51Z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